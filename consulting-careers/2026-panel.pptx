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 going to cut and paste portions of my resume into PowerPoint as a way to introduce myself.</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the saying about teaching an old dog new tricks is accurate, then I am in trouble. I got my PhD in Statistics from the University of Iowa in 1982. Much of what I’ve learned in college and throughout my long career is obsolete.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work at two jobs. I am a faculty member in the Department of Biomedical and Health Informatics at the University of Missouri-Kansas City, and I also run an independent consulting business. I will focus my talk on the latter job, because that is the one that most people are interested in hearing about.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of my previous work was consulting in health care areas. I worked with a lot of Pediatricians at Children’s Mercy Hospital in Kanas City.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also did a lot of work in occupational safety and health.</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Plus I have taught Business Statistics for undergraduate and MBA students.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During my training at the University of Iowa, I got a lot of applied experience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I’ve been on a few grants and have helped out on many others that were too small to include funding for a statistician.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I’ve written quite a few papers, though only a handful as first author.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love giving talks like this one. If anyone needs a speaker, I am glad to jump in and help.</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There are a lot of areas that just didn’t exist when I went to school. I spend a lot of time on continuing education.</a:t>
            </a:r>
          </a:p>
          <a:p>
            <a:pPr lvl="0" indent="0" marL="0">
              <a:buNone/>
            </a:pPr>
          </a:p>
          <a:p>
            <a:pPr lvl="0" indent="0" marL="0">
              <a:buNone/>
            </a:pPr>
            <a:r>
              <a:rPr/>
              <a:t>In twenty years, you will have a similar list. It won’t be these things, it will be things that none of us know about today.</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 firm in your recommendations. Don’t sugar coat things, but when you choose an approach tell your clients that this is the best approach. It will have weaknesses, for sure, but all the alternatives are worse. So use the word “best” in your descriptions.</a:t>
            </a:r>
          </a:p>
          <a:p>
            <a:pPr lvl="0" indent="0" marL="0">
              <a:buNone/>
            </a:pPr>
          </a:p>
          <a:p>
            <a:pPr lvl="0" indent="0" marL="0">
              <a:buNone/>
            </a:pPr>
            <a:r>
              <a:rPr/>
              <a:t>Now nobody is perfect, and sometimes what you recommend may not be the best approach. So I fall back on what I learned about playing piano when I was dating a piano major in college. She said, when you make a mistake make a loud mistake. Play boldly. If you are afraid of making a mistake, you will still make mistakes, but you style will be weak and tentative.</a:t>
            </a:r>
          </a:p>
          <a:p>
            <a:pPr lvl="0" indent="0" marL="0">
              <a:buNone/>
            </a:pPr>
          </a:p>
          <a:p>
            <a:pPr lvl="0" indent="0" marL="0">
              <a:buNone/>
            </a:pPr>
            <a:r>
              <a:rPr/>
              <a:t>Be the same with your consulting. Consult boldly. The few times when your recommendation is not the best is counterbalanced by the more numerous times that your good recommendations come across as weak and tentative.</a:t>
            </a:r>
          </a:p>
          <a:p>
            <a:pPr lvl="0" indent="0" marL="0">
              <a:buNone/>
            </a:pPr>
          </a:p>
          <a:p>
            <a:pPr lvl="0" indent="0" marL="0">
              <a:buNone/>
            </a:pPr>
            <a:r>
              <a:rPr/>
              <a:t>The other thing to note is that your clients will often have a difficult time articulating exactly what they want. But if they see something that isn’t what they want, they can do a better job explaining why what you gave them is not right and what they really want.</a:t>
            </a:r>
          </a:p>
          <a:p>
            <a:pPr lvl="0" indent="0" marL="0">
              <a:buNone/>
            </a:pPr>
          </a:p>
          <a:p>
            <a:pPr lvl="0" indent="0" marL="0">
              <a:buNone/>
            </a:pPr>
            <a:r>
              <a:rPr/>
              <a:t>Being decisive, though, does not mean being arrogant. Be honest about what you know and what you don’t know. Say that you’ve never done a meta-analysis before, so you need to work cautiously and review the literature carefully.</a:t>
            </a:r>
          </a:p>
          <a:p>
            <a:pPr lvl="0" indent="0" marL="0">
              <a:buNone/>
            </a:pPr>
          </a:p>
          <a:p>
            <a:pPr lvl="0" indent="0" marL="0">
              <a:buNone/>
            </a:pPr>
            <a:r>
              <a:rPr/>
              <a:t>Also, listen to and respect alternative opinions. The people you work with have an advantage over you in that they know the commonly used standards in their discipline. So if they say they want something and it isn’t what you feel is the best option, ask if it is defensible. Can it pass peer review. You do want to avoid giving in when the approach they choose does violence to the data. But when only then.</a:t>
            </a:r>
          </a:p>
          <a:p>
            <a:pPr lvl="0" indent="0" marL="0">
              <a:buNone/>
            </a:pPr>
          </a:p>
          <a:p>
            <a:pPr lvl="0" indent="0" marL="0">
              <a:buNone/>
            </a:pPr>
            <a:r>
              <a:rPr/>
              <a:t>I’ve heard quotes like statisticians are the guardians of objectivity and the gatekeepers of the scientific method. Fine, maybe, but don’t act like everyone else is subjective or that they don’t know how to apply the scientific method.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pmean/talks/blob/master/consulting-careers/2026-panel.md"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4" Type="http://schemas.openxmlformats.org/officeDocument/2006/relationships/hyperlink" Target="https://github.com/pmean/resume" TargetMode="Externa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6.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7.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8.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9.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10.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pmean/talks/blob/master/consulting-careers/2026-panel.md"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Panel discussion on careers in Statistics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Steve Simon</a:t>
            </a:r>
          </a:p>
        </p:txBody>
      </p:sp>
      <p:sp>
        <p:nvSpPr>
          <p:cNvPr id="4" name="Date Placeholder 3"/>
          <p:cNvSpPr>
            <a:spLocks noGrp="1"/>
          </p:cNvSpPr>
          <p:nvPr>
            <p:ph idx="10" sz="half" type="dt"/>
          </p:nvPr>
        </p:nvSpPr>
        <p:spPr/>
        <p:txBody>
          <a:bodyPr/>
          <a:lstStyle/>
          <a:p>
            <a:pPr lvl="0" indent="0" marL="0">
              <a:buNone/>
            </a:pPr>
            <a:r>
              <a:rPr/>
              <a:t>Created 2021-04-14</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 of this talk</a:t>
            </a:r>
          </a:p>
        </p:txBody>
      </p:sp>
      <p:sp>
        <p:nvSpPr>
          <p:cNvPr id="3" name="Content Placeholder 2"/>
          <p:cNvSpPr>
            <a:spLocks noGrp="1"/>
          </p:cNvSpPr>
          <p:nvPr>
            <p:ph idx="1"/>
          </p:nvPr>
        </p:nvSpPr>
        <p:spPr/>
        <p:txBody>
          <a:bodyPr/>
          <a:lstStyle/>
          <a:p>
            <a:pPr lvl="0"/>
            <a:r>
              <a:rPr/>
              <a:t>Brief introduction</a:t>
            </a:r>
          </a:p>
          <a:p>
            <a:pPr lvl="0"/>
            <a:r>
              <a:rPr/>
              <a:t>Embrace continuing education</a:t>
            </a:r>
          </a:p>
          <a:p>
            <a:pPr lvl="0"/>
            <a:r>
              <a:rPr/>
              <a:t>No one likes a wishy-washy statistician</a:t>
            </a:r>
          </a:p>
          <a:p>
            <a:pPr lvl="0"/>
            <a:r>
              <a:rPr/>
              <a:t>Find this talk at</a:t>
            </a:r>
          </a:p>
          <a:p>
            <a:pPr lvl="1"/>
            <a:r>
              <a:rPr>
                <a:hlinkClick r:id="rId2"/>
              </a:rPr>
              <a:t>https://github.com/pmean/talks/blob/master/consulting-careers/2026-panel.md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My resume will introduce myself.</a:t>
            </a:r>
          </a:p>
        </p:txBody>
      </p:sp>
      <p:pic>
        <p:nvPicPr>
          <p:cNvPr descr="resume-title.png" id="0" name="Picture 1"/>
          <p:cNvPicPr>
            <a:picLocks noGrp="1" noChangeAspect="1"/>
          </p:cNvPicPr>
          <p:nvPr/>
        </p:nvPicPr>
        <p:blipFill>
          <a:blip r:embed="rId3"/>
          <a:stretch>
            <a:fillRect/>
          </a:stretch>
        </p:blipFill>
        <p:spPr bwMode="auto">
          <a:xfrm>
            <a:off x="457200" y="2057400"/>
            <a:ext cx="8229600" cy="11557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Resume, found at </a:t>
            </a:r>
            <a:r>
              <a:rPr>
                <a:hlinkClick r:id="rId4"/>
              </a:rPr>
              <a:t>https://github.com/pmean/resume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 got my degree almost 40 years ago</a:t>
            </a:r>
          </a:p>
        </p:txBody>
      </p:sp>
      <p:pic>
        <p:nvPicPr>
          <p:cNvPr descr="resume-education.png" id="0" name="Picture 1"/>
          <p:cNvPicPr>
            <a:picLocks noGrp="1" noChangeAspect="1"/>
          </p:cNvPicPr>
          <p:nvPr/>
        </p:nvPicPr>
        <p:blipFill>
          <a:blip r:embed="rId3"/>
          <a:stretch>
            <a:fillRect/>
          </a:stretch>
        </p:blipFill>
        <p:spPr bwMode="auto">
          <a:xfrm>
            <a:off x="457200" y="1841500"/>
            <a:ext cx="8229600" cy="15748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Education section of my resume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 juggle two jobs.</a:t>
            </a:r>
          </a:p>
        </p:txBody>
      </p:sp>
      <p:pic>
        <p:nvPicPr>
          <p:cNvPr descr="resume-current-experience.png" id="0" name="Picture 1"/>
          <p:cNvPicPr>
            <a:picLocks noGrp="1" noChangeAspect="1"/>
          </p:cNvPicPr>
          <p:nvPr/>
        </p:nvPicPr>
        <p:blipFill>
          <a:blip r:embed="rId3"/>
          <a:stretch>
            <a:fillRect/>
          </a:stretch>
        </p:blipFill>
        <p:spPr bwMode="auto">
          <a:xfrm>
            <a:off x="2552700" y="1193800"/>
            <a:ext cx="4038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Experience section of my resume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 used to work at a hospital, …</a:t>
            </a:r>
          </a:p>
        </p:txBody>
      </p:sp>
      <p:pic>
        <p:nvPicPr>
          <p:cNvPr descr="resume-experience-cmh.png" id="0" name="Picture 1"/>
          <p:cNvPicPr>
            <a:picLocks noGrp="1" noChangeAspect="1"/>
          </p:cNvPicPr>
          <p:nvPr/>
        </p:nvPicPr>
        <p:blipFill>
          <a:blip r:embed="rId3"/>
          <a:stretch>
            <a:fillRect/>
          </a:stretch>
        </p:blipFill>
        <p:spPr bwMode="auto">
          <a:xfrm>
            <a:off x="2489200" y="1193800"/>
            <a:ext cx="4165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Work experience at Children’s Mercy Hospital</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 Uncle Sam, …</a:t>
            </a:r>
          </a:p>
        </p:txBody>
      </p:sp>
      <p:pic>
        <p:nvPicPr>
          <p:cNvPr descr="resume-experience-niosh.png" id="0" name="Picture 1"/>
          <p:cNvPicPr>
            <a:picLocks noGrp="1" noChangeAspect="1"/>
          </p:cNvPicPr>
          <p:nvPr/>
        </p:nvPicPr>
        <p:blipFill>
          <a:blip r:embed="rId3"/>
          <a:stretch>
            <a:fillRect/>
          </a:stretch>
        </p:blipFill>
        <p:spPr bwMode="auto">
          <a:xfrm>
            <a:off x="495300" y="1193800"/>
            <a:ext cx="8153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Work experience at National Institute for Occupational Safety and Health</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 a different University, …</a:t>
            </a:r>
          </a:p>
        </p:txBody>
      </p:sp>
      <p:pic>
        <p:nvPicPr>
          <p:cNvPr descr="resume-experience-bgsu.png" id="0" name="Picture 1"/>
          <p:cNvPicPr>
            <a:picLocks noGrp="1" noChangeAspect="1"/>
          </p:cNvPicPr>
          <p:nvPr/>
        </p:nvPicPr>
        <p:blipFill>
          <a:blip r:embed="rId3"/>
          <a:stretch>
            <a:fillRect/>
          </a:stretch>
        </p:blipFill>
        <p:spPr bwMode="auto">
          <a:xfrm>
            <a:off x="1930400" y="1193800"/>
            <a:ext cx="5283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Work experience at Bowling Green State University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and as student director of a consulting center.</a:t>
            </a:r>
          </a:p>
        </p:txBody>
      </p:sp>
      <p:pic>
        <p:nvPicPr>
          <p:cNvPr descr="resume-experience-ui.png" id="0" name="Picture 1"/>
          <p:cNvPicPr>
            <a:picLocks noGrp="1" noChangeAspect="1"/>
          </p:cNvPicPr>
          <p:nvPr/>
        </p:nvPicPr>
        <p:blipFill>
          <a:blip r:embed="rId3"/>
          <a:stretch>
            <a:fillRect/>
          </a:stretch>
        </p:blipFill>
        <p:spPr bwMode="auto">
          <a:xfrm>
            <a:off x="457200" y="1905000"/>
            <a:ext cx="8229600" cy="14732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work experience at the Unversity of Iowa</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I’ve been on a few research grants, …</a:t>
            </a:r>
          </a:p>
        </p:txBody>
      </p:sp>
      <p:pic>
        <p:nvPicPr>
          <p:cNvPr descr="resume-grants.png" id="0" name="Picture 1"/>
          <p:cNvPicPr>
            <a:picLocks noGrp="1" noChangeAspect="1"/>
          </p:cNvPicPr>
          <p:nvPr/>
        </p:nvPicPr>
        <p:blipFill>
          <a:blip r:embed="rId3"/>
          <a:stretch>
            <a:fillRect/>
          </a:stretch>
        </p:blipFill>
        <p:spPr bwMode="auto">
          <a:xfrm>
            <a:off x="1485900" y="1193800"/>
            <a:ext cx="6172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Two grants from my resume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written a few papers, …</a:t>
            </a:r>
          </a:p>
        </p:txBody>
      </p:sp>
      <p:pic>
        <p:nvPicPr>
          <p:cNvPr descr="resume-publications.png" id="0" name="Picture 1"/>
          <p:cNvPicPr>
            <a:picLocks noGrp="1" noChangeAspect="1"/>
          </p:cNvPicPr>
          <p:nvPr/>
        </p:nvPicPr>
        <p:blipFill>
          <a:blip r:embed="rId3"/>
          <a:stretch>
            <a:fillRect/>
          </a:stretch>
        </p:blipFill>
        <p:spPr bwMode="auto">
          <a:xfrm>
            <a:off x="977900" y="1193800"/>
            <a:ext cx="72009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Three publications from my resume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and given a few talks.</a:t>
            </a:r>
          </a:p>
        </p:txBody>
      </p:sp>
      <p:pic>
        <p:nvPicPr>
          <p:cNvPr descr="resume-presentations.png" id="0" name="Picture 1"/>
          <p:cNvPicPr>
            <a:picLocks noGrp="1" noChangeAspect="1"/>
          </p:cNvPicPr>
          <p:nvPr/>
        </p:nvPicPr>
        <p:blipFill>
          <a:blip r:embed="rId3"/>
          <a:stretch>
            <a:fillRect/>
          </a:stretch>
        </p:blipFill>
        <p:spPr bwMode="auto">
          <a:xfrm>
            <a:off x="2032000" y="1193800"/>
            <a:ext cx="50927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Three presentations from my resume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Embrace continuing education</a:t>
            </a:r>
          </a:p>
        </p:txBody>
      </p:sp>
      <p:sp>
        <p:nvSpPr>
          <p:cNvPr id="3" name="Content Placeholder 2"/>
          <p:cNvSpPr>
            <a:spLocks noGrp="1"/>
          </p:cNvSpPr>
          <p:nvPr>
            <p:ph idx="1"/>
          </p:nvPr>
        </p:nvSpPr>
        <p:spPr/>
        <p:txBody>
          <a:bodyPr/>
          <a:lstStyle/>
          <a:p>
            <a:pPr lvl="0"/>
            <a:r>
              <a:rPr/>
              <a:t>Evidence-Based Medicine</a:t>
            </a:r>
          </a:p>
          <a:p>
            <a:pPr lvl="0"/>
            <a:r>
              <a:rPr/>
              <a:t>Markov Chain Monte Carlo</a:t>
            </a:r>
          </a:p>
          <a:p>
            <a:pPr lvl="0"/>
            <a:r>
              <a:rPr/>
              <a:t>Meta-analysis</a:t>
            </a:r>
          </a:p>
          <a:p>
            <a:pPr lvl="0"/>
            <a:r>
              <a:rPr/>
              <a:t>Mixed models</a:t>
            </a:r>
          </a:p>
          <a:p>
            <a:pPr lvl="0"/>
            <a:r>
              <a:rPr/>
              <a:t>Model based clustering</a:t>
            </a:r>
          </a:p>
          <a:p>
            <a:pPr lvl="0"/>
            <a:r>
              <a:rPr/>
              <a:t>Reproducible research</a:t>
            </a:r>
          </a:p>
          <a:p>
            <a:pPr lvl="0"/>
            <a:r>
              <a:rPr/>
              <a:t>Smoothing splines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 one likes a wishy-washy statistician.</a:t>
            </a:r>
          </a:p>
        </p:txBody>
      </p:sp>
      <p:sp>
        <p:nvSpPr>
          <p:cNvPr id="3" name="Content Placeholder 2"/>
          <p:cNvSpPr>
            <a:spLocks noGrp="1"/>
          </p:cNvSpPr>
          <p:nvPr>
            <p:ph idx="1"/>
          </p:nvPr>
        </p:nvSpPr>
        <p:spPr/>
        <p:txBody>
          <a:bodyPr/>
          <a:lstStyle/>
          <a:p>
            <a:pPr lvl="0"/>
            <a:r>
              <a:rPr/>
              <a:t>Be decisive</a:t>
            </a:r>
          </a:p>
          <a:p>
            <a:pPr lvl="1"/>
            <a:r>
              <a:rPr/>
              <a:t>If you’re going to make a mistake, make a loud mistake</a:t>
            </a:r>
          </a:p>
          <a:p>
            <a:pPr lvl="1"/>
            <a:r>
              <a:rPr/>
              <a:t>Clients can articulate better after seeing a bad proposal</a:t>
            </a:r>
          </a:p>
          <a:p>
            <a:pPr lvl="0"/>
            <a:r>
              <a:rPr/>
              <a:t>But don’t be arrogant</a:t>
            </a:r>
          </a:p>
          <a:p>
            <a:pPr lvl="1"/>
            <a:r>
              <a:rPr/>
              <a:t>Admit when your opinion is a minority perspective</a:t>
            </a:r>
          </a:p>
          <a:p>
            <a:pPr lvl="1"/>
            <a:r>
              <a:rPr/>
              <a:t>Be honest about what you know and what you don’t know</a:t>
            </a:r>
          </a:p>
          <a:p>
            <a:pPr lvl="1"/>
            <a:r>
              <a:rPr/>
              <a:t>Listen to and respect alternative opinions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p:nvPr>
        </p:nvSpPr>
        <p:spPr/>
        <p:txBody>
          <a:bodyPr/>
          <a:lstStyle/>
          <a:p>
            <a:pPr lvl="0"/>
            <a:r>
              <a:rPr/>
              <a:t>Brief introduction</a:t>
            </a:r>
          </a:p>
          <a:p>
            <a:pPr lvl="0"/>
            <a:r>
              <a:rPr/>
              <a:t>Embrace continuing education</a:t>
            </a:r>
          </a:p>
          <a:p>
            <a:pPr lvl="0"/>
            <a:r>
              <a:rPr/>
              <a:t>No one likes a wishy-washy statistician.</a:t>
            </a:r>
          </a:p>
          <a:p>
            <a:pPr lvl="0"/>
            <a:r>
              <a:rPr/>
              <a:t>Find this talk at</a:t>
            </a:r>
          </a:p>
          <a:p>
            <a:pPr lvl="1"/>
            <a:r>
              <a:rPr>
                <a:hlinkClick r:id="rId2"/>
              </a:rPr>
              <a:t>https://github.com/pmean/talks/blob/master/consulting-careers/2026-panel.md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Panel discussion on careers in Statistics</dc:title>
  <dc:creator>Steve Simon</dc:creator>
  <cp:keywords/>
  <dcterms:created xsi:type="dcterms:W3CDTF">2026-09-11T15:49:42Z</dcterms:created>
  <dcterms:modified xsi:type="dcterms:W3CDTF">2026-09-11T15:49:42Z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Created 2021-04-14</vt:lpwstr>
  </property>
  <property fmtid="{D5CDD505-2E9C-101B-9397-08002B2CF9AE}" pid="3" name="output">
    <vt:lpwstr>powerpoint_presentation</vt:lpwstr>
  </property>
</Properties>
</file>