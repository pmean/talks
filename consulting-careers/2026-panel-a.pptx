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notesMasters/notesMaster1.xml" ContentType="application/vnd.openxmlformats-officedocument.presentationml.notesMaster+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notesMaster" Target="notesMasters/notesMaster1.xml" /><Relationship Id="rId19" Type="http://schemas.openxmlformats.org/officeDocument/2006/relationships/viewProps" Target="viewProps.xml" /><Relationship Id="rId18" Type="http://schemas.openxmlformats.org/officeDocument/2006/relationships/presProps" Target="presProps.xml" /><Relationship Id="rId1" Type="http://schemas.openxmlformats.org/officeDocument/2006/relationships/slideMaster" Target="slideMasters/slideMaster1.xml" /><Relationship Id="rId21" Type="http://schemas.openxmlformats.org/officeDocument/2006/relationships/tableStyles" Target="tableStyles.xml" /><Relationship Id="rId20" Type="http://schemas.openxmlformats.org/officeDocument/2006/relationships/theme" Target="theme/theme1.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1/2/22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2.xml.rels><?xml version="1.0" encoding="UTF-8"?><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3.xml.rels><?xml version="1.0" encoding="UTF-8"?><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4.xml.rels><?xml version="1.0" encoding="UTF-8"?><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5.xml.rels><?xml version="1.0" encoding="UTF-8"?><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6.xml.rels><?xml version="1.0" encoding="UTF-8"?><Relationships xmlns="http://schemas.openxmlformats.org/package/2006/relationships"><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7.xml.rels><?xml version="1.0" encoding="UTF-8"?><Relationships xmlns="http://schemas.openxmlformats.org/package/2006/relationships"><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8.xml.rels><?xml version="1.0" encoding="UTF-8"?><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9.xml.rels><?xml version="1.0" encoding="UTF-8"?><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10.xml.rels><?xml version="1.0" encoding="UTF-8"?><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1.xml.rels><?xml version="1.0" encoding="UTF-8"?><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12.xml.rels><?xml version="1.0" encoding="UTF-8"?><Relationships xmlns="http://schemas.openxmlformats.org/package/2006/relationships"><Relationship Id="rId2" Type="http://schemas.openxmlformats.org/officeDocument/2006/relationships/slide" Target="../slides/slide13.xml" /><Relationship Id="rId1" Type="http://schemas.openxmlformats.org/officeDocument/2006/relationships/notesMaster" Target="../notesMasters/notesMaster1.xml" /></Relationships>
</file>

<file path=ppt/notesSlides/_rels/notesSlide13.xml.rels><?xml version="1.0" encoding="UTF-8"?><Relationships xmlns="http://schemas.openxmlformats.org/package/2006/relationships"><Relationship Id="rId2" Type="http://schemas.openxmlformats.org/officeDocument/2006/relationships/slide" Target="../slides/slide14.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I’m going to cut and paste portions of my resume into PowerPoint as a way to introduce myself.</a:t>
            </a:r>
          </a:p>
        </p:txBody>
      </p:sp>
      <p:sp>
        <p:nvSpPr>
          <p:cNvPr id="4" name="Slide Number Placeholder 3"/>
          <p:cNvSpPr>
            <a:spLocks noGrp="1"/>
          </p:cNvSpPr>
          <p:nvPr>
            <p:ph type="sldNum" sz="quarter" idx="10"/>
          </p:nvPr>
        </p:nvSpPr>
        <p:spPr/>
        <p:txBody>
          <a:bodyPr/>
          <a:lstStyle/>
          <a:p>
            <a:fld id="{18BDFEC3-8487-43E8-A154-7C12CBC1FFF2}" type="slidenum">
              <a:rPr lang="en-US"/>
              <a:t>2</a:t>
            </a:fld>
            <a:endParaRPr lang="en-US"/>
          </a:p>
        </p:txBody>
      </p:sp>
    </p:spTree>
  </p:cSld>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the saying about teaching an old dog new tricks is accurate, then I am in trouble. I got my PhD in Statistics from the University of Iowa in 1982. Much of what I’ve learned in college and throughout my long career is obsolete.</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work at two jobs. I am a part-time faculty member in the Department of Biomedical and Health Informatics at the University of Missouri-Kansas City, and I also run an independent consulting business. I will focus my talk on the latter job, because that is the one that most people are interested in hearing about.</a:t>
            </a:r>
          </a:p>
        </p:txBody>
      </p:sp>
      <p:sp>
        <p:nvSpPr>
          <p:cNvPr id="4" name="Slide Number Placeholder 3"/>
          <p:cNvSpPr>
            <a:spLocks noGrp="1"/>
          </p:cNvSpPr>
          <p:nvPr>
            <p:ph type="sldNum" sz="quarter" idx="10"/>
          </p:nvPr>
        </p:nvSpPr>
        <p:spPr/>
        <p:txBody>
          <a:bodyPr/>
          <a:lstStyle/>
          <a:p>
            <a:fld id="{18BDFEC3-8487-43E8-A154-7C12CBC1FFF2}" type="slidenum">
              <a:rPr lang="en-US"/>
              <a:t>4</a:t>
            </a:fld>
            <a:endParaRPr lang="en-US"/>
          </a:p>
        </p:txBody>
      </p:sp>
    </p:spTree>
  </p:cSld>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Most of my previous work was consulting in health care areas. I worked with a lot of Pediatricians at Children’s Mercy Hospital in Kanas City.</a:t>
            </a:r>
          </a:p>
        </p:txBody>
      </p:sp>
      <p:sp>
        <p:nvSpPr>
          <p:cNvPr id="4" name="Slide Number Placeholder 3"/>
          <p:cNvSpPr>
            <a:spLocks noGrp="1"/>
          </p:cNvSpPr>
          <p:nvPr>
            <p:ph type="sldNum" sz="quarter" idx="10"/>
          </p:nvPr>
        </p:nvSpPr>
        <p:spPr/>
        <p:txBody>
          <a:bodyPr/>
          <a:lstStyle/>
          <a:p>
            <a:fld id="{18BDFEC3-8487-43E8-A154-7C12CBC1FFF2}" type="slidenum">
              <a:rPr lang="en-US"/>
              <a:t>5</a:t>
            </a:fld>
            <a:endParaRPr lang="en-US"/>
          </a:p>
        </p:txBody>
      </p:sp>
    </p:spTree>
  </p:cSld>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also did a lot of work in occupational safety and health.</a:t>
            </a:r>
          </a:p>
        </p:txBody>
      </p:sp>
      <p:sp>
        <p:nvSpPr>
          <p:cNvPr id="4" name="Slide Number Placeholder 3"/>
          <p:cNvSpPr>
            <a:spLocks noGrp="1"/>
          </p:cNvSpPr>
          <p:nvPr>
            <p:ph type="sldNum" sz="quarter" idx="10"/>
          </p:nvPr>
        </p:nvSpPr>
        <p:spPr/>
        <p:txBody>
          <a:bodyPr/>
          <a:lstStyle/>
          <a:p>
            <a:fld id="{18BDFEC3-8487-43E8-A154-7C12CBC1FFF2}" type="slidenum">
              <a:rPr lang="en-US"/>
              <a:t>6</a:t>
            </a:fld>
            <a:endParaRPr lang="en-US"/>
          </a:p>
        </p:txBody>
      </p:sp>
    </p:spTree>
  </p:cSld>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Plus I have taught Business Statistics for undergraduate and MBA students.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During my training at the University of Iowa, I got a lot of applied experience</a:t>
            </a:r>
          </a:p>
        </p:txBody>
      </p:sp>
      <p:sp>
        <p:nvSpPr>
          <p:cNvPr id="4" name="Slide Number Placeholder 3"/>
          <p:cNvSpPr>
            <a:spLocks noGrp="1"/>
          </p:cNvSpPr>
          <p:nvPr>
            <p:ph type="sldNum" sz="quarter" idx="10"/>
          </p:nvPr>
        </p:nvSpPr>
        <p:spPr/>
        <p:txBody>
          <a:bodyPr/>
          <a:lstStyle/>
          <a:p>
            <a:fld id="{18BDFEC3-8487-43E8-A154-7C12CBC1FFF2}" type="slidenum">
              <a:rPr lang="en-US"/>
              <a:t>8</a:t>
            </a:fld>
            <a:endParaRPr lang="en-US"/>
          </a:p>
        </p:txBody>
      </p:sp>
    </p:spTree>
  </p:cSld>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I’ve been on a few grants and have helped out on many others that were too small to include funding for a statistician.</a:t>
            </a:r>
          </a:p>
        </p:txBody>
      </p:sp>
      <p:sp>
        <p:nvSpPr>
          <p:cNvPr id="4" name="Slide Number Placeholder 3"/>
          <p:cNvSpPr>
            <a:spLocks noGrp="1"/>
          </p:cNvSpPr>
          <p:nvPr>
            <p:ph type="sldNum" sz="quarter" idx="10"/>
          </p:nvPr>
        </p:nvSpPr>
        <p:spPr/>
        <p:txBody>
          <a:bodyPr/>
          <a:lstStyle/>
          <a:p>
            <a:fld id="{18BDFEC3-8487-43E8-A154-7C12CBC1FFF2}" type="slidenum">
              <a:rPr lang="en-US"/>
              <a:t>9</a:t>
            </a:fld>
            <a:endParaRPr lang="en-US"/>
          </a:p>
        </p:txBody>
      </p:sp>
    </p:spTree>
  </p:cSld>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I’ve written quite a few papers, though only a handful as first author.</a:t>
            </a:r>
          </a:p>
        </p:txBody>
      </p:sp>
      <p:sp>
        <p:nvSpPr>
          <p:cNvPr id="4" name="Slide Number Placeholder 3"/>
          <p:cNvSpPr>
            <a:spLocks noGrp="1"/>
          </p:cNvSpPr>
          <p:nvPr>
            <p:ph type="sldNum" sz="quarter" idx="10"/>
          </p:nvPr>
        </p:nvSpPr>
        <p:spPr/>
        <p:txBody>
          <a:bodyPr/>
          <a:lstStyle/>
          <a:p>
            <a:fld id="{18BDFEC3-8487-43E8-A154-7C12CBC1FFF2}" type="slidenum">
              <a:rPr lang="en-US"/>
              <a:t>10</a:t>
            </a:fld>
            <a:endParaRPr lang="en-US"/>
          </a:p>
        </p:txBody>
      </p:sp>
    </p:spTree>
  </p:cSld>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love giving talks like this one. If anyone needs a speaker, I am glad to jump in and help.</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If you are interested in becoming an independent statistical consultant, you have to find customers. The two ways to do this are by word of mouth and by increasing your visibility.</a:t>
            </a:r>
          </a:p>
          <a:p>
            <a:pPr lvl="0" indent="0" marL="0">
              <a:buNone/>
            </a:pPr>
          </a:p>
          <a:p>
            <a:pPr lvl="0" indent="0" marL="0">
              <a:buNone/>
            </a:pPr>
            <a:r>
              <a:rPr/>
              <a:t>Tell everyone you know that you are starting a consulting business. Then find a way to stay in touch with them regularly. Don’t spam them, but find an excuse. Something like “I saw this article and thought of you.” You don’t have to say directly “I am still looking for new clients.” Just include the name of your consulting business in your signature file.</a:t>
            </a:r>
          </a:p>
          <a:p>
            <a:pPr lvl="0" indent="0" marL="0">
              <a:buNone/>
            </a:pPr>
          </a:p>
          <a:p>
            <a:pPr lvl="0" indent="0" marL="0">
              <a:buNone/>
            </a:pPr>
            <a:r>
              <a:rPr/>
              <a:t>One way I increased my visibility was by taking over the running of the Kansas City R Users Group. We’re on hiatus now, but when it was active, it was great publicity. People make the presumption that the head of the Kansas City R Users Group knows more about R than anyone else in the Kansas City area. That’s a false presumption, of course, but I wasn’t going to let people know that.</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I have to cite two extremes. The first set of classes that I got the most out of were the very applied Statistics classes that I took from outside the Department of Statistics at Iowa. There were two classes in Biostatistics: Categorical Data Analysis and Survival Analysis, and one in Education, Scaling methods. These helped me see better how the broadly based classes in my own department could be applied to solve real world problems.</a:t>
            </a:r>
          </a:p>
          <a:p>
            <a:pPr lvl="0" indent="0" marL="0">
              <a:buNone/>
            </a:pPr>
          </a:p>
          <a:p>
            <a:pPr lvl="0" indent="0" marL="0">
              <a:buNone/>
            </a:pPr>
            <a:r>
              <a:rPr/>
              <a:t>The other class was quite theoretical, and it helped me understand some of the foundations. Knowing the foundations gives you a higher level of confidence in what you do. You know both the how and why of what you do. It also makes you a fast learner. When you can “peek under the hood” and know how a new methodology works, you can pick up that new methodology so much faster.</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indent="0" marL="0">
              <a:buNone/>
            </a:pPr>
            <a:r>
              <a:rPr/>
              <a:t>There are a lot of areas that just didn’t exist when I went to school. I spend a lot of time on continuing education.</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xml" /><Relationship Id="rId4" Type="http://schemas.openxmlformats.org/officeDocument/2006/relationships/hyperlink" Target="https://github.com/pmean/resume" TargetMode="External" /><Relationship Id="rId3" Type="http://schemas.openxmlformats.org/officeDocument/2006/relationships/image" Target="../media/image1.png"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2.xml" /><Relationship Id="rId3" Type="http://schemas.openxmlformats.org/officeDocument/2006/relationships/image" Target="../media/image2.png"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3.xml" /><Relationship Id="rId3" Type="http://schemas.openxmlformats.org/officeDocument/2006/relationships/image" Target="../media/image3.png"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4.xml" /><Relationship Id="rId3" Type="http://schemas.openxmlformats.org/officeDocument/2006/relationships/image" Target="../media/image4.png"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5.xml" /><Relationship Id="rId3" Type="http://schemas.openxmlformats.org/officeDocument/2006/relationships/image" Target="../media/image5.png" /></Relationships>
</file>

<file path=ppt/slides/_rels/slide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6.xml" /><Relationship Id="rId3" Type="http://schemas.openxmlformats.org/officeDocument/2006/relationships/image" Target="../media/image6.png"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7.xml" /><Relationship Id="rId3" Type="http://schemas.openxmlformats.org/officeDocument/2006/relationships/image" Target="../media/image7.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8.xml" /><Relationship Id="rId3" Type="http://schemas.openxmlformats.org/officeDocument/2006/relationships/image" Target="../media/image8.pn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9.xml" /><Relationship Id="rId3" Type="http://schemas.openxmlformats.org/officeDocument/2006/relationships/image" Target="../media/image9.pn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0.xml" /><Relationship Id="rId3" Type="http://schemas.openxmlformats.org/officeDocument/2006/relationships/image" Target="../media/image10.pn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1.xml" /><Relationship Id="rId3" Type="http://schemas.openxmlformats.org/officeDocument/2006/relationships/hyperlink" Target="http://pmean.com/posts/business-essentials/" TargetMode="External" /></Relationships>
</file>

<file path=ppt/slides/_rels/slide1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2.xml" /></Relationships>
</file>

<file path=ppt/slides/_rels/slide1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notesSlide" Target="../notesSlides/notesSlide13.xml"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What Consulting Statisticians Wish They Had Known as Students or Early-Career Professionals</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Steve Simon</a:t>
            </a:r>
          </a:p>
        </p:txBody>
      </p:sp>
      <p:sp>
        <p:nvSpPr>
          <p:cNvPr id="4" name="Date Placeholder 3"/>
          <p:cNvSpPr>
            <a:spLocks noGrp="1"/>
          </p:cNvSpPr>
          <p:nvPr>
            <p:ph idx="10" sz="half" type="dt"/>
          </p:nvPr>
        </p:nvSpPr>
        <p:spPr/>
        <p:txBody>
          <a:bodyPr/>
          <a:lstStyle/>
          <a:p>
            <a:pPr lvl="0" indent="0" marL="0">
              <a:buNone/>
            </a:pPr>
            <a:r>
              <a:rPr/>
              <a:t>Created 2021-04-14</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My resume will introduce myself.</a:t>
            </a:r>
          </a:p>
        </p:txBody>
      </p:sp>
      <p:pic>
        <p:nvPicPr>
          <p:cNvPr descr="resume-title.png" id="0" name="Picture 1"/>
          <p:cNvPicPr>
            <a:picLocks noGrp="1" noChangeAspect="1"/>
          </p:cNvPicPr>
          <p:nvPr/>
        </p:nvPicPr>
        <p:blipFill>
          <a:blip r:embed="rId3"/>
          <a:stretch>
            <a:fillRect/>
          </a:stretch>
        </p:blipFill>
        <p:spPr bwMode="auto">
          <a:xfrm>
            <a:off x="457200" y="2057400"/>
            <a:ext cx="8229600" cy="11557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Resume, found at </a:t>
            </a:r>
            <a:r>
              <a:rPr>
                <a:hlinkClick r:id="rId4"/>
              </a:rPr>
              <a:t>https://github.com/pmean/resume</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 got my degree almost 40 years ago</a:t>
            </a:r>
          </a:p>
        </p:txBody>
      </p:sp>
      <p:pic>
        <p:nvPicPr>
          <p:cNvPr descr="resume-education.png" id="0" name="Picture 1"/>
          <p:cNvPicPr>
            <a:picLocks noGrp="1" noChangeAspect="1"/>
          </p:cNvPicPr>
          <p:nvPr/>
        </p:nvPicPr>
        <p:blipFill>
          <a:blip r:embed="rId3"/>
          <a:stretch>
            <a:fillRect/>
          </a:stretch>
        </p:blipFill>
        <p:spPr bwMode="auto">
          <a:xfrm>
            <a:off x="457200" y="1841500"/>
            <a:ext cx="8229600" cy="15748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Education section of my resume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 juggle two part time jobs.</a:t>
            </a:r>
          </a:p>
        </p:txBody>
      </p:sp>
      <p:pic>
        <p:nvPicPr>
          <p:cNvPr descr="resume-current-experience.png" id="0" name="Picture 1"/>
          <p:cNvPicPr>
            <a:picLocks noGrp="1" noChangeAspect="1"/>
          </p:cNvPicPr>
          <p:nvPr/>
        </p:nvPicPr>
        <p:blipFill>
          <a:blip r:embed="rId3"/>
          <a:stretch>
            <a:fillRect/>
          </a:stretch>
        </p:blipFill>
        <p:spPr bwMode="auto">
          <a:xfrm>
            <a:off x="2552700" y="1193800"/>
            <a:ext cx="4038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Experience section of my resume</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 used to work at a hospital, …</a:t>
            </a:r>
          </a:p>
        </p:txBody>
      </p:sp>
      <p:pic>
        <p:nvPicPr>
          <p:cNvPr descr="resume-experience-cmh.png" id="0" name="Picture 1"/>
          <p:cNvPicPr>
            <a:picLocks noGrp="1" noChangeAspect="1"/>
          </p:cNvPicPr>
          <p:nvPr/>
        </p:nvPicPr>
        <p:blipFill>
          <a:blip r:embed="rId3"/>
          <a:stretch>
            <a:fillRect/>
          </a:stretch>
        </p:blipFill>
        <p:spPr bwMode="auto">
          <a:xfrm>
            <a:off x="2489200" y="1193800"/>
            <a:ext cx="41656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Children’s Mercy Hospital</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for Uncle Sam, …</a:t>
            </a:r>
          </a:p>
        </p:txBody>
      </p:sp>
      <p:pic>
        <p:nvPicPr>
          <p:cNvPr descr="resume-experience-niosh.png" id="0" name="Picture 1"/>
          <p:cNvPicPr>
            <a:picLocks noGrp="1" noChangeAspect="1"/>
          </p:cNvPicPr>
          <p:nvPr/>
        </p:nvPicPr>
        <p:blipFill>
          <a:blip r:embed="rId3"/>
          <a:stretch>
            <a:fillRect/>
          </a:stretch>
        </p:blipFill>
        <p:spPr bwMode="auto">
          <a:xfrm>
            <a:off x="495300" y="1193800"/>
            <a:ext cx="81534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National Institute for Occupational Safety and Health</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at a different University, …</a:t>
            </a:r>
          </a:p>
        </p:txBody>
      </p:sp>
      <p:pic>
        <p:nvPicPr>
          <p:cNvPr descr="resume-experience-bgsu.png" id="0" name="Picture 1"/>
          <p:cNvPicPr>
            <a:picLocks noGrp="1" noChangeAspect="1"/>
          </p:cNvPicPr>
          <p:nvPr/>
        </p:nvPicPr>
        <p:blipFill>
          <a:blip r:embed="rId3"/>
          <a:stretch>
            <a:fillRect/>
          </a:stretch>
        </p:blipFill>
        <p:spPr bwMode="auto">
          <a:xfrm>
            <a:off x="1930400" y="1193800"/>
            <a:ext cx="5283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Bowling Green State University</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and as student director of a consulting center.</a:t>
            </a:r>
          </a:p>
        </p:txBody>
      </p:sp>
      <p:pic>
        <p:nvPicPr>
          <p:cNvPr descr="resume-experience-ui.png" id="0" name="Picture 1"/>
          <p:cNvPicPr>
            <a:picLocks noGrp="1" noChangeAspect="1"/>
          </p:cNvPicPr>
          <p:nvPr/>
        </p:nvPicPr>
        <p:blipFill>
          <a:blip r:embed="rId3"/>
          <a:stretch>
            <a:fillRect/>
          </a:stretch>
        </p:blipFill>
        <p:spPr bwMode="auto">
          <a:xfrm>
            <a:off x="457200" y="1905000"/>
            <a:ext cx="8229600" cy="14732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work experience at the Unversity of Iowa</a:t>
            </a:r>
          </a:p>
        </p:txBody>
      </p:sp>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I’ve been on a few research grants, …</a:t>
            </a:r>
          </a:p>
        </p:txBody>
      </p:sp>
      <p:pic>
        <p:nvPicPr>
          <p:cNvPr descr="resume-grants.png" id="0" name="Picture 1"/>
          <p:cNvPicPr>
            <a:picLocks noGrp="1" noChangeAspect="1"/>
          </p:cNvPicPr>
          <p:nvPr/>
        </p:nvPicPr>
        <p:blipFill>
          <a:blip r:embed="rId3"/>
          <a:stretch>
            <a:fillRect/>
          </a:stretch>
        </p:blipFill>
        <p:spPr bwMode="auto">
          <a:xfrm>
            <a:off x="1485900" y="1193800"/>
            <a:ext cx="61722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Two grants from my resume</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written a few papers, …</a:t>
            </a:r>
          </a:p>
        </p:txBody>
      </p:sp>
      <p:pic>
        <p:nvPicPr>
          <p:cNvPr descr="resume-publications.png" id="0" name="Picture 1"/>
          <p:cNvPicPr>
            <a:picLocks noGrp="1" noChangeAspect="1"/>
          </p:cNvPicPr>
          <p:nvPr/>
        </p:nvPicPr>
        <p:blipFill>
          <a:blip r:embed="rId3"/>
          <a:stretch>
            <a:fillRect/>
          </a:stretch>
        </p:blipFill>
        <p:spPr bwMode="auto">
          <a:xfrm>
            <a:off x="977900" y="1193800"/>
            <a:ext cx="72009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Three publications from my resume</a:t>
            </a:r>
          </a:p>
        </p:txBody>
      </p:sp>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and given a few talks.</a:t>
            </a:r>
          </a:p>
        </p:txBody>
      </p:sp>
      <p:pic>
        <p:nvPicPr>
          <p:cNvPr descr="resume-presentations.png" id="0" name="Picture 1"/>
          <p:cNvPicPr>
            <a:picLocks noGrp="1" noChangeAspect="1"/>
          </p:cNvPicPr>
          <p:nvPr/>
        </p:nvPicPr>
        <p:blipFill>
          <a:blip r:embed="rId3"/>
          <a:stretch>
            <a:fillRect/>
          </a:stretch>
        </p:blipFill>
        <p:spPr bwMode="auto">
          <a:xfrm>
            <a:off x="2032000" y="1193800"/>
            <a:ext cx="5092700" cy="2882900"/>
          </a:xfrm>
          <a:prstGeom prst="rect">
            <a:avLst/>
          </a:prstGeom>
          <a:noFill/>
          <a:ln w="9525">
            <a:noFill/>
            <a:headEnd/>
            <a:tailEnd/>
          </a:ln>
        </p:spPr>
      </p:pic>
      <p:sp>
        <p:nvSpPr>
          <p:cNvPr id="1" name="TextBox 3"/>
          <p:cNvSpPr txBox="1"/>
          <p:nvPr>
            <p:ph idx="1"/>
          </p:nvPr>
        </p:nvSpPr>
        <p:spPr>
          <a:xfrm>
            <a:off x="457200" y="4076700"/>
            <a:ext cx="8229600" cy="508000"/>
          </a:xfrm>
          <a:prstGeom prst="rect">
            <a:avLst/>
          </a:prstGeom>
          <a:noFill/>
        </p:spPr>
        <p:txBody>
          <a:bodyPr/>
          <a:lstStyle/>
          <a:p>
            <a:pPr lvl="0" indent="0" marL="0" algn="ctr">
              <a:buNone/>
            </a:pPr>
            <a:r>
              <a:rPr/>
              <a:t>Three presentations from my resume</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How do you find your clients/collaborators?</a:t>
            </a:r>
          </a:p>
        </p:txBody>
      </p:sp>
      <p:sp>
        <p:nvSpPr>
          <p:cNvPr id="3" name="Content Placeholder 2"/>
          <p:cNvSpPr>
            <a:spLocks noGrp="1"/>
          </p:cNvSpPr>
          <p:nvPr>
            <p:ph idx="1"/>
          </p:nvPr>
        </p:nvSpPr>
        <p:spPr/>
        <p:txBody>
          <a:bodyPr/>
          <a:lstStyle/>
          <a:p>
            <a:pPr lvl="0"/>
            <a:r>
              <a:rPr/>
              <a:t>Word of mouth</a:t>
            </a:r>
          </a:p>
          <a:p>
            <a:pPr lvl="1"/>
            <a:r>
              <a:rPr/>
              <a:t>Let everyone know you are looking</a:t>
            </a:r>
          </a:p>
          <a:p>
            <a:pPr lvl="0"/>
            <a:r>
              <a:rPr/>
              <a:t>Increase your visibility</a:t>
            </a:r>
          </a:p>
          <a:p>
            <a:pPr lvl="1"/>
            <a:r>
              <a:rPr/>
              <a:t>Blogs</a:t>
            </a:r>
          </a:p>
          <a:p>
            <a:pPr lvl="1"/>
            <a:r>
              <a:rPr/>
              <a:t>Social media</a:t>
            </a:r>
          </a:p>
          <a:p>
            <a:pPr lvl="1"/>
            <a:r>
              <a:rPr/>
              <a:t>Presentations</a:t>
            </a:r>
          </a:p>
          <a:p>
            <a:pPr lvl="1"/>
            <a:r>
              <a:rPr/>
              <a:t>Volunteer</a:t>
            </a:r>
          </a:p>
          <a:p>
            <a:pPr lvl="0"/>
            <a:r>
              <a:rPr/>
              <a:t>Also see </a:t>
            </a:r>
            <a:r>
              <a:rPr>
                <a:hlinkClick r:id="rId3"/>
              </a:rPr>
              <a:t>http://pmean.com/posts/business-essentials/</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electives that you take outside your program are just as important as your required courses.</a:t>
            </a:r>
          </a:p>
        </p:txBody>
      </p:sp>
      <p:sp>
        <p:nvSpPr>
          <p:cNvPr id="3" name="Content Placeholder 2"/>
          <p:cNvSpPr>
            <a:spLocks noGrp="1"/>
          </p:cNvSpPr>
          <p:nvPr>
            <p:ph idx="1"/>
          </p:nvPr>
        </p:nvSpPr>
        <p:spPr/>
        <p:txBody>
          <a:bodyPr/>
          <a:lstStyle/>
          <a:p>
            <a:pPr lvl="0"/>
            <a:r>
              <a:rPr/>
              <a:t>Applied courses outside Department of Statistics</a:t>
            </a:r>
          </a:p>
          <a:p>
            <a:pPr lvl="1"/>
            <a:r>
              <a:rPr/>
              <a:t>Biostatistics, Education</a:t>
            </a:r>
          </a:p>
          <a:p>
            <a:pPr lvl="1"/>
            <a:r>
              <a:rPr/>
              <a:t>Very practical advice</a:t>
            </a:r>
          </a:p>
          <a:p>
            <a:pPr lvl="1"/>
            <a:r>
              <a:rPr/>
              <a:t>Specialized perspectives</a:t>
            </a:r>
          </a:p>
          <a:p>
            <a:pPr lvl="0"/>
            <a:r>
              <a:rPr/>
              <a:t>Theory of Mathematical Statistics</a:t>
            </a:r>
          </a:p>
          <a:p>
            <a:pPr lvl="1"/>
            <a:r>
              <a:rPr/>
              <a:t>Knowing foundations increases your confidence level</a:t>
            </a:r>
          </a:p>
          <a:p>
            <a:pPr lvl="1"/>
            <a:r>
              <a:rPr/>
              <a:t>Also makes you a quick learner of new methods</a:t>
            </a:r>
          </a:p>
        </p:txBody>
      </p:sp>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Embrace continuing education and stay current with new computing advances</a:t>
            </a:r>
          </a:p>
        </p:txBody>
      </p:sp>
      <p:sp>
        <p:nvSpPr>
          <p:cNvPr id="3" name="Content Placeholder 2"/>
          <p:cNvSpPr>
            <a:spLocks noGrp="1"/>
          </p:cNvSpPr>
          <p:nvPr>
            <p:ph idx="1"/>
          </p:nvPr>
        </p:nvSpPr>
        <p:spPr/>
        <p:txBody>
          <a:bodyPr/>
          <a:lstStyle/>
          <a:p>
            <a:pPr lvl="0"/>
            <a:r>
              <a:rPr/>
              <a:t>Evidence-Based Medicine</a:t>
            </a:r>
          </a:p>
          <a:p>
            <a:pPr lvl="0"/>
            <a:r>
              <a:rPr/>
              <a:t>Gibbs sampling</a:t>
            </a:r>
          </a:p>
          <a:p>
            <a:pPr lvl="0"/>
            <a:r>
              <a:rPr/>
              <a:t>How to supervise</a:t>
            </a:r>
          </a:p>
          <a:p>
            <a:pPr lvl="0"/>
            <a:r>
              <a:rPr/>
              <a:t>Meta-analysis</a:t>
            </a:r>
          </a:p>
          <a:p>
            <a:pPr lvl="0"/>
            <a:r>
              <a:rPr/>
              <a:t>Mixed models</a:t>
            </a:r>
          </a:p>
          <a:p>
            <a:pPr lvl="0"/>
            <a:r>
              <a:rPr/>
              <a:t>Model based clustering</a:t>
            </a:r>
          </a:p>
          <a:p>
            <a:pPr lvl="0"/>
            <a:r>
              <a:rPr/>
              <a:t>Modern statistical software</a:t>
            </a:r>
          </a:p>
          <a:p>
            <a:pPr lvl="0"/>
            <a:r>
              <a:rPr/>
              <a:t>Setting up a statistical consulting practice</a:t>
            </a:r>
          </a:p>
          <a:p>
            <a:pPr lvl="0"/>
            <a:r>
              <a:rPr/>
              <a:t>Smoothing splines</a:t>
            </a:r>
          </a:p>
        </p:txBody>
      </p:sp>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 one likes a wishy-washy statistician. Be decisive.</a:t>
            </a:r>
          </a:p>
        </p:txBody>
      </p:sp>
      <p:sp>
        <p:nvSpPr>
          <p:cNvPr id="3" name="Content Placeholder 2"/>
          <p:cNvSpPr>
            <a:spLocks noGrp="1"/>
          </p:cNvSpPr>
          <p:nvPr>
            <p:ph idx="1"/>
          </p:nvPr>
        </p:nvSpPr>
        <p:spPr/>
        <p:txBody>
          <a:bodyPr/>
          <a:lstStyle/>
          <a:p>
            <a:pPr lvl="0"/>
            <a:r>
              <a:rPr/>
              <a:t>If you’re going to make a mistake, make a loud mistake</a:t>
            </a:r>
          </a:p>
          <a:p>
            <a:pPr lvl="0"/>
            <a:r>
              <a:rPr/>
              <a:t>Admit when your opinion is a minority perspective</a:t>
            </a:r>
          </a:p>
          <a:p>
            <a:pPr lvl="0"/>
            <a:r>
              <a:rPr/>
              <a:t>Be decisive about what you know and what you don’t know</a:t>
            </a:r>
          </a:p>
          <a:p>
            <a:pPr lvl="0"/>
            <a:r>
              <a:rPr/>
              <a:t>Listen to and respect alternative opinions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Consulting Statisticians Wish They Had Known as Students or Early-Career Professionals</dc:title>
  <dc:creator>Steve Simon</dc:creator>
  <cp:keywords/>
  <dcterms:created xsi:type="dcterms:W3CDTF">2026-09-11T19:22:28Z</dcterms:created>
  <dcterms:modified xsi:type="dcterms:W3CDTF">2026-09-11T19:22:28Z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Created 2021-04-14</vt:lpwstr>
  </property>
  <property fmtid="{D5CDD505-2E9C-101B-9397-08002B2CF9AE}" pid="3" name="output">
    <vt:lpwstr>powerpoint_presentation</vt:lpwstr>
  </property>
</Properties>
</file>