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notesMaster" Target="notesMasters/notesMaster1.xml" /><Relationship Id="rId55" Type="http://schemas.openxmlformats.org/officeDocument/2006/relationships/viewProps" Target="viewProps.xml" /><Relationship Id="rId54" Type="http://schemas.openxmlformats.org/officeDocument/2006/relationships/presProps" Target="presProps.xml" /><Relationship Id="rId1" Type="http://schemas.openxmlformats.org/officeDocument/2006/relationships/slideMaster" Target="slideMasters/slideMaster1.xml" /><Relationship Id="rId57" Type="http://schemas.openxmlformats.org/officeDocument/2006/relationships/tableStyles" Target="tableStyles.xml" /><Relationship Id="rId56"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Cross-over trials provide a very powerful approach for comparing two treatment conditions. Research subjects get both treatment conditions, which we will label arbitrarily as A and B. A randomly selected half get A followed by B and the other half gets B followed by A. This is generally referred to as the AB/BA design. Because each subject serves as their own control, you remove a large amount of variation. Often a cross-over trial can produce good results, even with a few dozen patients.</a:t>
            </a:r>
          </a:p>
          <a:p>
            <a:pPr lvl="0" indent="0" marL="0">
              <a:buNone/>
            </a:pPr>
          </a:p>
          <a:p>
            <a:pPr lvl="0" indent="0" marL="0">
              <a:buNone/>
            </a:pPr>
            <a:r>
              <a:rPr/>
              <a:t>Cross-over trials require that the condition being studied is chronic in nature, and that the effect of the first treatment given does not carry over into the second treatment evaluation. There are important ethical and practical concerns about designing cross-over trials.</a:t>
            </a:r>
          </a:p>
          <a:p>
            <a:pPr lvl="0" indent="0" marL="0">
              <a:buNone/>
            </a:pPr>
          </a:p>
          <a:p>
            <a:pPr lvl="0" indent="0" marL="0">
              <a:buNone/>
            </a:pPr>
            <a:r>
              <a:rPr/>
              <a:t>In this talk, you will see a review of the paired t-test, followed by an analysis of the AB/BA crossover design as a paired t-test. Then you will see how to account for the order in which the treatments were given.</a:t>
            </a:r>
          </a:p>
          <a:p>
            <a:pPr lvl="0" indent="0" marL="0">
              <a:buNone/>
            </a:pPr>
          </a:p>
          <a:p>
            <a:pPr lvl="0" indent="0" marL="0">
              <a:buNone/>
            </a:pPr>
            <a:r>
              <a:rPr/>
              <a:t>After discussing the classical AB/BA cross-over design, you will see how to extend the cross-over trial to a binary outcome measure and to more than two treatments.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I want to start with quotes from two great philosophers. You know they are great philosophers because they are known by a single name.</a:t>
            </a:r>
          </a:p>
          <a:p>
            <a:pPr lvl="0" indent="0" marL="0">
              <a:buNone/>
            </a:pPr>
          </a:p>
          <a:p>
            <a:pPr lvl="0" indent="0" marL="0">
              <a:buNone/>
            </a:pPr>
            <a:r>
              <a:rPr/>
              <a:t>Heraclitus in 544 B.C. said “A man cannot step into the same river twice, because it is not the same river, and he is not same man.”</a:t>
            </a:r>
          </a:p>
          <a:p>
            <a:pPr lvl="0" indent="0" marL="0">
              <a:buNone/>
            </a:pPr>
          </a:p>
          <a:p>
            <a:pPr lvl="0" indent="0" marL="0">
              <a:buNone/>
            </a:pPr>
            <a:r>
              <a:rPr/>
              <a:t>Yoda, the other great philosopher, said in 1980 A.D. “You must unlearn what you have learned.”</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Before talking about cross-over trials, you might find it helpful to review how the paired t-test works. Here is some data I found on the web with measurements on married couples. The data has the wife’s age (wAge) and the husband’s age (hAge). Do you think there is a tendency for older men to marry younger women?</a:t>
            </a:r>
          </a:p>
          <a:p>
            <a:pPr lvl="0" indent="0" marL="0">
              <a:buNone/>
            </a:pPr>
          </a:p>
          <a:p>
            <a:pPr lvl="0" indent="0" marL="0">
              <a:buNone/>
            </a:pPr>
            <a:r>
              <a:rPr/>
              <a:t>There is also data on the wife’s height (wHeight) and the husbands height (hHeight). We won’t analyze this but there is probably something interesting about tall and short patterns.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The average woman is around 41 years old with a standard deviation a bit more than 11.</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The average husband is around 43 years old, just slightly older than the average wife. The standard deviation is about the same.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The average age gap is about 2 years. This average is not quite the same as the difference between the two averages, because there are some married couples with one age but not the other. These are not included in the computation of the age gap, leading to a slight discrepancy.</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The paired t-test shows a statistically significant difference. The 95% confidence interval tells you that even after allowing for sampling error, the average husband’s age is 1.6 years larger than the average wife’s age.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You could also analyze this as a completely randomized block design. It takes a bit of restructuring because this design expects to see all the ages in a single column.</a:t>
            </a:r>
          </a:p>
          <a:p>
            <a:pPr lvl="0" indent="0" marL="0">
              <a:buNone/>
            </a:pPr>
          </a:p>
          <a:p>
            <a:pPr lvl="0" indent="0" marL="0">
              <a:buNone/>
            </a:pPr>
            <a:r>
              <a:rPr/>
              <a:t>No one does a paired t-test this way, but if you wanted to handle more complex settings, such as risk adjustments on a paired t-test, you can do this fairly easily using a mixed model.</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From the abstract: “As with many interventions intended to prevent ill health, the effectiveness of parachutes has not been subjected to rigorous evaluation by using randomised controlled trials. Advocates of evidence based medicine have criticised the adoption of interventions evaluated by using only observational data. We think that everyone might benefit if the most radical protagonists of evidence based medicine organised and participated in a double blind, randomised, placebo controlled, crossover trial of the parachute.”</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Recommendation is that the wash-out period be equal to five half lives. Note that 1/2 raisded to the 5th power is 1/32 or 0.03126. Also the washout period should be significantly longer than the amount of time under evaluation for either arm.</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Data is from page 104 of Senn.</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Speaker notes</a:t>
            </a:r>
          </a:p>
          <a:p>
            <a:pPr lvl="0" indent="0" marL="0">
              <a:buNone/>
            </a:pPr>
          </a:p>
          <a:p>
            <a:pPr lvl="0" indent="0" marL="0">
              <a:buNone/>
            </a:pPr>
            <a:r>
              <a:rPr/>
              <a:t>Mills, E.J., Chan, AW., Wu, P. et al. Design, analysis, and presentation of crossover trials. Trials 10, 27 (2009). DOI: 10.1186/1745-6215-10-27</a:t>
            </a:r>
          </a:p>
          <a:p>
            <a:pPr lvl="0" indent="0" marL="0">
              <a:buNone/>
            </a:pPr>
          </a:p>
          <a:p>
            <a:pPr lvl="0" indent="0" marL="0">
              <a:spcBef>
                <a:spcPts val="3000"/>
              </a:spcBef>
              <a:buNone/>
            </a:pPr>
            <a:r>
              <a:rPr b="1"/>
              <a:t>Summary</a:t>
            </a:r>
          </a:p>
          <a:p>
            <a:pPr lvl="0" indent="0" marL="0">
              <a:buNone/>
            </a:pPr>
          </a:p>
          <a:p>
            <a:pPr lvl="0"/>
            <a:r>
              <a:rPr/>
              <a:t>What you have learned</a:t>
            </a:r>
          </a:p>
          <a:p>
            <a:pPr lvl="0" indent="0" marL="0">
              <a:buNone/>
            </a:pPr>
          </a:p>
          <a:p>
            <a:pPr lvl="1"/>
            <a:r>
              <a:rPr/>
              <a:t>The paired t-test</a:t>
            </a:r>
          </a:p>
          <a:p>
            <a:pPr lvl="0" indent="0" marL="0">
              <a:buNone/>
            </a:pPr>
          </a:p>
          <a:p>
            <a:pPr lvl="1"/>
            <a:r>
              <a:rPr/>
              <a:t>The AB/BA cross-over</a:t>
            </a:r>
          </a:p>
          <a:p>
            <a:pPr lvl="0" indent="0" marL="0">
              <a:buNone/>
            </a:pPr>
          </a:p>
          <a:p>
            <a:pPr lvl="1"/>
            <a:r>
              <a:rPr/>
              <a:t>Period effects and carry-over</a:t>
            </a:r>
          </a:p>
          <a:p>
            <a:pPr lvl="0" indent="0" marL="0">
              <a:buNone/>
            </a:pPr>
          </a:p>
          <a:p>
            <a:pPr lvl="1"/>
            <a:r>
              <a:rPr/>
              <a:t>When should you use or not use a cross-over</a:t>
            </a:r>
          </a:p>
          <a:p>
            <a:pPr lvl="0" indent="0" marL="0">
              <a:buNone/>
            </a:pPr>
          </a:p>
          <a:p>
            <a:pPr lvl="1"/>
            <a:r>
              <a:rPr/>
              <a:t>Cross-over trials with a binary outcome</a:t>
            </a:r>
          </a:p>
          <a:p>
            <a:pPr lvl="0" indent="0" marL="0">
              <a:buNone/>
            </a:pPr>
          </a:p>
          <a:p>
            <a:pPr lvl="1"/>
            <a:r>
              <a:rPr/>
              <a:t>Cross-over trials with more than two treatments</a:t>
            </a:r>
          </a:p>
          <a:p>
            <a:pPr lvl="0" indent="0" marL="0">
              <a:buNone/>
            </a:pPr>
          </a:p>
          <a:p>
            <a:pPr lvl="0" indent="0" marL="0">
              <a:buNone/>
            </a:pPr>
            <a:r>
              <a:rPr/>
              <a:t>Other Latin square designs are possible</a:t>
            </a:r>
          </a:p>
          <a:p>
            <a:pPr lvl="0" indent="0" marL="0">
              <a:buNone/>
            </a:pPr>
          </a:p>
          <a:p>
            <a:pPr lvl="0" indent="0" marL="0">
              <a:spcBef>
                <a:spcPts val="3000"/>
              </a:spcBef>
              <a:buNone/>
            </a:pPr>
            <a:r>
              <a:rPr b="1"/>
              <a:t>The definitive guide</a:t>
            </a:r>
          </a:p>
          <a:p>
            <a:pPr lvl="0" indent="0" marL="0">
              <a:buNone/>
            </a:pPr>
          </a:p>
          <a:p>
            <a:pPr lvl="0" indent="0" marL="0">
              <a:buNone/>
            </a:pPr>
          </a:p>
          <a:p>
            <a:pPr lvl="0" indent="0" marL="0">
              <a:buNone/>
            </a:pPr>
          </a:p>
          <a:p>
            <a:pPr lvl="0" indent="0" marL="0">
              <a:spcBef>
                <a:spcPts val="3000"/>
              </a:spcBef>
              <a:buNone/>
            </a:pPr>
            <a:r>
              <a:rPr b="1"/>
              <a:t>Nice reference</a:t>
            </a:r>
          </a:p>
          <a:p>
            <a:pPr lvl="0" indent="0" marL="0">
              <a:buNone/>
            </a:pPr>
          </a:p>
          <a:p>
            <a:pPr lvl="0" indent="0" marL="0">
              <a:buNone/>
            </a:pP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8.png"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image" Target="../media/image9.png"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Cross-over trials</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Steve Simon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Topics to be covered</a:t>
            </a:r>
          </a:p>
        </p:txBody>
      </p:sp>
      <p:sp>
        <p:nvSpPr>
          <p:cNvPr id="3" name="Content Placeholder 2"/>
          <p:cNvSpPr>
            <a:spLocks noGrp="1"/>
          </p:cNvSpPr>
          <p:nvPr>
            <p:ph idx="1"/>
          </p:nvPr>
        </p:nvSpPr>
        <p:spPr/>
        <p:txBody>
          <a:bodyPr/>
          <a:lstStyle/>
          <a:p>
            <a:pPr lvl="0"/>
            <a:r>
              <a:rPr/>
              <a:t>What you will learn</a:t>
            </a:r>
          </a:p>
          <a:p>
            <a:pPr lvl="1"/>
            <a:r>
              <a:rPr/>
              <a:t>The paired t-test</a:t>
            </a:r>
          </a:p>
          <a:p>
            <a:pPr lvl="1"/>
            <a:r>
              <a:rPr/>
              <a:t>The AB/BA cross-over</a:t>
            </a:r>
          </a:p>
          <a:p>
            <a:pPr lvl="1"/>
            <a:r>
              <a:rPr/>
              <a:t>Period effects and carry-over</a:t>
            </a:r>
          </a:p>
          <a:p>
            <a:pPr lvl="1"/>
            <a:r>
              <a:rPr/>
              <a:t>When should you use or not use a cross-over</a:t>
            </a:r>
          </a:p>
          <a:p>
            <a:pPr lvl="1"/>
            <a:r>
              <a:rPr/>
              <a:t>Cross-over trials with a binary outcome</a:t>
            </a:r>
          </a:p>
          <a:p>
            <a:pPr lvl="1"/>
            <a:r>
              <a:rPr/>
              <a:t>Cross-over trials with more than two treatments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Quotations from two great philosophers</a:t>
            </a:r>
          </a:p>
        </p:txBody>
      </p:sp>
      <p:sp>
        <p:nvSpPr>
          <p:cNvPr id="3" name="Content Placeholder 2"/>
          <p:cNvSpPr>
            <a:spLocks noGrp="1"/>
          </p:cNvSpPr>
          <p:nvPr>
            <p:ph idx="1"/>
          </p:nvPr>
        </p:nvSpPr>
        <p:spPr/>
        <p:txBody>
          <a:bodyPr/>
          <a:lstStyle/>
          <a:p>
            <a:pPr lvl="0"/>
            <a:r>
              <a:rPr/>
              <a:t>“A man cannot step into the same river twice, because it is not the same river, and he is not same man.” - Heraclitus, 544 B.C.</a:t>
            </a:r>
          </a:p>
          <a:p>
            <a:pPr lvl="0"/>
            <a:r>
              <a:rPr/>
              <a:t>“You must unlearn what you have learned.” Yoda, 1980 A.D.</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Paired t-test data</a:t>
            </a:r>
          </a:p>
        </p:txBody>
      </p:sp>
      <p:pic>
        <p:nvPicPr>
          <p:cNvPr descr="../images/couples.png" id="0" name="Picture 1"/>
          <p:cNvPicPr>
            <a:picLocks noGrp="1" noChangeAspect="1"/>
          </p:cNvPicPr>
          <p:nvPr/>
        </p:nvPicPr>
        <p:blipFill>
          <a:blip r:embed="rId3"/>
          <a:stretch>
            <a:fillRect/>
          </a:stretch>
        </p:blipFill>
        <p:spPr bwMode="auto">
          <a:xfrm>
            <a:off x="2336800" y="1193800"/>
            <a:ext cx="4483100" cy="33909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Descriptive statistics on wife’s age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variable</a:t>
                      </a:r>
                    </a:p>
                  </a:txBody>
                  <a:tcPr/>
                </a:tc>
                <a:tc>
                  <a:txBody>
                    <a:bodyPr/>
                    <a:lstStyle/>
                    <a:p>
                      <a:pPr lvl="0" indent="0" marL="0">
                        <a:buNone/>
                      </a:pPr>
                      <a:r>
                        <a:rPr/>
                        <a:t>mean</a:t>
                      </a:r>
                    </a:p>
                  </a:txBody>
                  <a:tcPr/>
                </a:tc>
                <a:tc>
                  <a:txBody>
                    <a:bodyPr/>
                    <a:lstStyle/>
                    <a:p>
                      <a:pPr lvl="0" indent="0" marL="0">
                        <a:buNone/>
                      </a:pPr>
                      <a:r>
                        <a:rPr/>
                        <a:t>sd</a:t>
                      </a:r>
                    </a:p>
                  </a:txBody>
                  <a:tcPr/>
                </a:tc>
                <a:tc>
                  <a:txBody>
                    <a:bodyPr/>
                    <a:lstStyle/>
                    <a:p>
                      <a:pPr lvl="0" indent="0" marL="0">
                        <a:buNone/>
                      </a:pPr>
                      <a:r>
                        <a:rPr/>
                        <a:t>n</a:t>
                      </a:r>
                    </a:p>
                  </a:txBody>
                  <a:tcPr/>
                </a:tc>
              </a:tr>
              <a:tr h="0">
                <a:tc>
                  <a:txBody>
                    <a:bodyPr/>
                    <a:lstStyle/>
                    <a:p>
                      <a:pPr lvl="0" indent="0" marL="0">
                        <a:buNone/>
                      </a:pPr>
                      <a:r>
                        <a:rPr/>
                        <a:t>wAge</a:t>
                      </a:r>
                    </a:p>
                  </a:txBody>
                </a:tc>
                <a:tc>
                  <a:txBody>
                    <a:bodyPr/>
                    <a:lstStyle/>
                    <a:p>
                      <a:pPr lvl="0" indent="0" marL="0">
                        <a:buNone/>
                      </a:pPr>
                      <a:r>
                        <a:rPr/>
                        <a:t>40.7</a:t>
                      </a:r>
                    </a:p>
                  </a:txBody>
                </a:tc>
                <a:tc>
                  <a:txBody>
                    <a:bodyPr/>
                    <a:lstStyle/>
                    <a:p>
                      <a:pPr lvl="0" indent="0" marL="0">
                        <a:buNone/>
                      </a:pPr>
                      <a:r>
                        <a:rPr/>
                        <a:t>11.4</a:t>
                      </a:r>
                    </a:p>
                  </a:txBody>
                </a:tc>
                <a:tc>
                  <a:txBody>
                    <a:bodyPr/>
                    <a:lstStyle/>
                    <a:p>
                      <a:pPr lvl="0" indent="0" marL="0">
                        <a:buNone/>
                      </a:pPr>
                      <a:r>
                        <a:rPr/>
                        <a:t>170</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Descriptive statistics on husband’s age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variable</a:t>
                      </a:r>
                    </a:p>
                  </a:txBody>
                  <a:tcPr/>
                </a:tc>
                <a:tc>
                  <a:txBody>
                    <a:bodyPr/>
                    <a:lstStyle/>
                    <a:p>
                      <a:pPr lvl="0" indent="0" marL="0">
                        <a:buNone/>
                      </a:pPr>
                      <a:r>
                        <a:rPr/>
                        <a:t>mean</a:t>
                      </a:r>
                    </a:p>
                  </a:txBody>
                  <a:tcPr/>
                </a:tc>
                <a:tc>
                  <a:txBody>
                    <a:bodyPr/>
                    <a:lstStyle/>
                    <a:p>
                      <a:pPr lvl="0" indent="0" marL="0">
                        <a:buNone/>
                      </a:pPr>
                      <a:r>
                        <a:rPr/>
                        <a:t>sd</a:t>
                      </a:r>
                    </a:p>
                  </a:txBody>
                  <a:tcPr/>
                </a:tc>
                <a:tc>
                  <a:txBody>
                    <a:bodyPr/>
                    <a:lstStyle/>
                    <a:p>
                      <a:pPr lvl="0" indent="0" marL="0">
                        <a:buNone/>
                      </a:pPr>
                      <a:r>
                        <a:rPr/>
                        <a:t>n</a:t>
                      </a:r>
                    </a:p>
                  </a:txBody>
                  <a:tcPr/>
                </a:tc>
              </a:tr>
              <a:tr h="0">
                <a:tc>
                  <a:txBody>
                    <a:bodyPr/>
                    <a:lstStyle/>
                    <a:p>
                      <a:pPr lvl="0" indent="0" marL="0">
                        <a:buNone/>
                      </a:pPr>
                      <a:r>
                        <a:rPr/>
                        <a:t>hAge</a:t>
                      </a:r>
                    </a:p>
                  </a:txBody>
                </a:tc>
                <a:tc>
                  <a:txBody>
                    <a:bodyPr/>
                    <a:lstStyle/>
                    <a:p>
                      <a:pPr lvl="0" indent="0" marL="0">
                        <a:buNone/>
                      </a:pPr>
                      <a:r>
                        <a:rPr/>
                        <a:t>42.6</a:t>
                      </a:r>
                    </a:p>
                  </a:txBody>
                </a:tc>
                <a:tc>
                  <a:txBody>
                    <a:bodyPr/>
                    <a:lstStyle/>
                    <a:p>
                      <a:pPr lvl="0" indent="0" marL="0">
                        <a:buNone/>
                      </a:pPr>
                      <a:r>
                        <a:rPr/>
                        <a:t>11.6</a:t>
                      </a:r>
                    </a:p>
                  </a:txBody>
                </a:tc>
                <a:tc>
                  <a:txBody>
                    <a:bodyPr/>
                    <a:lstStyle/>
                    <a:p>
                      <a:pPr lvl="0" indent="0" marL="0">
                        <a:buNone/>
                      </a:pPr>
                      <a:r>
                        <a:rPr/>
                        <a:t>199</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Descriptive statistics on age gap</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variable</a:t>
                      </a:r>
                    </a:p>
                  </a:txBody>
                  <a:tcPr/>
                </a:tc>
                <a:tc>
                  <a:txBody>
                    <a:bodyPr/>
                    <a:lstStyle/>
                    <a:p>
                      <a:pPr lvl="0" indent="0" marL="0">
                        <a:buNone/>
                      </a:pPr>
                      <a:r>
                        <a:rPr/>
                        <a:t>mean</a:t>
                      </a:r>
                    </a:p>
                  </a:txBody>
                  <a:tcPr/>
                </a:tc>
                <a:tc>
                  <a:txBody>
                    <a:bodyPr/>
                    <a:lstStyle/>
                    <a:p>
                      <a:pPr lvl="0" indent="0" marL="0">
                        <a:buNone/>
                      </a:pPr>
                      <a:r>
                        <a:rPr/>
                        <a:t>sd</a:t>
                      </a:r>
                    </a:p>
                  </a:txBody>
                  <a:tcPr/>
                </a:tc>
                <a:tc>
                  <a:txBody>
                    <a:bodyPr/>
                    <a:lstStyle/>
                    <a:p>
                      <a:pPr lvl="0" indent="0" marL="0">
                        <a:buNone/>
                      </a:pPr>
                      <a:r>
                        <a:rPr/>
                        <a:t>n</a:t>
                      </a:r>
                    </a:p>
                  </a:txBody>
                  <a:tcPr/>
                </a:tc>
              </a:tr>
              <a:tr h="0">
                <a:tc>
                  <a:txBody>
                    <a:bodyPr/>
                    <a:lstStyle/>
                    <a:p>
                      <a:pPr lvl="0" indent="0" marL="0">
                        <a:buNone/>
                      </a:pPr>
                      <a:r>
                        <a:rPr/>
                        <a:t>age_gap</a:t>
                      </a:r>
                    </a:p>
                  </a:txBody>
                </a:tc>
                <a:tc>
                  <a:txBody>
                    <a:bodyPr/>
                    <a:lstStyle/>
                    <a:p>
                      <a:pPr lvl="0" indent="0" marL="0">
                        <a:buNone/>
                      </a:pPr>
                      <a:r>
                        <a:rPr/>
                        <a:t>2.2</a:t>
                      </a:r>
                    </a:p>
                  </a:txBody>
                </a:tc>
                <a:tc>
                  <a:txBody>
                    <a:bodyPr/>
                    <a:lstStyle/>
                    <a:p>
                      <a:pPr lvl="0" indent="0" marL="0">
                        <a:buNone/>
                      </a:pPr>
                      <a:r>
                        <a:rPr/>
                        <a:t>4.1</a:t>
                      </a:r>
                    </a:p>
                  </a:txBody>
                </a:tc>
                <a:tc>
                  <a:txBody>
                    <a:bodyPr/>
                    <a:lstStyle/>
                    <a:p>
                      <a:pPr lvl="0" indent="0" marL="0">
                        <a:buNone/>
                      </a:pPr>
                      <a:r>
                        <a:rPr/>
                        <a:t>170</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Paired t-test on couples ages</a:t>
            </a:r>
          </a:p>
        </p:txBody>
      </p:sp>
      <p:sp>
        <p:nvSpPr>
          <p:cNvPr id="3" name="Content Placeholder 2"/>
          <p:cNvSpPr>
            <a:spLocks noGrp="1"/>
          </p:cNvSpPr>
          <p:nvPr>
            <p:ph idx="1"/>
          </p:nvPr>
        </p:nvSpPr>
        <p:spPr/>
        <p:txBody>
          <a:bodyPr/>
          <a:lstStyle/>
          <a:p>
            <a:pPr lvl="0" indent="0">
              <a:buNone/>
            </a:pPr>
            <a:r>
              <a:rPr>
                <a:latin typeface="Courier"/>
              </a:rPr>
              <a:t>
    Paired t-test
data:  couples$hAge and couples$wAge
t = 7.1518, df = 169, p-value = 2.474e-11
alternative hypothesis: true mean difference is not equal to 0
95 percent confidence interval:
 1.618286 2.852302
sample estimates:
mean difference 
       2.235294 </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Show the output using a different package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Analyze as completely randomized block design</a:t>
            </a:r>
          </a:p>
        </p:txBody>
      </p:sp>
      <p:sp>
        <p:nvSpPr>
          <p:cNvPr id="3" name="Content Placeholder 2"/>
          <p:cNvSpPr>
            <a:spLocks noGrp="1"/>
          </p:cNvSpPr>
          <p:nvPr>
            <p:ph idx="1"/>
          </p:nvPr>
        </p:nvSpPr>
        <p:spPr/>
        <p:txBody>
          <a:bodyPr/>
          <a:lstStyle/>
          <a:p>
            <a:pPr lvl="0" indent="0">
              <a:buNone/>
            </a:pPr>
            <a:r>
              <a:rPr>
                <a:latin typeface="Courier"/>
              </a:rPr>
              <a:t>Analysis of Variance Table
Response: age
           Df Sum Sq Mean Sq F value    Pr(&gt;F)    
spouse      1    425  424.71  51.148 2.474e-11 ***
pair      169  43974  260.20  31.337 &lt; 2.2e-16 ***
Residuals 169   1403    8.30                      
---
Signif. codes:  0 '***' 0.001 '**' 0.01 '*' 0.05 '.' 0.1 ' ' 1</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Restructured data for a completely randomized block design</a:t>
            </a:r>
          </a:p>
        </p:txBody>
      </p:sp>
      <p:pic>
        <p:nvPicPr>
          <p:cNvPr descr="../images/couples_1.png" id="0" name="Picture 1"/>
          <p:cNvPicPr>
            <a:picLocks noGrp="1" noChangeAspect="1"/>
          </p:cNvPicPr>
          <p:nvPr/>
        </p:nvPicPr>
        <p:blipFill>
          <a:blip r:embed="rId2"/>
          <a:stretch>
            <a:fillRect/>
          </a:stretch>
        </p:blipFill>
        <p:spPr bwMode="auto">
          <a:xfrm>
            <a:off x="2324100" y="1193800"/>
            <a:ext cx="4495800" cy="3390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Show the output using a different package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#1</a:t>
            </a:r>
          </a:p>
        </p:txBody>
      </p:sp>
      <p:sp>
        <p:nvSpPr>
          <p:cNvPr id="3" name="Content Placeholder 2"/>
          <p:cNvSpPr>
            <a:spLocks noGrp="1"/>
          </p:cNvSpPr>
          <p:nvPr>
            <p:ph idx="1"/>
          </p:nvPr>
        </p:nvSpPr>
        <p:spPr/>
        <p:txBody>
          <a:bodyPr/>
          <a:lstStyle/>
          <a:p>
            <a:pPr lvl="0"/>
            <a:r>
              <a:rPr/>
              <a:t>What you have learned</a:t>
            </a:r>
          </a:p>
          <a:p>
            <a:pPr lvl="1"/>
            <a:r>
              <a:rPr/>
              <a:t>The paired t-test</a:t>
            </a:r>
          </a:p>
          <a:p>
            <a:pPr lvl="0"/>
            <a:r>
              <a:rPr/>
              <a:t>What’s coming next</a:t>
            </a:r>
          </a:p>
          <a:p>
            <a:pPr lvl="1"/>
            <a:r>
              <a:rPr/>
              <a:t>The AB/BA cross-over</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layout</a:t>
            </a:r>
          </a:p>
        </p:txBody>
      </p:sp>
      <p:pic>
        <p:nvPicPr>
          <p:cNvPr descr="../images/asthma_1.png" id="0" name="Picture 1"/>
          <p:cNvPicPr>
            <a:picLocks noGrp="1" noChangeAspect="1"/>
          </p:cNvPicPr>
          <p:nvPr/>
        </p:nvPicPr>
        <p:blipFill>
          <a:blip r:embed="rId2"/>
          <a:stretch>
            <a:fillRect/>
          </a:stretch>
        </p:blipFill>
        <p:spPr bwMode="auto">
          <a:xfrm>
            <a:off x="2362200" y="1193800"/>
            <a:ext cx="4419600" cy="33909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Alternate data layout</a:t>
            </a:r>
          </a:p>
        </p:txBody>
      </p:sp>
      <p:pic>
        <p:nvPicPr>
          <p:cNvPr descr="../images/asthma_2.png" id="0" name="Picture 1"/>
          <p:cNvPicPr>
            <a:picLocks noGrp="1" noChangeAspect="1"/>
          </p:cNvPicPr>
          <p:nvPr/>
        </p:nvPicPr>
        <p:blipFill>
          <a:blip r:embed="rId2"/>
          <a:stretch>
            <a:fillRect/>
          </a:stretch>
        </p:blipFill>
        <p:spPr bwMode="auto">
          <a:xfrm>
            <a:off x="2349500" y="1193800"/>
            <a:ext cx="4445000" cy="33909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Descriptive statistics, period 1</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variable</a:t>
                      </a:r>
                    </a:p>
                  </a:txBody>
                  <a:tcPr/>
                </a:tc>
                <a:tc>
                  <a:txBody>
                    <a:bodyPr/>
                    <a:lstStyle/>
                    <a:p>
                      <a:pPr lvl="0" indent="0" marL="0">
                        <a:buNone/>
                      </a:pPr>
                      <a:r>
                        <a:rPr/>
                        <a:t>mean</a:t>
                      </a:r>
                    </a:p>
                  </a:txBody>
                  <a:tcPr/>
                </a:tc>
                <a:tc>
                  <a:txBody>
                    <a:bodyPr/>
                    <a:lstStyle/>
                    <a:p>
                      <a:pPr lvl="0" indent="0" marL="0">
                        <a:buNone/>
                      </a:pPr>
                      <a:r>
                        <a:rPr/>
                        <a:t>sd</a:t>
                      </a:r>
                    </a:p>
                  </a:txBody>
                  <a:tcPr/>
                </a:tc>
                <a:tc>
                  <a:txBody>
                    <a:bodyPr/>
                    <a:lstStyle/>
                    <a:p>
                      <a:pPr lvl="0" indent="0" marL="0">
                        <a:buNone/>
                      </a:pPr>
                      <a:r>
                        <a:rPr/>
                        <a:t>n</a:t>
                      </a:r>
                    </a:p>
                  </a:txBody>
                  <a:tcPr/>
                </a:tc>
              </a:tr>
              <a:tr h="0">
                <a:tc>
                  <a:txBody>
                    <a:bodyPr/>
                    <a:lstStyle/>
                    <a:p>
                      <a:pPr lvl="0" indent="0" marL="0">
                        <a:buNone/>
                      </a:pPr>
                      <a:r>
                        <a:rPr/>
                        <a:t>period1</a:t>
                      </a:r>
                    </a:p>
                  </a:txBody>
                </a:tc>
                <a:tc>
                  <a:txBody>
                    <a:bodyPr/>
                    <a:lstStyle/>
                    <a:p>
                      <a:pPr lvl="0" indent="0" marL="0">
                        <a:buNone/>
                      </a:pPr>
                      <a:r>
                        <a:rPr/>
                        <a:t>312.3</a:t>
                      </a:r>
                    </a:p>
                  </a:txBody>
                </a:tc>
                <a:tc>
                  <a:txBody>
                    <a:bodyPr/>
                    <a:lstStyle/>
                    <a:p>
                      <a:pPr lvl="0" indent="0" marL="0">
                        <a:buNone/>
                      </a:pPr>
                      <a:r>
                        <a:rPr/>
                        <a:t>82.8</a:t>
                      </a:r>
                    </a:p>
                  </a:txBody>
                </a:tc>
                <a:tc>
                  <a:txBody>
                    <a:bodyPr/>
                    <a:lstStyle/>
                    <a:p>
                      <a:pPr lvl="0" indent="0" marL="0">
                        <a:buNone/>
                      </a:pPr>
                      <a:r>
                        <a:rPr/>
                        <a:t>13</a:t>
                      </a:r>
                    </a:p>
                  </a:txBody>
                </a:tc>
              </a:tr>
            </a:tbl>
          </a:graphicData>
        </a:graphic>
      </p:graphicFrame>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Descriptive statistics, period 2</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variable</a:t>
                      </a:r>
                    </a:p>
                  </a:txBody>
                  <a:tcPr/>
                </a:tc>
                <a:tc>
                  <a:txBody>
                    <a:bodyPr/>
                    <a:lstStyle/>
                    <a:p>
                      <a:pPr lvl="0" indent="0" marL="0">
                        <a:buNone/>
                      </a:pPr>
                      <a:r>
                        <a:rPr/>
                        <a:t>mean</a:t>
                      </a:r>
                    </a:p>
                  </a:txBody>
                  <a:tcPr/>
                </a:tc>
                <a:tc>
                  <a:txBody>
                    <a:bodyPr/>
                    <a:lstStyle/>
                    <a:p>
                      <a:pPr lvl="0" indent="0" marL="0">
                        <a:buNone/>
                      </a:pPr>
                      <a:r>
                        <a:rPr/>
                        <a:t>sd</a:t>
                      </a:r>
                    </a:p>
                  </a:txBody>
                  <a:tcPr/>
                </a:tc>
                <a:tc>
                  <a:txBody>
                    <a:bodyPr/>
                    <a:lstStyle/>
                    <a:p>
                      <a:pPr lvl="0" indent="0" marL="0">
                        <a:buNone/>
                      </a:pPr>
                      <a:r>
                        <a:rPr/>
                        <a:t>n</a:t>
                      </a:r>
                    </a:p>
                  </a:txBody>
                  <a:tcPr/>
                </a:tc>
              </a:tr>
              <a:tr h="0">
                <a:tc>
                  <a:txBody>
                    <a:bodyPr/>
                    <a:lstStyle/>
                    <a:p>
                      <a:pPr lvl="0" indent="0" marL="0">
                        <a:buNone/>
                      </a:pPr>
                      <a:r>
                        <a:rPr/>
                        <a:t>period2</a:t>
                      </a:r>
                    </a:p>
                  </a:txBody>
                </a:tc>
                <a:tc>
                  <a:txBody>
                    <a:bodyPr/>
                    <a:lstStyle/>
                    <a:p>
                      <a:pPr lvl="0" indent="0" marL="0">
                        <a:buNone/>
                      </a:pPr>
                      <a:r>
                        <a:rPr/>
                        <a:t>324.6</a:t>
                      </a:r>
                    </a:p>
                  </a:txBody>
                </a:tc>
                <a:tc>
                  <a:txBody>
                    <a:bodyPr/>
                    <a:lstStyle/>
                    <a:p>
                      <a:pPr lvl="0" indent="0" marL="0">
                        <a:buNone/>
                      </a:pPr>
                      <a:r>
                        <a:rPr/>
                        <a:t>67.9</a:t>
                      </a:r>
                    </a:p>
                  </a:txBody>
                </a:tc>
                <a:tc>
                  <a:txBody>
                    <a:bodyPr/>
                    <a:lstStyle/>
                    <a:p>
                      <a:pPr lvl="0" indent="0" marL="0">
                        <a:buNone/>
                      </a:pPr>
                      <a:r>
                        <a:rPr/>
                        <a:t>13</a:t>
                      </a:r>
                    </a:p>
                  </a:txBody>
                </a:tc>
              </a:tr>
            </a:tbl>
          </a:graphicData>
        </a:graphic>
      </p:graphicFrame>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Descriptive statistics, period gap</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variable</a:t>
                      </a:r>
                    </a:p>
                  </a:txBody>
                  <a:tcPr/>
                </a:tc>
                <a:tc>
                  <a:txBody>
                    <a:bodyPr/>
                    <a:lstStyle/>
                    <a:p>
                      <a:pPr lvl="0" indent="0" marL="0">
                        <a:buNone/>
                      </a:pPr>
                      <a:r>
                        <a:rPr/>
                        <a:t>mean</a:t>
                      </a:r>
                    </a:p>
                  </a:txBody>
                  <a:tcPr/>
                </a:tc>
                <a:tc>
                  <a:txBody>
                    <a:bodyPr/>
                    <a:lstStyle/>
                    <a:p>
                      <a:pPr lvl="0" indent="0" marL="0">
                        <a:buNone/>
                      </a:pPr>
                      <a:r>
                        <a:rPr/>
                        <a:t>sd</a:t>
                      </a:r>
                    </a:p>
                  </a:txBody>
                  <a:tcPr/>
                </a:tc>
                <a:tc>
                  <a:txBody>
                    <a:bodyPr/>
                    <a:lstStyle/>
                    <a:p>
                      <a:pPr lvl="0" indent="0" marL="0">
                        <a:buNone/>
                      </a:pPr>
                      <a:r>
                        <a:rPr/>
                        <a:t>n</a:t>
                      </a:r>
                    </a:p>
                  </a:txBody>
                  <a:tcPr/>
                </a:tc>
              </a:tr>
              <a:tr h="0">
                <a:tc>
                  <a:txBody>
                    <a:bodyPr/>
                    <a:lstStyle/>
                    <a:p>
                      <a:pPr lvl="0" indent="0" marL="0">
                        <a:buNone/>
                      </a:pPr>
                      <a:r>
                        <a:rPr/>
                        <a:t>period_gap</a:t>
                      </a:r>
                    </a:p>
                  </a:txBody>
                </a:tc>
                <a:tc>
                  <a:txBody>
                    <a:bodyPr/>
                    <a:lstStyle/>
                    <a:p>
                      <a:pPr lvl="0" indent="0" marL="0">
                        <a:buNone/>
                      </a:pPr>
                      <a:r>
                        <a:rPr/>
                        <a:t>12.3</a:t>
                      </a:r>
                    </a:p>
                  </a:txBody>
                </a:tc>
                <a:tc>
                  <a:txBody>
                    <a:bodyPr/>
                    <a:lstStyle/>
                    <a:p>
                      <a:pPr lvl="0" indent="0" marL="0">
                        <a:buNone/>
                      </a:pPr>
                      <a:r>
                        <a:rPr/>
                        <a:t>61.0</a:t>
                      </a:r>
                    </a:p>
                  </a:txBody>
                </a:tc>
                <a:tc>
                  <a:txBody>
                    <a:bodyPr/>
                    <a:lstStyle/>
                    <a:p>
                      <a:pPr lvl="0" indent="0" marL="0">
                        <a:buNone/>
                      </a:pPr>
                      <a:r>
                        <a:rPr/>
                        <a:t>13</a:t>
                      </a:r>
                    </a:p>
                  </a:txBody>
                </a:tc>
              </a:tr>
            </a:tbl>
          </a:graphicData>
        </a:graphic>
      </p:graphicFrame>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Descriptive statistics, formoterol</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variable</a:t>
                      </a:r>
                    </a:p>
                  </a:txBody>
                  <a:tcPr/>
                </a:tc>
                <a:tc>
                  <a:txBody>
                    <a:bodyPr/>
                    <a:lstStyle/>
                    <a:p>
                      <a:pPr lvl="0" indent="0" marL="0">
                        <a:buNone/>
                      </a:pPr>
                      <a:r>
                        <a:rPr/>
                        <a:t>mean</a:t>
                      </a:r>
                    </a:p>
                  </a:txBody>
                  <a:tcPr/>
                </a:tc>
                <a:tc>
                  <a:txBody>
                    <a:bodyPr/>
                    <a:lstStyle/>
                    <a:p>
                      <a:pPr lvl="0" indent="0" marL="0">
                        <a:buNone/>
                      </a:pPr>
                      <a:r>
                        <a:rPr/>
                        <a:t>sd</a:t>
                      </a:r>
                    </a:p>
                  </a:txBody>
                  <a:tcPr/>
                </a:tc>
                <a:tc>
                  <a:txBody>
                    <a:bodyPr/>
                    <a:lstStyle/>
                    <a:p>
                      <a:pPr lvl="0" indent="0" marL="0">
                        <a:buNone/>
                      </a:pPr>
                      <a:r>
                        <a:rPr/>
                        <a:t>n</a:t>
                      </a:r>
                    </a:p>
                  </a:txBody>
                  <a:tcPr/>
                </a:tc>
              </a:tr>
              <a:tr h="0">
                <a:tc>
                  <a:txBody>
                    <a:bodyPr/>
                    <a:lstStyle/>
                    <a:p>
                      <a:pPr lvl="0" indent="0" marL="0">
                        <a:buNone/>
                      </a:pPr>
                      <a:r>
                        <a:rPr/>
                        <a:t>formoterol</a:t>
                      </a:r>
                    </a:p>
                  </a:txBody>
                </a:tc>
                <a:tc>
                  <a:txBody>
                    <a:bodyPr/>
                    <a:lstStyle/>
                    <a:p>
                      <a:pPr lvl="0" indent="0" marL="0">
                        <a:buNone/>
                      </a:pPr>
                      <a:r>
                        <a:rPr/>
                        <a:t>341.2</a:t>
                      </a:r>
                    </a:p>
                  </a:txBody>
                </a:tc>
                <a:tc>
                  <a:txBody>
                    <a:bodyPr/>
                    <a:lstStyle/>
                    <a:p>
                      <a:pPr lvl="0" indent="0" marL="0">
                        <a:buNone/>
                      </a:pPr>
                      <a:r>
                        <a:rPr/>
                        <a:t>59.7</a:t>
                      </a:r>
                    </a:p>
                  </a:txBody>
                </a:tc>
                <a:tc>
                  <a:txBody>
                    <a:bodyPr/>
                    <a:lstStyle/>
                    <a:p>
                      <a:pPr lvl="0" indent="0" marL="0">
                        <a:buNone/>
                      </a:pPr>
                      <a:r>
                        <a:rPr/>
                        <a:t>13</a:t>
                      </a:r>
                    </a:p>
                  </a:txBody>
                </a:tc>
              </a:tr>
            </a:tbl>
          </a:graphicData>
        </a:graphic>
      </p:graphicFrame>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Descriptive statistics, salbutamol</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variable</a:t>
                      </a:r>
                    </a:p>
                  </a:txBody>
                  <a:tcPr/>
                </a:tc>
                <a:tc>
                  <a:txBody>
                    <a:bodyPr/>
                    <a:lstStyle/>
                    <a:p>
                      <a:pPr lvl="0" indent="0" marL="0">
                        <a:buNone/>
                      </a:pPr>
                      <a:r>
                        <a:rPr/>
                        <a:t>mean</a:t>
                      </a:r>
                    </a:p>
                  </a:txBody>
                  <a:tcPr/>
                </a:tc>
                <a:tc>
                  <a:txBody>
                    <a:bodyPr/>
                    <a:lstStyle/>
                    <a:p>
                      <a:pPr lvl="0" indent="0" marL="0">
                        <a:buNone/>
                      </a:pPr>
                      <a:r>
                        <a:rPr/>
                        <a:t>sd</a:t>
                      </a:r>
                    </a:p>
                  </a:txBody>
                  <a:tcPr/>
                </a:tc>
                <a:tc>
                  <a:txBody>
                    <a:bodyPr/>
                    <a:lstStyle/>
                    <a:p>
                      <a:pPr lvl="0" indent="0" marL="0">
                        <a:buNone/>
                      </a:pPr>
                      <a:r>
                        <a:rPr/>
                        <a:t>n</a:t>
                      </a:r>
                    </a:p>
                  </a:txBody>
                  <a:tcPr/>
                </a:tc>
              </a:tr>
              <a:tr h="0">
                <a:tc>
                  <a:txBody>
                    <a:bodyPr/>
                    <a:lstStyle/>
                    <a:p>
                      <a:pPr lvl="0" indent="0" marL="0">
                        <a:buNone/>
                      </a:pPr>
                      <a:r>
                        <a:rPr/>
                        <a:t>salbutamol</a:t>
                      </a:r>
                    </a:p>
                  </a:txBody>
                </a:tc>
                <a:tc>
                  <a:txBody>
                    <a:bodyPr/>
                    <a:lstStyle/>
                    <a:p>
                      <a:pPr lvl="0" indent="0" marL="0">
                        <a:buNone/>
                      </a:pPr>
                      <a:r>
                        <a:rPr/>
                        <a:t>295.8</a:t>
                      </a:r>
                    </a:p>
                  </a:txBody>
                </a:tc>
                <a:tc>
                  <a:txBody>
                    <a:bodyPr/>
                    <a:lstStyle/>
                    <a:p>
                      <a:pPr lvl="0" indent="0" marL="0">
                        <a:buNone/>
                      </a:pPr>
                      <a:r>
                        <a:rPr/>
                        <a:t>82.9</a:t>
                      </a:r>
                    </a:p>
                  </a:txBody>
                </a:tc>
                <a:tc>
                  <a:txBody>
                    <a:bodyPr/>
                    <a:lstStyle/>
                    <a:p>
                      <a:pPr lvl="0" indent="0" marL="0">
                        <a:buNone/>
                      </a:pPr>
                      <a:r>
                        <a:rPr/>
                        <a:t>13</a:t>
                      </a:r>
                    </a:p>
                  </a:txBody>
                </a:tc>
              </a:tr>
            </a:tbl>
          </a:graphicData>
        </a:graphic>
      </p:graphicFrame>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Descriptive statistics, drug gap</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variable</a:t>
                      </a:r>
                    </a:p>
                  </a:txBody>
                  <a:tcPr/>
                </a:tc>
                <a:tc>
                  <a:txBody>
                    <a:bodyPr/>
                    <a:lstStyle/>
                    <a:p>
                      <a:pPr lvl="0" indent="0" marL="0">
                        <a:buNone/>
                      </a:pPr>
                      <a:r>
                        <a:rPr/>
                        <a:t>mean</a:t>
                      </a:r>
                    </a:p>
                  </a:txBody>
                  <a:tcPr/>
                </a:tc>
                <a:tc>
                  <a:txBody>
                    <a:bodyPr/>
                    <a:lstStyle/>
                    <a:p>
                      <a:pPr lvl="0" indent="0" marL="0">
                        <a:buNone/>
                      </a:pPr>
                      <a:r>
                        <a:rPr/>
                        <a:t>sd</a:t>
                      </a:r>
                    </a:p>
                  </a:txBody>
                  <a:tcPr/>
                </a:tc>
                <a:tc>
                  <a:txBody>
                    <a:bodyPr/>
                    <a:lstStyle/>
                    <a:p>
                      <a:pPr lvl="0" indent="0" marL="0">
                        <a:buNone/>
                      </a:pPr>
                      <a:r>
                        <a:rPr/>
                        <a:t>n</a:t>
                      </a:r>
                    </a:p>
                  </a:txBody>
                  <a:tcPr/>
                </a:tc>
              </a:tr>
              <a:tr h="0">
                <a:tc>
                  <a:txBody>
                    <a:bodyPr/>
                    <a:lstStyle/>
                    <a:p>
                      <a:pPr lvl="0" indent="0" marL="0">
                        <a:buNone/>
                      </a:pPr>
                      <a:r>
                        <a:rPr/>
                        <a:t>drug_gap</a:t>
                      </a:r>
                    </a:p>
                  </a:txBody>
                </a:tc>
                <a:tc>
                  <a:txBody>
                    <a:bodyPr/>
                    <a:lstStyle/>
                    <a:p>
                      <a:pPr lvl="0" indent="0" marL="0">
                        <a:buNone/>
                      </a:pPr>
                      <a:r>
                        <a:rPr/>
                        <a:t>45.4</a:t>
                      </a:r>
                    </a:p>
                  </a:txBody>
                </a:tc>
                <a:tc>
                  <a:txBody>
                    <a:bodyPr/>
                    <a:lstStyle/>
                    <a:p>
                      <a:pPr lvl="0" indent="0" marL="0">
                        <a:buNone/>
                      </a:pPr>
                      <a:r>
                        <a:rPr/>
                        <a:t>40.6</a:t>
                      </a:r>
                    </a:p>
                  </a:txBody>
                </a:tc>
                <a:tc>
                  <a:txBody>
                    <a:bodyPr/>
                    <a:lstStyle/>
                    <a:p>
                      <a:pPr lvl="0" indent="0" marL="0">
                        <a:buNone/>
                      </a:pPr>
                      <a:r>
                        <a:rPr/>
                        <a:t>13</a:t>
                      </a:r>
                    </a:p>
                  </a:txBody>
                </a:tc>
              </a:tr>
            </a:tbl>
          </a:graphicData>
        </a:graphic>
      </p:graphicFrame>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Paired t-test</a:t>
            </a:r>
          </a:p>
        </p:txBody>
      </p:sp>
      <p:sp>
        <p:nvSpPr>
          <p:cNvPr id="3" name="Content Placeholder 2"/>
          <p:cNvSpPr>
            <a:spLocks noGrp="1"/>
          </p:cNvSpPr>
          <p:nvPr>
            <p:ph idx="1"/>
          </p:nvPr>
        </p:nvSpPr>
        <p:spPr/>
        <p:txBody>
          <a:bodyPr/>
          <a:lstStyle/>
          <a:p>
            <a:pPr lvl="0" indent="0">
              <a:buNone/>
            </a:pPr>
            <a:r>
              <a:rPr>
                <a:latin typeface="Courier"/>
              </a:rPr>
              <a:t>
    Paired t-test
data:  asthma_2$formoterol and asthma_2$salbutamol
t = 4.0312, df = 12, p-value = 0.001666
alternative hypothesis: true mean difference is not equal to 0
95 percent confidence interval:
 20.85477 69.91446
sample estimates:
mean difference 
       45.38462 </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Recalculate paired t-test with different package</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Analysis using a completely randomized block design</a:t>
            </a:r>
          </a:p>
        </p:txBody>
      </p:sp>
      <p:sp>
        <p:nvSpPr>
          <p:cNvPr id="3" name="Content Placeholder 2"/>
          <p:cNvSpPr>
            <a:spLocks noGrp="1"/>
          </p:cNvSpPr>
          <p:nvPr>
            <p:ph idx="1"/>
          </p:nvPr>
        </p:nvSpPr>
        <p:spPr/>
        <p:txBody>
          <a:bodyPr/>
          <a:lstStyle/>
          <a:p>
            <a:pPr lvl="0" indent="0">
              <a:buNone/>
            </a:pPr>
            <a:r>
              <a:rPr>
                <a:latin typeface="Courier"/>
              </a:rPr>
              <a:t>Analysis of Variance Table
Response: pef
           Df Sum Sq Mean Sq F value    Pr(&gt;F)    
treatment   1  13388 13388.5  16.250  0.001666 ** 
factor(id) 12 115213  9601.1  11.654 7.935e-05 ***
Residuals  12   9887   823.9                      
---
Signif. codes:  0 '***' 0.001 '**' 0.01 '*' 0.05 '.' 0.1 ' ' 1</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Alternate form with different package</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#2</a:t>
            </a:r>
          </a:p>
        </p:txBody>
      </p:sp>
      <p:sp>
        <p:nvSpPr>
          <p:cNvPr id="3" name="Content Placeholder 2"/>
          <p:cNvSpPr>
            <a:spLocks noGrp="1"/>
          </p:cNvSpPr>
          <p:nvPr>
            <p:ph idx="1"/>
          </p:nvPr>
        </p:nvSpPr>
        <p:spPr/>
        <p:txBody>
          <a:bodyPr/>
          <a:lstStyle/>
          <a:p>
            <a:pPr lvl="0"/>
            <a:r>
              <a:rPr/>
              <a:t>What you have learned</a:t>
            </a:r>
          </a:p>
          <a:p>
            <a:pPr lvl="1"/>
            <a:r>
              <a:rPr/>
              <a:t>The AB/BA cross-over</a:t>
            </a:r>
          </a:p>
          <a:p>
            <a:pPr lvl="0"/>
            <a:r>
              <a:rPr/>
              <a:t>What’s coming next</a:t>
            </a:r>
          </a:p>
          <a:p>
            <a:pPr lvl="1"/>
            <a:r>
              <a:rPr/>
              <a:t>Period effects and carry-over</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Adjusting for period effects</a:t>
            </a:r>
          </a:p>
        </p:txBody>
      </p:sp>
      <p:sp>
        <p:nvSpPr>
          <p:cNvPr id="3" name="Content Placeholder 2"/>
          <p:cNvSpPr>
            <a:spLocks noGrp="1"/>
          </p:cNvSpPr>
          <p:nvPr>
            <p:ph idx="1"/>
          </p:nvPr>
        </p:nvSpPr>
        <p:spPr/>
        <p:txBody>
          <a:bodyPr/>
          <a:lstStyle/>
          <a:p>
            <a:pPr lvl="0"/>
            <a:r>
              <a:rPr/>
              <a:t>Improves precision</a:t>
            </a:r>
          </a:p>
          <a:p>
            <a:pPr lvl="0"/>
            <a:r>
              <a:rPr/>
              <a:t>Adjusts for imbalances</a:t>
            </a:r>
          </a:p>
          <a:p>
            <a:pPr lvl="0"/>
            <a:r>
              <a:rPr/>
              <a:t>Requires layout used for completely randomized block design</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might you see period effects</a:t>
            </a:r>
          </a:p>
        </p:txBody>
      </p:sp>
      <p:sp>
        <p:nvSpPr>
          <p:cNvPr id="3" name="Content Placeholder 2"/>
          <p:cNvSpPr>
            <a:spLocks noGrp="1"/>
          </p:cNvSpPr>
          <p:nvPr>
            <p:ph idx="1"/>
          </p:nvPr>
        </p:nvSpPr>
        <p:spPr/>
        <p:txBody>
          <a:bodyPr/>
          <a:lstStyle/>
          <a:p>
            <a:pPr lvl="0"/>
            <a:r>
              <a:rPr/>
              <a:t>Temporal trends</a:t>
            </a:r>
          </a:p>
          <a:p>
            <a:pPr lvl="0"/>
            <a:r>
              <a:rPr/>
              <a:t>Seasonal effects</a:t>
            </a:r>
          </a:p>
          <a:p>
            <a:pPr lvl="0"/>
            <a:r>
              <a:rPr/>
              <a:t>Carry-over</a:t>
            </a:r>
          </a:p>
          <a:p>
            <a:pPr lvl="1"/>
            <a:r>
              <a:rPr/>
              <a:t>Persistence of a treatment applied in one period in a subsequent period of treatment</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Layout for asthma data</a:t>
            </a:r>
          </a:p>
        </p:txBody>
      </p:sp>
      <p:pic>
        <p:nvPicPr>
          <p:cNvPr descr="../images/asthma_3.png" id="0" name="Picture 1"/>
          <p:cNvPicPr>
            <a:picLocks noGrp="1" noChangeAspect="1"/>
          </p:cNvPicPr>
          <p:nvPr/>
        </p:nvPicPr>
        <p:blipFill>
          <a:blip r:embed="rId2"/>
          <a:stretch>
            <a:fillRect/>
          </a:stretch>
        </p:blipFill>
        <p:spPr bwMode="auto">
          <a:xfrm>
            <a:off x="2362200" y="1193800"/>
            <a:ext cx="4419600" cy="33909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Counts for layout data</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treatment</a:t>
                      </a:r>
                    </a:p>
                  </a:txBody>
                  <a:tcPr/>
                </a:tc>
                <a:tc>
                  <a:txBody>
                    <a:bodyPr/>
                    <a:lstStyle/>
                    <a:p>
                      <a:pPr lvl="0" indent="0" marL="0">
                        <a:buNone/>
                      </a:pPr>
                      <a:r>
                        <a:rPr/>
                        <a:t>order</a:t>
                      </a:r>
                    </a:p>
                  </a:txBody>
                  <a:tcPr/>
                </a:tc>
                <a:tc>
                  <a:txBody>
                    <a:bodyPr/>
                    <a:lstStyle/>
                    <a:p>
                      <a:pPr lvl="0" indent="0" marL="0">
                        <a:buNone/>
                      </a:pPr>
                      <a:r>
                        <a:rPr/>
                        <a:t>period</a:t>
                      </a:r>
                    </a:p>
                  </a:txBody>
                  <a:tcPr/>
                </a:tc>
                <a:tc>
                  <a:txBody>
                    <a:bodyPr/>
                    <a:lstStyle/>
                    <a:p>
                      <a:pPr lvl="0" indent="0" marL="0">
                        <a:buNone/>
                      </a:pPr>
                      <a:r>
                        <a:rPr/>
                        <a:t>n</a:t>
                      </a:r>
                    </a:p>
                  </a:txBody>
                  <a:tcPr/>
                </a:tc>
              </a:tr>
              <a:tr h="0">
                <a:tc>
                  <a:txBody>
                    <a:bodyPr/>
                    <a:lstStyle/>
                    <a:p>
                      <a:pPr lvl="0" indent="0" marL="0">
                        <a:buNone/>
                      </a:pPr>
                      <a:r>
                        <a:rPr/>
                        <a:t>formoterol</a:t>
                      </a:r>
                    </a:p>
                  </a:txBody>
                </a:tc>
                <a:tc>
                  <a:txBody>
                    <a:bodyPr/>
                    <a:lstStyle/>
                    <a:p>
                      <a:pPr lvl="0" indent="0" marL="0">
                        <a:buNone/>
                      </a:pPr>
                      <a:r>
                        <a:rPr/>
                        <a:t>for/sal</a:t>
                      </a:r>
                    </a:p>
                  </a:txBody>
                </a:tc>
                <a:tc>
                  <a:txBody>
                    <a:bodyPr/>
                    <a:lstStyle/>
                    <a:p>
                      <a:pPr lvl="0" indent="0" marL="0">
                        <a:buNone/>
                      </a:pPr>
                      <a:r>
                        <a:rPr/>
                        <a:t>1</a:t>
                      </a:r>
                    </a:p>
                  </a:txBody>
                </a:tc>
                <a:tc>
                  <a:txBody>
                    <a:bodyPr/>
                    <a:lstStyle/>
                    <a:p>
                      <a:pPr lvl="0" indent="0" marL="0">
                        <a:buNone/>
                      </a:pPr>
                      <a:r>
                        <a:rPr/>
                        <a:t>7</a:t>
                      </a:r>
                    </a:p>
                  </a:txBody>
                </a:tc>
              </a:tr>
              <a:tr h="0">
                <a:tc>
                  <a:txBody>
                    <a:bodyPr/>
                    <a:lstStyle/>
                    <a:p>
                      <a:pPr lvl="0" indent="0" marL="0">
                        <a:buNone/>
                      </a:pPr>
                      <a:r>
                        <a:rPr/>
                        <a:t>formoterol</a:t>
                      </a:r>
                    </a:p>
                  </a:txBody>
                </a:tc>
                <a:tc>
                  <a:txBody>
                    <a:bodyPr/>
                    <a:lstStyle/>
                    <a:p>
                      <a:pPr lvl="0" indent="0" marL="0">
                        <a:buNone/>
                      </a:pPr>
                      <a:r>
                        <a:rPr/>
                        <a:t>sal/for</a:t>
                      </a:r>
                    </a:p>
                  </a:txBody>
                </a:tc>
                <a:tc>
                  <a:txBody>
                    <a:bodyPr/>
                    <a:lstStyle/>
                    <a:p>
                      <a:pPr lvl="0" indent="0" marL="0">
                        <a:buNone/>
                      </a:pPr>
                      <a:r>
                        <a:rPr/>
                        <a:t>2</a:t>
                      </a:r>
                    </a:p>
                  </a:txBody>
                </a:tc>
                <a:tc>
                  <a:txBody>
                    <a:bodyPr/>
                    <a:lstStyle/>
                    <a:p>
                      <a:pPr lvl="0" indent="0" marL="0">
                        <a:buNone/>
                      </a:pPr>
                      <a:r>
                        <a:rPr/>
                        <a:t>6</a:t>
                      </a:r>
                    </a:p>
                  </a:txBody>
                </a:tc>
              </a:tr>
              <a:tr h="0">
                <a:tc>
                  <a:txBody>
                    <a:bodyPr/>
                    <a:lstStyle/>
                    <a:p>
                      <a:pPr lvl="0" indent="0" marL="0">
                        <a:buNone/>
                      </a:pPr>
                      <a:r>
                        <a:rPr/>
                        <a:t>salbutamol</a:t>
                      </a:r>
                    </a:p>
                  </a:txBody>
                </a:tc>
                <a:tc>
                  <a:txBody>
                    <a:bodyPr/>
                    <a:lstStyle/>
                    <a:p>
                      <a:pPr lvl="0" indent="0" marL="0">
                        <a:buNone/>
                      </a:pPr>
                      <a:r>
                        <a:rPr/>
                        <a:t>for/sal</a:t>
                      </a:r>
                    </a:p>
                  </a:txBody>
                </a:tc>
                <a:tc>
                  <a:txBody>
                    <a:bodyPr/>
                    <a:lstStyle/>
                    <a:p>
                      <a:pPr lvl="0" indent="0" marL="0">
                        <a:buNone/>
                      </a:pPr>
                      <a:r>
                        <a:rPr/>
                        <a:t>2</a:t>
                      </a:r>
                    </a:p>
                  </a:txBody>
                </a:tc>
                <a:tc>
                  <a:txBody>
                    <a:bodyPr/>
                    <a:lstStyle/>
                    <a:p>
                      <a:pPr lvl="0" indent="0" marL="0">
                        <a:buNone/>
                      </a:pPr>
                      <a:r>
                        <a:rPr/>
                        <a:t>7</a:t>
                      </a:r>
                    </a:p>
                  </a:txBody>
                </a:tc>
              </a:tr>
              <a:tr h="0">
                <a:tc>
                  <a:txBody>
                    <a:bodyPr/>
                    <a:lstStyle/>
                    <a:p>
                      <a:pPr lvl="0" indent="0" marL="0">
                        <a:buNone/>
                      </a:pPr>
                      <a:r>
                        <a:rPr/>
                        <a:t>salbutamol</a:t>
                      </a:r>
                    </a:p>
                  </a:txBody>
                </a:tc>
                <a:tc>
                  <a:txBody>
                    <a:bodyPr/>
                    <a:lstStyle/>
                    <a:p>
                      <a:pPr lvl="0" indent="0" marL="0">
                        <a:buNone/>
                      </a:pPr>
                      <a:r>
                        <a:rPr/>
                        <a:t>sal/for</a:t>
                      </a:r>
                    </a:p>
                  </a:txBody>
                </a:tc>
                <a:tc>
                  <a:txBody>
                    <a:bodyPr/>
                    <a:lstStyle/>
                    <a:p>
                      <a:pPr lvl="0" indent="0" marL="0">
                        <a:buNone/>
                      </a:pPr>
                      <a:r>
                        <a:rPr/>
                        <a:t>1</a:t>
                      </a:r>
                    </a:p>
                  </a:txBody>
                </a:tc>
                <a:tc>
                  <a:txBody>
                    <a:bodyPr/>
                    <a:lstStyle/>
                    <a:p>
                      <a:pPr lvl="0" indent="0" marL="0">
                        <a:buNone/>
                      </a:pPr>
                      <a:r>
                        <a:rPr/>
                        <a:t>6</a:t>
                      </a:r>
                    </a:p>
                  </a:txBody>
                </a:tc>
              </a:tr>
            </a:tbl>
          </a:graphicData>
        </a:graphic>
      </p:graphicFrame>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Means, 1</a:t>
            </a:r>
          </a:p>
        </p:txBody>
      </p:sp>
      <p:sp>
        <p:nvSpPr>
          <p:cNvPr id="3" name="Content Placeholder 2"/>
          <p:cNvSpPr>
            <a:spLocks noGrp="1"/>
          </p:cNvSpPr>
          <p:nvPr>
            <p:ph idx="1"/>
          </p:nvPr>
        </p:nvSpPr>
        <p:spPr/>
        <p:txBody>
          <a:bodyPr/>
          <a:lstStyle/>
          <a:p>
            <a:pPr lvl="0" indent="0">
              <a:buNone/>
            </a:pPr>
            <a:r>
              <a:rPr>
                <a:latin typeface="Courier"/>
              </a:rPr>
              <a:t># A tibble: 2 × 3
  order   period1_mean period2_mean
  &lt;chr&gt;          &lt;dbl&gt;        &lt;dbl&gt;
1 for/sal         337.         306.
2 sal/for         283.         346.</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Interaction, 1</a:t>
            </a:r>
          </a:p>
        </p:txBody>
      </p:sp>
      <p:pic>
        <p:nvPicPr>
          <p:cNvPr descr="cross-over-slides-and-speaker-notes_files/figure-pptx/unnamed-chunk-4-1.png" id="0" name="Picture 1"/>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Means, 2</a:t>
            </a:r>
          </a:p>
        </p:txBody>
      </p:sp>
      <p:sp>
        <p:nvSpPr>
          <p:cNvPr id="3" name="Content Placeholder 2"/>
          <p:cNvSpPr>
            <a:spLocks noGrp="1"/>
          </p:cNvSpPr>
          <p:nvPr>
            <p:ph idx="1"/>
          </p:nvPr>
        </p:nvSpPr>
        <p:spPr/>
        <p:txBody>
          <a:bodyPr/>
          <a:lstStyle/>
          <a:p>
            <a:pPr lvl="0" indent="0">
              <a:buNone/>
            </a:pPr>
            <a:r>
              <a:rPr>
                <a:latin typeface="Courier"/>
              </a:rPr>
              <a:t># A tibble: 2 × 3
  order   formoterol_mean salbutamol_mean
  &lt;chr&gt;             &lt;dbl&gt;           &lt;dbl&gt;
1 for/sal            337.            306.
2 sal/for            346.            283.</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Interaction, 2</a:t>
            </a:r>
          </a:p>
        </p:txBody>
      </p:sp>
      <p:pic>
        <p:nvPicPr>
          <p:cNvPr descr="cross-over-slides-and-speaker-notes_files/figure-pptx/unnamed-chunk-5-1.png" id="0" name="Picture 1"/>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Accounting for period effects</a:t>
            </a:r>
          </a:p>
        </p:txBody>
      </p:sp>
      <p:sp>
        <p:nvSpPr>
          <p:cNvPr id="3" name="Content Placeholder 2"/>
          <p:cNvSpPr>
            <a:spLocks noGrp="1"/>
          </p:cNvSpPr>
          <p:nvPr>
            <p:ph idx="1"/>
          </p:nvPr>
        </p:nvSpPr>
        <p:spPr/>
        <p:txBody>
          <a:bodyPr/>
          <a:lstStyle/>
          <a:p>
            <a:pPr lvl="0" indent="0">
              <a:buNone/>
            </a:pPr>
            <a:r>
              <a:rPr>
                <a:latin typeface="Courier"/>
              </a:rPr>
              <a:t>Analysis of Variance Table
Response: pef
          Df Sum Sq Mean Sq F value    Pr(&gt;F)    
order      1    335   335.2  0.4467  0.517697    
id        11 114878 10443.5 13.9171 6.495e-05 ***
period     1    985   984.6  1.3121  0.276323    
treatment  1  14036 14035.9 18.7044  0.001205 ** 
Residuals 11   8254   750.4                      
---
Signif. codes:  0 '***' 0.001 '**' 0.01 '*' 0.05 '.' 0.1 ' ' 1</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#3</a:t>
            </a:r>
          </a:p>
        </p:txBody>
      </p:sp>
      <p:sp>
        <p:nvSpPr>
          <p:cNvPr id="3" name="Content Placeholder 2"/>
          <p:cNvSpPr>
            <a:spLocks noGrp="1"/>
          </p:cNvSpPr>
          <p:nvPr>
            <p:ph idx="1"/>
          </p:nvPr>
        </p:nvSpPr>
        <p:spPr/>
        <p:txBody>
          <a:bodyPr/>
          <a:lstStyle/>
          <a:p>
            <a:pPr lvl="0"/>
            <a:r>
              <a:rPr/>
              <a:t>What you have learned</a:t>
            </a:r>
          </a:p>
          <a:p>
            <a:pPr lvl="1"/>
            <a:r>
              <a:rPr/>
              <a:t>Period effects and carry-over</a:t>
            </a:r>
          </a:p>
          <a:p>
            <a:pPr lvl="0"/>
            <a:r>
              <a:rPr/>
              <a:t>What’s coming next</a:t>
            </a:r>
          </a:p>
          <a:p>
            <a:pPr lvl="1"/>
            <a:r>
              <a:rPr/>
              <a:t>When should you use or not use a cross-over</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Systematic overview of parachute use</a:t>
            </a:r>
          </a:p>
        </p:txBody>
      </p:sp>
      <p:pic>
        <p:nvPicPr>
          <p:cNvPr descr="../images/smith.png" id="0" name="Picture 1"/>
          <p:cNvPicPr>
            <a:picLocks noGrp="1" noChangeAspect="1"/>
          </p:cNvPicPr>
          <p:nvPr/>
        </p:nvPicPr>
        <p:blipFill>
          <a:blip r:embed="rId3"/>
          <a:stretch>
            <a:fillRect/>
          </a:stretch>
        </p:blipFill>
        <p:spPr bwMode="auto">
          <a:xfrm>
            <a:off x="1600200" y="1193800"/>
            <a:ext cx="5956300" cy="3390900"/>
          </a:xfrm>
          <a:prstGeom prst="rect">
            <a:avLst/>
          </a:prstGeom>
          <a:noFill/>
          <a:ln w="9525">
            <a:noFill/>
            <a:headEnd/>
            <a:tailEnd/>
          </a:ln>
        </p:spPr>
      </p:pic>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When you cannot use a cross-over trial</a:t>
            </a:r>
          </a:p>
        </p:txBody>
      </p:sp>
      <p:sp>
        <p:nvSpPr>
          <p:cNvPr id="3" name="Content Placeholder 2"/>
          <p:cNvSpPr>
            <a:spLocks noGrp="1"/>
          </p:cNvSpPr>
          <p:nvPr>
            <p:ph idx="1"/>
          </p:nvPr>
        </p:nvSpPr>
        <p:spPr/>
        <p:txBody>
          <a:bodyPr/>
          <a:lstStyle/>
          <a:p>
            <a:pPr lvl="0"/>
            <a:r>
              <a:rPr/>
              <a:t>Acute conditions</a:t>
            </a:r>
          </a:p>
          <a:p>
            <a:pPr lvl="0"/>
            <a:r>
              <a:rPr/>
              <a:t>Mortality/morbidity</a:t>
            </a:r>
          </a:p>
          <a:p>
            <a:pPr lvl="0"/>
            <a:r>
              <a:rPr/>
              <a:t>Training/education</a:t>
            </a:r>
          </a:p>
          <a:p>
            <a:pPr lvl="0"/>
            <a:r>
              <a:rPr/>
              <a:t>Irreversible treatments</a:t>
            </a:r>
          </a:p>
          <a:p>
            <a:pPr lvl="0"/>
            <a:r>
              <a:rPr/>
              <a:t>Persistent effects</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When you can use a cross-over trial</a:t>
            </a:r>
          </a:p>
        </p:txBody>
      </p:sp>
      <p:sp>
        <p:nvSpPr>
          <p:cNvPr id="3" name="Content Placeholder 2"/>
          <p:cNvSpPr>
            <a:spLocks noGrp="1"/>
          </p:cNvSpPr>
          <p:nvPr>
            <p:ph idx="1"/>
          </p:nvPr>
        </p:nvSpPr>
        <p:spPr/>
        <p:txBody>
          <a:bodyPr/>
          <a:lstStyle/>
          <a:p>
            <a:pPr lvl="0"/>
            <a:r>
              <a:rPr/>
              <a:t>Chronic conditions</a:t>
            </a:r>
          </a:p>
          <a:p>
            <a:pPr lvl="0"/>
            <a:r>
              <a:rPr/>
              <a:t>Short-term benefits</a:t>
            </a:r>
          </a:p>
          <a:p>
            <a:pPr lvl="0"/>
            <a:r>
              <a:rPr/>
              <a:t>Adequate wash-out period</a:t>
            </a:r>
          </a:p>
          <a:p>
            <a:pPr lvl="1"/>
            <a:r>
              <a:rPr/>
              <a:t>Drugs with a short half-life</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Ethical concerns</a:t>
            </a:r>
          </a:p>
        </p:txBody>
      </p:sp>
      <p:sp>
        <p:nvSpPr>
          <p:cNvPr id="3" name="Content Placeholder 2"/>
          <p:cNvSpPr>
            <a:spLocks noGrp="1"/>
          </p:cNvSpPr>
          <p:nvPr>
            <p:ph idx="1"/>
          </p:nvPr>
        </p:nvSpPr>
        <p:spPr/>
        <p:txBody>
          <a:bodyPr/>
          <a:lstStyle/>
          <a:p>
            <a:pPr lvl="0"/>
            <a:r>
              <a:rPr/>
              <a:t>Can you ask a patient to endure two treatments?</a:t>
            </a:r>
          </a:p>
          <a:p>
            <a:pPr lvl="0"/>
            <a:r>
              <a:rPr/>
              <a:t>Can you leave the patient untreated during the wash-out period</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you have a carry-over effect?</a:t>
            </a:r>
          </a:p>
        </p:txBody>
      </p:sp>
      <p:sp>
        <p:nvSpPr>
          <p:cNvPr id="3" name="Content Placeholder 2"/>
          <p:cNvSpPr>
            <a:spLocks noGrp="1"/>
          </p:cNvSpPr>
          <p:nvPr>
            <p:ph idx="1"/>
          </p:nvPr>
        </p:nvSpPr>
        <p:spPr/>
        <p:txBody>
          <a:bodyPr/>
          <a:lstStyle/>
          <a:p>
            <a:pPr lvl="0"/>
            <a:r>
              <a:rPr/>
              <a:t>No easy answer</a:t>
            </a:r>
          </a:p>
          <a:p>
            <a:pPr lvl="1"/>
            <a:r>
              <a:rPr/>
              <a:t>Adjustments have poor power</a:t>
            </a:r>
          </a:p>
          <a:p>
            <a:pPr lvl="1"/>
            <a:r>
              <a:rPr/>
              <a:t>Between subject comparison</a:t>
            </a:r>
          </a:p>
          <a:p>
            <a:pPr lvl="0"/>
            <a:r>
              <a:rPr/>
              <a:t>Unclear where to make adjustments</a:t>
            </a:r>
          </a:p>
          <a:p>
            <a:pPr lvl="1"/>
            <a:r>
              <a:rPr/>
              <a:t>Two active treatments:</a:t>
            </a:r>
          </a:p>
          <a:p>
            <a:pPr lvl="2"/>
            <a:r>
              <a:rPr/>
              <a:t>Split the difference</a:t>
            </a:r>
          </a:p>
          <a:p>
            <a:pPr lvl="1"/>
            <a:r>
              <a:rPr/>
              <a:t>Active treatment versus placebo:</a:t>
            </a:r>
          </a:p>
          <a:p>
            <a:pPr lvl="2"/>
            <a:r>
              <a:rPr/>
              <a:t>Assign the carry-over to placebo</a:t>
            </a:r>
          </a:p>
          <a:p>
            <a:pPr lvl="1"/>
            <a:r>
              <a:rPr/>
              <a:t>Carry-over could an interaction instead</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Change test if carry-over is detected</a:t>
            </a:r>
          </a:p>
        </p:txBody>
      </p:sp>
      <p:sp>
        <p:nvSpPr>
          <p:cNvPr id="3" name="Content Placeholder 2"/>
          <p:cNvSpPr>
            <a:spLocks noGrp="1"/>
          </p:cNvSpPr>
          <p:nvPr>
            <p:ph idx="1"/>
          </p:nvPr>
        </p:nvSpPr>
        <p:spPr/>
        <p:txBody>
          <a:bodyPr/>
          <a:lstStyle/>
          <a:p>
            <a:pPr lvl="0"/>
            <a:r>
              <a:rPr/>
              <a:t>Test hypothesis of no carry-over</a:t>
            </a:r>
          </a:p>
          <a:p>
            <a:pPr lvl="1"/>
            <a:r>
              <a:rPr/>
              <a:t>If accept null, run the cross-over</a:t>
            </a:r>
          </a:p>
          <a:p>
            <a:pPr lvl="1"/>
            <a:r>
              <a:rPr/>
              <a:t>If reject null, look at first period only</a:t>
            </a:r>
          </a:p>
          <a:p>
            <a:pPr lvl="0"/>
            <a:r>
              <a:rPr/>
              <a:t>Not recommended</a:t>
            </a:r>
          </a:p>
          <a:p>
            <a:pPr lvl="1"/>
            <a:r>
              <a:rPr/>
              <a:t>Limited power to test carry-over</a:t>
            </a:r>
          </a:p>
          <a:p>
            <a:pPr lvl="1"/>
            <a:r>
              <a:rPr/>
              <a:t>First period analysis loses to much power/precision</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#4</a:t>
            </a:r>
          </a:p>
        </p:txBody>
      </p:sp>
      <p:sp>
        <p:nvSpPr>
          <p:cNvPr id="3" name="Content Placeholder 2"/>
          <p:cNvSpPr>
            <a:spLocks noGrp="1"/>
          </p:cNvSpPr>
          <p:nvPr>
            <p:ph idx="1"/>
          </p:nvPr>
        </p:nvSpPr>
        <p:spPr/>
        <p:txBody>
          <a:bodyPr/>
          <a:lstStyle/>
          <a:p>
            <a:pPr lvl="0"/>
            <a:r>
              <a:rPr/>
              <a:t>What you have learned</a:t>
            </a:r>
          </a:p>
          <a:p>
            <a:pPr lvl="1"/>
            <a:r>
              <a:rPr/>
              <a:t>When should you use or not use a cross-over</a:t>
            </a:r>
          </a:p>
          <a:p>
            <a:pPr lvl="0"/>
            <a:r>
              <a:rPr/>
              <a:t>What’s coming next</a:t>
            </a:r>
          </a:p>
          <a:p>
            <a:pPr lvl="1"/>
            <a:r>
              <a:rPr/>
              <a:t>Cross-over trials with a binary outcome</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of a binary outcome</a:t>
            </a:r>
          </a:p>
        </p:txBody>
      </p:sp>
      <p:pic>
        <p:nvPicPr>
          <p:cNvPr descr="../images/asthma_4.png" id="0" name="Picture 1"/>
          <p:cNvPicPr>
            <a:picLocks noGrp="1" noChangeAspect="1"/>
          </p:cNvPicPr>
          <p:nvPr/>
        </p:nvPicPr>
        <p:blipFill>
          <a:blip r:embed="rId3"/>
          <a:stretch>
            <a:fillRect/>
          </a:stretch>
        </p:blipFill>
        <p:spPr bwMode="auto">
          <a:xfrm>
            <a:off x="2349500" y="1193800"/>
            <a:ext cx="4432300" cy="3390900"/>
          </a:xfrm>
          <a:prstGeom prst="rect">
            <a:avLst/>
          </a:prstGeom>
          <a:noFill/>
          <a:ln w="9525">
            <a:noFill/>
            <a:headEnd/>
            <a:tailEnd/>
          </a:ln>
        </p:spPr>
      </p:pic>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Descriptive statistics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0" bandRow="1">
                <a:tableStyleId>{5C22544A-7EE6-4342-B048-85BDC9FD1C3A}</a:tableStyleId>
              </a:tblPr>
              <a:tblGrid>
                <a:gridCol w="2743200"/>
                <a:gridCol w="2743200"/>
                <a:gridCol w="2743200"/>
              </a:tblGrid>
              <a:tr h="0">
                <a:tc>
                  <a:txBody>
                    <a:bodyPr/>
                    <a:lstStyle/>
                    <a:p>
                      <a:endParaRPr/>
                    </a:p>
                  </a:txBody>
                </a:tc>
                <a:tc>
                  <a:txBody>
                    <a:bodyPr/>
                    <a:lstStyle/>
                    <a:p>
                      <a:pPr lvl="0" indent="0" marL="0">
                        <a:buNone/>
                      </a:pPr>
                      <a:r>
                        <a:rPr/>
                        <a:t>F-</a:t>
                      </a:r>
                    </a:p>
                  </a:txBody>
                </a:tc>
                <a:tc>
                  <a:txBody>
                    <a:bodyPr/>
                    <a:lstStyle/>
                    <a:p>
                      <a:pPr lvl="0" indent="0" marL="0">
                        <a:buNone/>
                      </a:pPr>
                      <a:r>
                        <a:rPr/>
                        <a:t>F+</a:t>
                      </a:r>
                    </a:p>
                  </a:txBody>
                </a:tc>
              </a:tr>
              <a:tr h="0">
                <a:tc>
                  <a:txBody>
                    <a:bodyPr/>
                    <a:lstStyle/>
                    <a:p>
                      <a:pPr lvl="0" indent="0" marL="0">
                        <a:buNone/>
                      </a:pPr>
                      <a:r>
                        <a:rPr/>
                        <a:t>S-</a:t>
                      </a:r>
                    </a:p>
                  </a:txBody>
                </a:tc>
                <a:tc>
                  <a:txBody>
                    <a:bodyPr/>
                    <a:lstStyle/>
                    <a:p>
                      <a:pPr lvl="0" indent="0" marL="0">
                        <a:buNone/>
                      </a:pPr>
                      <a:r>
                        <a:rPr/>
                        <a:t>2</a:t>
                      </a:r>
                    </a:p>
                  </a:txBody>
                </a:tc>
                <a:tc>
                  <a:txBody>
                    <a:bodyPr/>
                    <a:lstStyle/>
                    <a:p>
                      <a:pPr lvl="0" indent="0" marL="0">
                        <a:buNone/>
                      </a:pPr>
                      <a:r>
                        <a:rPr/>
                        <a:t>15</a:t>
                      </a:r>
                    </a:p>
                  </a:txBody>
                </a:tc>
              </a:tr>
              <a:tr h="0">
                <a:tc>
                  <a:txBody>
                    <a:bodyPr/>
                    <a:lstStyle/>
                    <a:p>
                      <a:pPr lvl="0" indent="0" marL="0">
                        <a:buNone/>
                      </a:pPr>
                      <a:r>
                        <a:rPr/>
                        <a:t>S+</a:t>
                      </a:r>
                    </a:p>
                  </a:txBody>
                </a:tc>
                <a:tc>
                  <a:txBody>
                    <a:bodyPr/>
                    <a:lstStyle/>
                    <a:p>
                      <a:pPr lvl="0" indent="0" marL="0">
                        <a:buNone/>
                      </a:pPr>
                      <a:r>
                        <a:rPr/>
                        <a:t>1</a:t>
                      </a:r>
                    </a:p>
                  </a:txBody>
                </a:tc>
                <a:tc>
                  <a:txBody>
                    <a:bodyPr/>
                    <a:lstStyle/>
                    <a:p>
                      <a:pPr lvl="0" indent="0" marL="0">
                        <a:buNone/>
                      </a:pPr>
                      <a:r>
                        <a:rPr/>
                        <a:t>6</a:t>
                      </a:r>
                    </a:p>
                  </a:txBody>
                </a:tc>
              </a:tr>
            </a:tbl>
          </a:graphicData>
        </a:graphic>
      </p:graphicFrame>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Analysis of binary cross-over data</a:t>
            </a:r>
          </a:p>
        </p:txBody>
      </p:sp>
      <p:sp>
        <p:nvSpPr>
          <p:cNvPr id="3" name="Content Placeholder 2"/>
          <p:cNvSpPr>
            <a:spLocks noGrp="1"/>
          </p:cNvSpPr>
          <p:nvPr>
            <p:ph idx="1"/>
          </p:nvPr>
        </p:nvSpPr>
        <p:spPr/>
        <p:txBody>
          <a:bodyPr/>
          <a:lstStyle/>
          <a:p>
            <a:pPr lvl="0"/>
            <a:r>
              <a:rPr/>
              <a:t>Ignoring period effects</a:t>
            </a:r>
          </a:p>
          <a:p>
            <a:pPr lvl="1"/>
            <a:r>
              <a:rPr/>
              <a:t>McNemar’s test</a:t>
            </a:r>
          </a:p>
          <a:p>
            <a:pPr lvl="0"/>
            <a:r>
              <a:rPr/>
              <a:t>Incorporating period effects</a:t>
            </a:r>
          </a:p>
          <a:p>
            <a:pPr lvl="1"/>
            <a:r>
              <a:rPr/>
              <a:t>Mainland-Gart test (hard to find)</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of McNemar’s test</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#5</a:t>
            </a:r>
          </a:p>
        </p:txBody>
      </p:sp>
      <p:sp>
        <p:nvSpPr>
          <p:cNvPr id="3" name="Content Placeholder 2"/>
          <p:cNvSpPr>
            <a:spLocks noGrp="1"/>
          </p:cNvSpPr>
          <p:nvPr>
            <p:ph idx="1"/>
          </p:nvPr>
        </p:nvSpPr>
        <p:spPr/>
        <p:txBody>
          <a:bodyPr/>
          <a:lstStyle/>
          <a:p>
            <a:pPr lvl="0"/>
            <a:r>
              <a:rPr/>
              <a:t>What you have learned</a:t>
            </a:r>
          </a:p>
          <a:p>
            <a:pPr lvl="1"/>
            <a:r>
              <a:rPr/>
              <a:t>Cross-over trials with a binary outcome</a:t>
            </a:r>
          </a:p>
          <a:p>
            <a:pPr lvl="0"/>
            <a:r>
              <a:rPr/>
              <a:t>What’s coming next</a:t>
            </a:r>
          </a:p>
          <a:p>
            <a:pPr lvl="1"/>
            <a:r>
              <a:rPr/>
              <a:t>Cross-over trials with more than two treatments</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treatment cross-over trial</a:t>
            </a:r>
          </a:p>
        </p:txBody>
      </p:sp>
      <p:sp>
        <p:nvSpPr>
          <p:cNvPr id="3" name="Content Placeholder 2"/>
          <p:cNvSpPr>
            <a:spLocks noGrp="1"/>
          </p:cNvSpPr>
          <p:nvPr>
            <p:ph idx="1"/>
          </p:nvPr>
        </p:nvSpPr>
        <p:spPr/>
        <p:txBody>
          <a:bodyPr/>
          <a:lstStyle/>
          <a:p>
            <a:pPr lvl="0"/>
            <a:r>
              <a:rPr/>
              <a:t>Show example data from page 124 of Senn</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Possible sequences</a:t>
            </a:r>
          </a:p>
        </p:txBody>
      </p:sp>
      <p:sp>
        <p:nvSpPr>
          <p:cNvPr id="3" name="Content Placeholder 2"/>
          <p:cNvSpPr>
            <a:spLocks noGrp="1"/>
          </p:cNvSpPr>
          <p:nvPr>
            <p:ph idx="1"/>
          </p:nvPr>
        </p:nvSpPr>
        <p:spPr/>
        <p:txBody>
          <a:bodyPr/>
          <a:lstStyle/>
          <a:p>
            <a:pPr lvl="0"/>
            <a:r>
              <a:rPr/>
              <a:t>Three treatments</a:t>
            </a:r>
          </a:p>
          <a:p>
            <a:pPr lvl="1"/>
            <a:r>
              <a:rPr/>
              <a:t>ABC, ACB, BAC, BCA, CAB, CBA</a:t>
            </a:r>
          </a:p>
          <a:p>
            <a:pPr lvl="0"/>
            <a:r>
              <a:rPr/>
              <a:t>Four treatments</a:t>
            </a:r>
          </a:p>
          <a:p>
            <a:pPr lvl="1"/>
            <a:r>
              <a:rPr/>
              <a:t>ABCD, ACBD, BACD, BCAD, CABD, CBAD,</a:t>
            </a:r>
          </a:p>
          <a:p>
            <a:pPr lvl="1"/>
            <a:r>
              <a:rPr/>
              <a:t>ABDC, ACDB, BADC, BCDA, CADB, CBAD,</a:t>
            </a:r>
          </a:p>
          <a:p>
            <a:pPr lvl="1"/>
            <a:r>
              <a:rPr/>
              <a:t>ADBC, ADCB, BDAC, BDCA, CDAB, CDBA,</a:t>
            </a:r>
          </a:p>
          <a:p>
            <a:pPr lvl="1"/>
            <a:r>
              <a:rPr/>
              <a:t>DABC, DACB, DBAC, DBCA, DCAB, DCBA</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Latin square design to reduce the number of sequences</a:t>
            </a:r>
          </a:p>
        </p:txBody>
      </p:sp>
      <p:sp>
        <p:nvSpPr>
          <p:cNvPr id="3" name="Content Placeholder 2"/>
          <p:cNvSpPr>
            <a:spLocks noGrp="1"/>
          </p:cNvSpPr>
          <p:nvPr>
            <p:ph idx="1"/>
          </p:nvPr>
        </p:nvSpPr>
        <p:spPr/>
        <p:txBody>
          <a:bodyPr/>
          <a:lstStyle/>
          <a:p>
            <a:pPr lvl="0"/>
            <a:r>
              <a:rPr/>
              <a:t>Three treatments</a:t>
            </a:r>
          </a:p>
          <a:p>
            <a:pPr lvl="1"/>
            <a:r>
              <a:rPr/>
              <a:t>Sequence 1: A B C</a:t>
            </a:r>
          </a:p>
          <a:p>
            <a:pPr lvl="1"/>
            <a:r>
              <a:rPr/>
              <a:t>Sequence 2: B C A</a:t>
            </a:r>
          </a:p>
          <a:p>
            <a:pPr lvl="1"/>
            <a:r>
              <a:rPr/>
              <a:t>Sequence 3: C A B</a:t>
            </a:r>
          </a:p>
          <a:p>
            <a:pPr lvl="0"/>
            <a:r>
              <a:rPr/>
              <a:t>Four treatments</a:t>
            </a:r>
          </a:p>
          <a:p>
            <a:pPr lvl="1"/>
            <a:r>
              <a:rPr/>
              <a:t>Sequence 1: A B C D</a:t>
            </a:r>
          </a:p>
          <a:p>
            <a:pPr lvl="1"/>
            <a:r>
              <a:rPr/>
              <a:t>Sequence 2: B C D A</a:t>
            </a:r>
          </a:p>
          <a:p>
            <a:pPr lvl="1"/>
            <a:r>
              <a:rPr/>
              <a:t>Sequence 3: C D A B</a:t>
            </a:r>
          </a:p>
          <a:p>
            <a:pPr lvl="1"/>
            <a:r>
              <a:rPr/>
              <a:t>Sequence 4: D A B C</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Cross-over trials</dc:title>
  <dc:creator>Steve Simon</dc:creator>
  <cp:keywords/>
  <dcterms:created xsi:type="dcterms:W3CDTF">2025-11-24T17:55:19Z</dcterms:created>
  <dcterms:modified xsi:type="dcterms:W3CDTF">2025-11-24T17:55:19Z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ditor">
    <vt:lpwstr>source</vt:lpwstr>
  </property>
  <property fmtid="{D5CDD505-2E9C-101B-9397-08002B2CF9AE}" pid="6" name="execute">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params">
    <vt:lpwstr/>
  </property>
  <property fmtid="{D5CDD505-2E9C-101B-9397-08002B2CF9AE}" pid="12" name="toc-title">
    <vt:lpwstr>Table of contents</vt:lpwstr>
  </property>
</Properties>
</file>