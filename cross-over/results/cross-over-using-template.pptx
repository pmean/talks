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handoutMasterIdLst>
    <p:handoutMasterId r:id="rId68"/>
  </p:handoutMasterIdLst>
  <p:sldIdLst>
    <p:sldId id="259" r:id="rId2"/>
    <p:sldId id="290" r:id="rId3"/>
    <p:sldId id="291" r:id="rId4"/>
    <p:sldId id="258" r:id="rId5"/>
    <p:sldId id="292" r:id="rId6"/>
    <p:sldId id="293"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94" r:id="rId30"/>
    <p:sldId id="284" r:id="rId31"/>
    <p:sldId id="295" r:id="rId32"/>
    <p:sldId id="296" r:id="rId33"/>
    <p:sldId id="287" r:id="rId34"/>
    <p:sldId id="288"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61A1"/>
    <a:srgbClr val="E874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86" autoAdjust="0"/>
  </p:normalViewPr>
  <p:slideViewPr>
    <p:cSldViewPr>
      <p:cViewPr>
        <p:scale>
          <a:sx n="103" d="100"/>
          <a:sy n="103" d="100"/>
        </p:scale>
        <p:origin x="874" y="302"/>
      </p:cViewPr>
      <p:guideLst>
        <p:guide orient="horz" pos="1620"/>
        <p:guide pos="2880"/>
      </p:guideLst>
    </p:cSldViewPr>
  </p:slideViewPr>
  <p:notesTextViewPr>
    <p:cViewPr>
      <p:scale>
        <a:sx n="1" d="1"/>
        <a:sy n="1" d="1"/>
      </p:scale>
      <p:origin x="0" y="0"/>
    </p:cViewPr>
  </p:notesTextViewPr>
  <p:notesViewPr>
    <p:cSldViewPr>
      <p:cViewPr varScale="1">
        <p:scale>
          <a:sx n="114" d="100"/>
          <a:sy n="114" d="100"/>
        </p:scale>
        <p:origin x="-2406" y="-102"/>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5181600" y="0"/>
            <a:ext cx="3962400" cy="342900"/>
          </a:xfrm>
          <a:prstGeom prst="rect">
            <a:avLst/>
          </a:prstGeom>
        </p:spPr>
        <p:txBody>
          <a:bodyPr vert="horz" lIns="91440" tIns="45720" rIns="91440" bIns="45720" rtlCol="0" anchor="ctr"/>
          <a:lstStyle>
            <a:lvl1pPr algn="r">
              <a:defRPr sz="1200"/>
            </a:lvl1pPr>
          </a:lstStyle>
          <a:p>
            <a:fld id="{5433E47C-241B-4E11-AB19-57B40CAC15ED}" type="datetimeFigureOut">
              <a:rPr lang="en-US" smtClean="0"/>
              <a:pPr/>
              <a:t>12/2/2025</a:t>
            </a:fld>
            <a:endParaRPr lang="en-US" dirty="0"/>
          </a:p>
        </p:txBody>
      </p:sp>
      <p:sp>
        <p:nvSpPr>
          <p:cNvPr id="4" name="Footer Placeholder 3"/>
          <p:cNvSpPr>
            <a:spLocks noGrp="1"/>
          </p:cNvSpPr>
          <p:nvPr>
            <p:ph type="ftr" sz="quarter" idx="2"/>
          </p:nvPr>
        </p:nvSpPr>
        <p:spPr>
          <a:xfrm>
            <a:off x="2082800" y="6438900"/>
            <a:ext cx="4978400" cy="342900"/>
          </a:xfrm>
          <a:prstGeom prst="rect">
            <a:avLst/>
          </a:prstGeom>
        </p:spPr>
        <p:txBody>
          <a:bodyPr vert="horz" lIns="91440" tIns="45720" rIns="91440" bIns="45720" rtlCol="0" anchor="ctr"/>
          <a:lstStyle>
            <a:lvl1pPr algn="l">
              <a:defRPr sz="1200"/>
            </a:lvl1pPr>
          </a:lstStyle>
          <a:p>
            <a:pPr algn="ctr"/>
            <a:r>
              <a:rPr lang="en-US" dirty="0"/>
              <a:t>©2018 Your Name | https://TheAnalysisFactor.com</a:t>
            </a:r>
          </a:p>
        </p:txBody>
      </p:sp>
      <p:sp>
        <p:nvSpPr>
          <p:cNvPr id="5" name="Slide Number Placeholder 4"/>
          <p:cNvSpPr>
            <a:spLocks noGrp="1"/>
          </p:cNvSpPr>
          <p:nvPr>
            <p:ph type="sldNum" sz="quarter" idx="3"/>
          </p:nvPr>
        </p:nvSpPr>
        <p:spPr>
          <a:xfrm>
            <a:off x="5179484" y="6438900"/>
            <a:ext cx="3962400" cy="342900"/>
          </a:xfrm>
          <a:prstGeom prst="rect">
            <a:avLst/>
          </a:prstGeom>
        </p:spPr>
        <p:txBody>
          <a:bodyPr vert="horz" lIns="91440" tIns="45720" rIns="91440" bIns="45720" rtlCol="0" anchor="ctr"/>
          <a:lstStyle>
            <a:lvl1pPr algn="r">
              <a:defRPr sz="1200"/>
            </a:lvl1pPr>
          </a:lstStyle>
          <a:p>
            <a:fld id="{F353F378-8247-43A4-BD9B-595771D46184}" type="slidenum">
              <a:rPr lang="en-US" smtClean="0"/>
              <a:t>‹#›</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035" y="6384294"/>
            <a:ext cx="1524000" cy="478073"/>
          </a:xfrm>
          <a:prstGeom prst="rect">
            <a:avLst/>
          </a:prstGeom>
        </p:spPr>
      </p:pic>
    </p:spTree>
    <p:extLst>
      <p:ext uri="{BB962C8B-B14F-4D97-AF65-F5344CB8AC3E}">
        <p14:creationId xmlns:p14="http://schemas.microsoft.com/office/powerpoint/2010/main" val="1821796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093418D3-0359-4F30-9163-C2194203E287}" type="datetimeFigureOut">
              <a:rPr lang="en-US" smtClean="0"/>
              <a:t>12/2/2025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08AFC2C6-1385-4E93-BAF5-89E0D30AF050}" type="slidenum">
              <a:rPr lang="en-US" smtClean="0"/>
              <a:t>‹#›</a:t>
            </a:fld>
            <a:endParaRPr lang="en-US"/>
          </a:p>
        </p:txBody>
      </p:sp>
    </p:spTree>
    <p:extLst>
      <p:ext uri="{BB962C8B-B14F-4D97-AF65-F5344CB8AC3E}">
        <p14:creationId xmlns:p14="http://schemas.microsoft.com/office/powerpoint/2010/main" val="262766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Cross-over trials provide a very powerful approach for comparing two treatment conditions. Research subjects get both treatment conditions, which we will label arbitrarily as A and B. A randomly selected half get A followed by B and the other half gets B followed by A. This is generally referred to as the AB/BA design. Because each subject serves as their own control, you remove a large amount of variation. Often a cross-over trial can produce good results, even with a few dozen patients.</a:t>
            </a:r>
          </a:p>
          <a:p>
            <a:pPr marL="0" lvl="0" indent="0">
              <a:buNone/>
            </a:pPr>
            <a:endParaRPr/>
          </a:p>
          <a:p>
            <a:pPr marL="0" lvl="0" indent="0">
              <a:buNone/>
            </a:pPr>
            <a:r>
              <a:t>Cross-over trials require that the condition being studied is chronic in nature, and that the effect of the first treatment given does not carry over into the second treatment evaluation. There are important ethical and practical concerns about designing cross-over trials.</a:t>
            </a:r>
          </a:p>
          <a:p>
            <a:pPr marL="0" lvl="0" indent="0">
              <a:buNone/>
            </a:pPr>
            <a:endParaRPr/>
          </a:p>
          <a:p>
            <a:pPr marL="0" lvl="0" indent="0">
              <a:buNone/>
            </a:pPr>
            <a:r>
              <a:t>In this talk, you will see a review of the paired t-test, followed by an analysis of the AB/BA crossover design as a paired t-test. Then you will see how to account for the order in which the treatments were given.</a:t>
            </a:r>
          </a:p>
          <a:p>
            <a:pPr marL="0" lvl="0" indent="0">
              <a:buNone/>
            </a:pPr>
            <a:endParaRPr/>
          </a:p>
          <a:p>
            <a:pPr marL="0" lvl="0" indent="0">
              <a:buNone/>
            </a:pPr>
            <a:r>
              <a:t>After discussing the classical AB/BA cross-over design, you will see how to extend the cross-over trial to a binary outcome measure and to more than two treatments.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Try these true/false questions. Put your answers in the chat box.</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 want to start with quotes from two great philosophers. You know they are great philosophers because they are known by a single name.</a:t>
            </a:r>
          </a:p>
          <a:p>
            <a:pPr marL="0" lvl="0" indent="0">
              <a:buNone/>
            </a:pPr>
            <a:endParaRPr/>
          </a:p>
          <a:p>
            <a:pPr marL="0" lvl="0" indent="0">
              <a:buNone/>
            </a:pPr>
            <a:r>
              <a:t>Heraclitus in 544 B.C. said “A man cannot step into the same river twice, because it is not the same river, and he is not same man.”</a:t>
            </a:r>
          </a:p>
          <a:p>
            <a:pPr marL="0" lvl="0" indent="0">
              <a:buNone/>
            </a:pPr>
            <a:endParaRPr/>
          </a:p>
          <a:p>
            <a:pPr marL="0" lvl="0" indent="0">
              <a:buNone/>
            </a:pPr>
            <a:r>
              <a:t>Yoda, the other great philosopher, said in 1980 A.D. “You must unlearn what you have learned.”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Before talking about cross-over trials, you might find it helpful to review how the paired t-test works. Here is some data I found on the web with measurements on married couples. The data has the wife’s age (wAge) and the husband’s age (hAge). Do you think there is a tendency for older men to marry younger women?</a:t>
            </a:r>
          </a:p>
          <a:p>
            <a:pPr marL="0" lvl="0" indent="0">
              <a:buNone/>
            </a:pPr>
            <a:endParaRPr/>
          </a:p>
          <a:p>
            <a:pPr marL="0" lvl="0" indent="0">
              <a:buNone/>
            </a:pPr>
            <a:r>
              <a:t>There is also data on the wife’s height (wHeight) and the husbands height (hHeight). We won’t analyze this but there is probably something interesting about tall and short patterns.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average woman is around 41 years old with a standard deviation a bit more than 11.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average husband is around 43 years old, just slightly older than the average wife. The standard deviation is about the same.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average age gap is about 2 years. This average is not quite the same as the difference between the two averages, because there are some married couples with one age but not the other. These are not included in the computation of the age gap, leading to a slight discrepancy.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paired t-test shows a statistically significant difference. The 95% confidence interval tells you that even after allowing for sampling error, the average husband’s age is 1.6 years larger than the average wife’s age.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You could also analyze this as a completely randomized block design. It takes a bit of restructuring because this design expects to see all the ages in a single column.</a:t>
            </a:r>
          </a:p>
          <a:p>
            <a:pPr marL="0" lvl="0" indent="0">
              <a:buNone/>
            </a:pPr>
            <a:endParaRPr/>
          </a:p>
          <a:p>
            <a:pPr marL="0" lvl="0" indent="0">
              <a:buNone/>
            </a:pPr>
            <a:r>
              <a:t>A block represents a nuisance factor that you have to account for. Blocks could represent individual patients, different clinics, separate treatment days, among other things. You control for the nuisance factors by assigning each level of a treatment to each block. Often this level of control can greatly improve the precision and power of your research study.</a:t>
            </a:r>
          </a:p>
          <a:p>
            <a:pPr marL="0" lvl="0" indent="0">
              <a:buNone/>
            </a:pPr>
            <a:endParaRPr/>
          </a:p>
          <a:p>
            <a:pPr marL="0" lvl="0" indent="0">
              <a:buNone/>
            </a:pPr>
            <a:r>
              <a:t>No one does a paired t-test this way, but if you wanted to handle more complex settings, such as risk adjustments on a paired t-test, you can do this fairly easily using simple extensions of the completely randomized block design.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Here is what the data must look like if you want to analyze it using a completely randomized block design.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You could also analyze the paired t-test using a mixed models or random coefficients approach. It would use the same long format that you use for the completely randomized block design. Specify age as the dependent variable, spouse as a fixed effect and specify a random intercept for each value of pair.</a:t>
            </a:r>
          </a:p>
          <a:p>
            <a:pPr marL="0" lvl="0" indent="0">
              <a:buNone/>
            </a:pPr>
            <a:endParaRPr/>
          </a:p>
          <a:p>
            <a:pPr marL="0" lvl="0" indent="0">
              <a:buNone/>
            </a:pPr>
            <a:r>
              <a:t>This may seem like killing a fly with cannon. True enough, but when you start looking at more complex settings, you may find this approach to be useful.</a:t>
            </a:r>
          </a:p>
          <a:p>
            <a:pPr marL="0" lvl="0" indent="0">
              <a:buNone/>
            </a:pPr>
            <a:endParaRPr/>
          </a:p>
          <a:p>
            <a:pPr marL="0" lvl="0" indent="0">
              <a:buNone/>
            </a:pPr>
            <a:r>
              <a:t>I’m not going to show any analyses using mixed models in this talk, but wanted to mention this in case you run into something later where this can help.</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This image illustrates the parallel group design and the crossover design. In the parallel groups design, you get a group of patients to volunteer to be in your study. You flip a coin. A random half of your patients get treatment A and the rest get treatment B.</a:t>
            </a:r>
          </a:p>
          <a:p>
            <a:pPr marL="0" lvl="0" indent="0">
              <a:buNone/>
            </a:pPr>
            <a:endParaRPr/>
          </a:p>
          <a:p>
            <a:pPr marL="0" lvl="0" indent="0">
              <a:buNone/>
            </a:pPr>
            <a:r>
              <a:t>In a cross-over study, you also get a group of patients. You flip a coin. A random half of the patients get treatment A followed by treatment B and the rest get treatment B followed by treatment A.</a:t>
            </a:r>
          </a:p>
          <a:p>
            <a:pPr marL="0" lvl="0" indent="0">
              <a:buNone/>
            </a:pPr>
            <a:endParaRPr/>
          </a:p>
          <a:p>
            <a:pPr marL="0" lvl="0" indent="0">
              <a:buNone/>
            </a:pPr>
            <a:r>
              <a:t>I should warn you that I might slip and use the term “drug” instead of “treatment” at times during this talk. The vast majority of cross-over trials are trials involving drugs, but do not forget that cross-over trials are more general than that. Many non-drug treatments (surgery is one example) cannot be studied using a cross-over trial, but other can. Don’t limit yourself to considering cross-trials for only drug interventions.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Do you have to do both orders, AB and BA? Wouldn’t it be simpler to always do A first and always do B second? Or vice versa?</a:t>
            </a:r>
          </a:p>
          <a:p>
            <a:pPr marL="0" lvl="0" indent="0">
              <a:buNone/>
            </a:pPr>
            <a:endParaRPr/>
          </a:p>
          <a:p>
            <a:pPr marL="0" lvl="0" indent="0">
              <a:buNone/>
            </a:pPr>
            <a:r>
              <a:t>It is possible to do this. The analysis would be valid under some assumptions. The problem with using just AB or just BA is that is leaves some important questions unanswered. Remember the quote about stepping into the same river twice? If you do AB, you are always stepping into one river with A and stepping into a different river with B. Switching the order and randomly allocating which patients get which order insures that both A and B are tested in the first river and both A and B are tested in the second river.</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Randomization is commonly done with treatment order. But you can simply insure balanced allocation by alternating AB and BA treatments. There are advantages to this. Perfect balance removes the problems with unbalanced data. Randomization will almost always lead to unblanced data. Not a large imbalance, but still a potential complication.</a:t>
            </a:r>
          </a:p>
          <a:p>
            <a:pPr marL="0" lvl="0" indent="0">
              <a:buNone/>
            </a:pPr>
            <a:endParaRPr/>
          </a:p>
          <a:p>
            <a:pPr marL="0" lvl="0" indent="0">
              <a:buNone/>
            </a:pPr>
            <a:r>
              <a:t>Alternating AB and BA creates a predictable sequence and sometimes this can destroy blinding (if blinding is used) or lead to subversion of the study. Sometimes the systematic alternation can create statistical artefacts.</a:t>
            </a:r>
          </a:p>
          <a:p>
            <a:pPr marL="0" lvl="0" indent="0">
              <a:buNone/>
            </a:pPr>
            <a:endParaRPr/>
          </a:p>
          <a:p>
            <a:pPr marL="0" lvl="0" indent="0">
              <a:buNone/>
            </a:pPr>
            <a:r>
              <a:t>In many studies the disadvantages of alternating assignments are small enough that you can ignore them.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Here is how the data might be laid out for a cross-over trial. This is for an actual clinical trial. Seven patients got formoterol followed by salbutamol. These are indicated by for/sal. Six salbutamol followed by formoterol. These are indicated by sal/for.</a:t>
            </a:r>
          </a:p>
          <a:p>
            <a:pPr marL="0" lvl="0" indent="0">
              <a:buNone/>
            </a:pPr>
            <a:endParaRPr/>
          </a:p>
          <a:p>
            <a:pPr marL="0" lvl="0" indent="0">
              <a:buNone/>
            </a:pPr>
            <a:r>
              <a:t>Both drugs are intended to treat asthma. The outcome in this study is PEF, Peak Expiratory Flow. A large value means a better outcome.</a:t>
            </a:r>
          </a:p>
          <a:p>
            <a:pPr marL="0" lvl="0" indent="0">
              <a:buNone/>
            </a:pPr>
            <a:endParaRPr/>
          </a:p>
          <a:p>
            <a:pPr marL="0" lvl="0" indent="0">
              <a:buNone/>
            </a:pPr>
            <a:r>
              <a:t>Period1 is the measurement taken at the first time point and period2 is the measurement taken at the second time point.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You might see the data laid out differently. In this layout, the column formoterol indicates the PEF measurement when the patient received formoterol. The column salbutamol indicates the PEF measurement when the patient received salbutamol.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simple descriptive statistics that you get with an AB/BA cross-over design will depend on how your data is laid out. With the first layout, you get descriptive statistics on period1 …</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 and period2. Notice that the period2 values are slightly higher on average. Not by much, but you should probably consider how to account for this in the analysis of your cross-over design.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Since the data is in a wide format with the period1 and period2 values side by side, you can easily compute the period gap. Notice that the standard deviation for the period gap is only slightly smaller than the standard deviations for period1 and period2. This is because a large effect due to the different drugs being administered has not yet been accounted for.</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In the second layout, where the two variables are labeled by the drug names, you can get an average outcome for formoterol …</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 and salbutamol. Notice that the salbutamol average is lot lower, implying that formoterol is the better drug on average.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Because the two drugs are listed side by side in the wide format, you can compute the average gap between the two drugs.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Just like with the couples data, you can run a paired t-test on this. It ignores the order in which the treatments were given, but this may not be such a terrible thing. It depends a lot on the context of the problem. You’ll see some reasons for running a more complex model in just a little bit.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If you arrange the data in the long format, with all of the PEF values in a single column, then you can also analyze this data as a completely randomized block design. The patient ids are the blocks in this design.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Using a paired t-test to analyze the AB/BA cross-over design is a good approach. It may or may not pass muster with whoever is reviewing your work.</a:t>
            </a:r>
          </a:p>
          <a:p>
            <a:pPr marL="0" lvl="0" indent="0">
              <a:buNone/>
            </a:pPr>
            <a:endParaRPr/>
          </a:p>
          <a:p>
            <a:pPr marL="0" lvl="0" indent="0">
              <a:buNone/>
            </a:pPr>
            <a:r>
              <a:t>You may, however, elect to adjust your model for period effects. There are several reasons for this.</a:t>
            </a:r>
          </a:p>
          <a:p>
            <a:pPr marL="0" lvl="0" indent="0">
              <a:buNone/>
            </a:pPr>
            <a:endParaRPr/>
          </a:p>
          <a:p>
            <a:pPr marL="0" lvl="0" indent="0">
              <a:buNone/>
            </a:pPr>
            <a:r>
              <a:t>First, removing variation associated with the period effect will improve power and precision.</a:t>
            </a:r>
          </a:p>
          <a:p>
            <a:pPr marL="0" lvl="0" indent="0">
              <a:buNone/>
            </a:pPr>
            <a:endParaRPr/>
          </a:p>
          <a:p>
            <a:pPr marL="0" lvl="0" indent="0">
              <a:buNone/>
            </a:pPr>
            <a:r>
              <a:t>If there are imbalances in period (one treatment getting first period more often and the other getting second period more often), then adjusting for period will remove a potential source of bias.</a:t>
            </a:r>
          </a:p>
          <a:p>
            <a:pPr marL="0" lvl="0" indent="0">
              <a:buNone/>
            </a:pPr>
            <a:endParaRPr/>
          </a:p>
          <a:p>
            <a:pPr marL="0" lvl="0" indent="0">
              <a:buNone/>
            </a:pPr>
            <a:r>
              <a:t>Adjusting for period requires you to use the long format, where all the outcomes are stored in a single column. T he layout, which you will see in a minute, is a bit tricky.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Period effects are an acknowledgement of the Heraclitus quote “No man can step into the same river twice.”</a:t>
            </a:r>
          </a:p>
          <a:p>
            <a:pPr marL="0" lvl="0" indent="0">
              <a:buNone/>
            </a:pPr>
            <a:endParaRPr/>
          </a:p>
          <a:p>
            <a:pPr marL="0" lvl="0" indent="0">
              <a:buNone/>
            </a:pPr>
            <a:r>
              <a:t>There are several possible explanations for a period effect. There may be a time trend. There are many possible causes for a trend over time.</a:t>
            </a:r>
          </a:p>
          <a:p>
            <a:pPr marL="0" lvl="0" indent="0">
              <a:buNone/>
            </a:pPr>
            <a:endParaRPr/>
          </a:p>
          <a:p>
            <a:pPr marL="0" lvl="0" indent="0">
              <a:buNone/>
            </a:pPr>
            <a:r>
              <a:t>There may be a learning effect. A patient may develop better self-care habits over time. They may comply more closely with the treatment requirements over time. Practice makes perfect. In an extreme case, the outcome in the second period could always be better than the outcome in the first period, no matter what the treatment. This harkens back to the Yoda quote “You must unlearn what you have learned”.</a:t>
            </a:r>
          </a:p>
          <a:p>
            <a:pPr marL="0" lvl="0" indent="0">
              <a:buNone/>
            </a:pPr>
            <a:endParaRPr/>
          </a:p>
          <a:p>
            <a:pPr marL="0" lvl="0" indent="0">
              <a:buNone/>
            </a:pPr>
            <a:r>
              <a:t>There may be a fatigue effect. Patients may start out with an enthusiasm that has them complying with all the treatment requirements. That enthusiasm, though, could fade over time. So the outcome in the second period could be worse that the outcome in the first period, no matter what.</a:t>
            </a:r>
          </a:p>
          <a:p>
            <a:pPr marL="0" lvl="0" indent="0">
              <a:buNone/>
            </a:pPr>
            <a:endParaRPr/>
          </a:p>
          <a:p>
            <a:pPr marL="0" lvl="0" indent="0">
              <a:buNone/>
            </a:pPr>
            <a:r>
              <a:t>Some diseases are degenerative (Alzheimer’s is an example). They inevitably get worse over time, and even the best treatments are only good at slowing the progression.</a:t>
            </a:r>
          </a:p>
          <a:p>
            <a:pPr marL="0" lvl="0" indent="0">
              <a:buNone/>
            </a:pPr>
            <a:endParaRPr/>
          </a:p>
          <a:p>
            <a:pPr marL="0" lvl="0" indent="0">
              <a:buNone/>
            </a:pPr>
            <a:r>
              <a:t>Some diseases are acute (or short-term). There’s a joke going around about the common cold. If you treat it aggressively, it will be gone in only seven days. If you don’t it will last an entire week. It doesn’t have to be this extreme, but any medical condition where the condition tends to ease up over time could produce a temporal effect.</a:t>
            </a:r>
          </a:p>
          <a:p>
            <a:pPr marL="0" lvl="0" indent="0">
              <a:buNone/>
            </a:pPr>
            <a:endParaRPr/>
          </a:p>
          <a:p>
            <a:pPr marL="0" lvl="0" indent="0">
              <a:buNone/>
            </a:pPr>
            <a:r>
              <a:t>As you can see, context is all important. Temporal effects could cause a change in either direction, depending on the medical condition and the treatments being used.</a:t>
            </a:r>
          </a:p>
          <a:p>
            <a:pPr marL="0" lvl="0" indent="0">
              <a:buNone/>
            </a:pPr>
            <a:endParaRPr/>
          </a:p>
          <a:p>
            <a:pPr marL="0" lvl="0" indent="0">
              <a:buNone/>
            </a:pPr>
            <a:r>
              <a:t>There may be seasonal effects. If all of the first period treatments are in the dead of winter and the second period treatments are in the early spring, maybe the outcome changes from winter to spring. It could be that outcomes are worse in the cold dry winters, or maybe they are worse in the pollen laden spring.</a:t>
            </a:r>
          </a:p>
          <a:p>
            <a:pPr marL="0" lvl="0" indent="0">
              <a:buNone/>
            </a:pPr>
            <a:endParaRPr/>
          </a:p>
          <a:p>
            <a:pPr marL="0" lvl="0" indent="0">
              <a:buNone/>
            </a:pPr>
            <a:r>
              <a:t>Researchers need to worry more about temporal effects and not just in cross-over trials.</a:t>
            </a:r>
          </a:p>
          <a:p>
            <a:pPr marL="0" lvl="0" indent="0">
              <a:buNone/>
            </a:pPr>
            <a:endParaRPr/>
          </a:p>
          <a:p>
            <a:pPr marL="0" lvl="0" indent="0">
              <a:buNone/>
            </a:pPr>
            <a:r>
              <a:t>The one thing that everyone worries about is the carry-over effect. Let’s define this carefully to distinguish from any of the temporal effects discussed earlier.</a:t>
            </a:r>
          </a:p>
          <a:p>
            <a:pPr marL="0" lvl="0" indent="0">
              <a:buNone/>
            </a:pPr>
            <a:endParaRPr/>
          </a:p>
          <a:p>
            <a:pPr marL="0" lvl="0" indent="0">
              <a:buNone/>
            </a:pPr>
            <a:r>
              <a:t>A carry-over effect is a persistence of a treatment across time.</a:t>
            </a:r>
          </a:p>
          <a:p>
            <a:pPr marL="0" lvl="0" indent="0">
              <a:buNone/>
            </a:pPr>
            <a:endParaRPr/>
          </a:p>
          <a:p>
            <a:pPr marL="0" lvl="0" indent="0">
              <a:buNone/>
            </a:pPr>
            <a:r>
              <a:t>It could be caused by a residual amount of the first drug remaining in your body at the time that the second drug is administered. You can also have a residual effect for non-drug treatments. If the first intervention involves an exercise program, your patients might enjoy those 30 minute walks in the exercise intervention so much that they keep doing it when the second, non-exercise intervention begins. Maybe less frequently, but still it’s a good habit that is hard to break away from completely.</a:t>
            </a:r>
          </a:p>
          <a:p>
            <a:pPr marL="0" lvl="0" indent="0">
              <a:buNone/>
            </a:pPr>
            <a:endParaRPr/>
          </a:p>
          <a:p>
            <a:pPr marL="0" lvl="0" indent="0">
              <a:buNone/>
            </a:pPr>
            <a:r>
              <a:t>It could also be a residual curative effect of the first treatment that adds to the impact on the outcome when the second treatment is started. The benefits of an intervention can sometimes disappear all at once the intervention is over, but sometimes the benefits just fade slowly over time.</a:t>
            </a:r>
          </a:p>
          <a:p>
            <a:pPr marL="0" lvl="0" indent="0">
              <a:buNone/>
            </a:pPr>
            <a:endParaRPr/>
          </a:p>
          <a:p>
            <a:pPr marL="0" lvl="0" indent="0">
              <a:buNone/>
            </a:pPr>
            <a:r>
              <a:t>A big problem is that you often cannot tell, just by looking at the data, whether a period effect is temporal or due to a carry-over. You need to evaluate this qualitatively by looking at what you know about things like the mechanism of action for each treatment.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layout puts all of the outcome data in a single column. It also has to track which patient (the id variable), which drug (the treatment variable), which sequence (the order variable), and whether the treatment in question was administered first or second (the period variable).</a:t>
            </a:r>
          </a:p>
          <a:p>
            <a:pPr marL="0" lvl="0" indent="0">
              <a:buNone/>
            </a:pPr>
            <a:endParaRPr/>
          </a:p>
          <a:p>
            <a:pPr marL="0" lvl="0" indent="0">
              <a:buNone/>
            </a:pPr>
            <a:r>
              <a:t>Notice that there is a redundancy here. If you know which treatment and which order, you can figure out what the period is. That’s okay. You still need all of these variables to fit the model properly.</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Just a reminder that there is a slight imbalance in treatment order, seven for/sal and only six sal/for.</a:t>
            </a:r>
          </a:p>
          <a:p>
            <a:pPr marL="0" lvl="0" indent="0">
              <a:buNone/>
            </a:pPr>
            <a:endParaRPr/>
          </a:p>
          <a:p>
            <a:pPr marL="0" lvl="0" indent="0">
              <a:buNone/>
            </a:pPr>
            <a:r>
              <a:t>Notice also that the three binary categories (treatment, order, and period) would normally produce eight combinations if you crossed all of them together. But certain combinations are not possible, such as treatment=formoterol, order=for/sal, and period=2. This means that you can’t estimate certain interactions. In particular, the treatment by period interaction is confounded with the main effect of order.</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Here are the means for each period stratified by order. Notice that the period1 mean is highest for the for/sal order and the period2 mean is highest for the sal/for order.</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This is a plot of the four means. The line sloping upward shows the results when salbutamol is given first. A positive slope shows that the patient improves when switching from salbutamol to formoterol.</a:t>
            </a:r>
          </a:p>
          <a:p>
            <a:pPr marL="0" lvl="0" indent="0">
              <a:buNone/>
            </a:pPr>
            <a:endParaRPr/>
          </a:p>
          <a:p>
            <a:pPr marL="0" lvl="0" indent="0">
              <a:buNone/>
            </a:pPr>
            <a:r>
              <a:t>The line sloping downward shows the results when formoterol is given first. A negative slope shows that the patient does worse when switching from formoterol to salbutamol.</a:t>
            </a:r>
          </a:p>
          <a:p>
            <a:pPr marL="0" lvl="0" indent="0">
              <a:buNone/>
            </a:pPr>
            <a:endParaRPr/>
          </a:p>
          <a:p>
            <a:pPr marL="0" lvl="0" indent="0">
              <a:buNone/>
            </a:pPr>
            <a:r>
              <a:t>Notice also that the period1 formoterol value (the f in the upper left) is not quite as good as the period2 formoterol value (the f in the upper right). Similarly, the period1 salbutamol value (the s in the lower left) is not quite as good as the period2 salbutamol value (the s in the lower right).</a:t>
            </a:r>
          </a:p>
          <a:p>
            <a:pPr marL="0" lvl="0" indent="0">
              <a:buNone/>
            </a:pPr>
            <a:endParaRPr/>
          </a:p>
          <a:p>
            <a:pPr marL="0" lvl="0" indent="0">
              <a:buNone/>
            </a:pPr>
            <a:r>
              <a:t>Two conclusions are obvious from this graph. First, you always are better off with formoterol. Second, no matter which drug you take, you see better results in period2 than in period1.</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If there were no period effect then the positive slope for the for/sal order would match the negative slope for the sal/for order. The mean effect for either drug would be the same in period1 and period2.</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If you use the second layout, where the first column is the formoterol outcomes and the second column is the salbutamol outcomes, the summary statistics are not quite the same, but they do tell a similar story. The formoterol means are better (higher) than the salbutamol means. The formoterol mean in the for/sal order is not quite as good as the formoterol mean in the sal/for order. The salbutamol mean in the for/sal order is better than the salbutamol mean in the sal/for order. So testing in the second period is slightly better than testing in the first period, no matter which drug.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 like this graph better than the earlier one. You see a clear gap between formoterol and salbutamol. The gap is a bit wider for the sal/for order. This makes sense. In the sal/for order, salbutamol is at its worst because it is period1. Formoterol is at its best because it is period2.</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If there were no effect due to period, both lines would be flat.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 model that properly accounts for period effects has to include a factor for order, id, period, and treatment.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A few details on this model are needed. First, id is a nested within order. The way that id was coded in this dataset, you did not have to worry about it. If ids were code 1 through 7 in the patients in the for/sal arm and coded 1 through 6 in the sal/for arm, then you have to designate id as a nested factor.</a:t>
            </a:r>
          </a:p>
          <a:p>
            <a:pPr marL="0" lvl="0" indent="0">
              <a:buNone/>
            </a:pPr>
            <a:endParaRPr/>
          </a:p>
          <a:p>
            <a:pPr marL="0" lvl="0" indent="0">
              <a:buNone/>
            </a:pPr>
            <a:r>
              <a:t>The id factor is also a random effect. That means that the test of order should use MS(order) divided by MS(id). The test of order is a between subjects comparison.</a:t>
            </a:r>
          </a:p>
          <a:p>
            <a:pPr marL="0" lvl="0" indent="0">
              <a:buNone/>
            </a:pPr>
            <a:endParaRPr/>
          </a:p>
          <a:p>
            <a:pPr marL="0" lvl="0" indent="0">
              <a:buNone/>
            </a:pPr>
            <a:r>
              <a:t>Finally, this data is unbalanced. There are 7 subjects in the for/sal arm and 6 in the sal/for arm. With unbalanced data, even a very minor imbalance, you should use partial or type 3 sums of squares. I deliberately put treatment as the last term in the model to insure that the effect of treatment is adjusted for every other factor.</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From the abstract: “As with many interventions intended to prevent ill health, the effectiveness of parachutes has not been subjected to rigorous evaluation by using randomised controlled trials. Advocates of evidence based medicine have criticised the adoption of interventions evaluated by using only observational data. We think that everyone might benefit if the most radical protagonists of evidence based medicine organised and participated in a double blind, randomised, placebo controlled, crossover trial of the parachute.”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These may be obvious, but it is worth stating them anyway. You can’t do a cross-over trial for an acute condition because everything will be over before you can rerun the second treatment.</a:t>
            </a:r>
          </a:p>
          <a:p>
            <a:pPr marL="0" lvl="0" indent="0">
              <a:buNone/>
            </a:pPr>
            <a:endParaRPr/>
          </a:p>
          <a:p>
            <a:pPr marL="0" lvl="0" indent="0">
              <a:buNone/>
            </a:pPr>
            <a:r>
              <a:t>You can’t do a cross-over trial for mortality because of the acronym YOLO. So don’t try to do a cross-over trial where you measure the outcome of using or not using a parachute on death. Well, of course, but the same applies for many other measures that are irreversible. Suppose the outcome you are trying to prevent is amputation of a limb. If that unfortunate event occurs during the first treatment, you can’t cross-over to the other treatment.</a:t>
            </a:r>
          </a:p>
          <a:p>
            <a:pPr marL="0" lvl="0" indent="0">
              <a:buNone/>
            </a:pPr>
            <a:endParaRPr/>
          </a:p>
          <a:p>
            <a:pPr marL="0" lvl="0" indent="0">
              <a:buNone/>
            </a:pPr>
            <a:r>
              <a:t>You can’t use a cross-over trial with a treatment that involves training or education. You would almost certainly have a carry-over effect unless you could figure out some way to “unlearn what you have learned.”</a:t>
            </a:r>
          </a:p>
          <a:p>
            <a:pPr marL="0" lvl="0" indent="0">
              <a:buNone/>
            </a:pPr>
            <a:endParaRPr/>
          </a:p>
          <a:p>
            <a:pPr marL="0" lvl="0" indent="0">
              <a:buNone/>
            </a:pPr>
            <a:r>
              <a:t>If one or both of the treatments are irreversible, you can’t run a cross-over trial. Surgery, for example, is irreversible. There are a series of surgeries that all end in “ectomy”. There’s appendectomy, hysterectomy, spleenectomy, and my least favorite, orchiectomy. If one treatment arm is an orchiectomy, you can’t cross-over to a time when you try to patch things back up.</a:t>
            </a:r>
          </a:p>
          <a:p>
            <a:pPr marL="0" lvl="0" indent="0">
              <a:buNone/>
            </a:pPr>
            <a:endParaRPr/>
          </a:p>
          <a:p>
            <a:pPr marL="0" lvl="0" indent="0">
              <a:buNone/>
            </a:pPr>
            <a:r>
              <a:t>Finally, if the outcome being sought is persistent, you are out of luck. If you want to test two treatments for acne, if the first one works well, there won’t be any acne for the second treatment to work on.</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Looking at all the things that you can’t use a cross-over trial for makes it much clear when you can use a cross-over trial. It has to be for a chronic condition and it has to measure benefits that are short-term and reversible.</a:t>
            </a:r>
          </a:p>
          <a:p>
            <a:pPr marL="0" lvl="0" indent="0">
              <a:buNone/>
            </a:pPr>
            <a:endParaRPr/>
          </a:p>
          <a:p>
            <a:pPr marL="0" lvl="0" indent="0">
              <a:buNone/>
            </a:pPr>
            <a:r>
              <a:t>When you are testing drugs, you need to make sure you have an adequate wash-out period. This means that you can only study drugs that have a short half life. The recommendation for most cross-over trials is that the wash-out period be equal to five half lives. Note that 1/2 raisded to the 5th power is 1/32 or 0.03126. Also the washout period should be significantly longer than the amount of time under evaluation for either arm. Don’t treat someone for a full month and then only have a two day washout period before starting a month on the other treatment.</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There are limits to what we can ask patients to endure. I’ve had a few colonoscopies. They are no fun, but I endure them, once every three years. But I’m not going to sign up for a cross-over trial of two different colonoscopy devices. If they ask me to return in a week to test the second piece of equipment, that’s where I draw the line.</a:t>
            </a:r>
          </a:p>
          <a:p>
            <a:pPr marL="0" lvl="0" indent="0">
              <a:buNone/>
            </a:pPr>
            <a:endParaRPr/>
          </a:p>
          <a:p>
            <a:pPr marL="0" lvl="0" indent="0">
              <a:buNone/>
            </a:pPr>
            <a:r>
              <a:t>A cross-over trial takes twice as long as a parallel groups trial…more than twice as long if you have a wash-out period.</a:t>
            </a:r>
          </a:p>
          <a:p>
            <a:pPr marL="0" lvl="0" indent="0">
              <a:buNone/>
            </a:pPr>
            <a:endParaRPr/>
          </a:p>
          <a:p>
            <a:pPr marL="0" lvl="0" indent="0">
              <a:buNone/>
            </a:pPr>
            <a:r>
              <a:t>Speaking of wash-out periods, is it okay to ask your patients to forgo any therapy for a few days or a few weeks? There was a cross-over trial for comparing two drugs that treat depression. I don’t have the details, but if I recall things correctly, there was a wash-out period and several patients committed suicide during the wash-out period.</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Carry-over effects are a big problem. If they occur, it is almost impossible to resolve things.</a:t>
            </a:r>
          </a:p>
          <a:p>
            <a:pPr marL="0" lvl="0" indent="0">
              <a:buNone/>
            </a:pPr>
            <a:endParaRPr/>
          </a:p>
          <a:p>
            <a:pPr marL="0" lvl="0" indent="0">
              <a:buNone/>
            </a:pPr>
            <a:r>
              <a:t>You would like to just adjust for carry-over effects, but the estimate of carry-over is a between subjects comparison that has very little precision or power.</a:t>
            </a:r>
          </a:p>
          <a:p>
            <a:pPr marL="0" lvl="0" indent="0">
              <a:buNone/>
            </a:pPr>
            <a:endParaRPr/>
          </a:p>
          <a:p>
            <a:pPr marL="0" lvl="0" indent="0">
              <a:buNone/>
            </a:pPr>
            <a:r>
              <a:t>Also complicating things is that carry-over effects can manifest themselves in several different ways. If you are comparing an active drug to a placebo, there is no carry-over effect when you switch from the placebo to the active drug because the residual amount of placebo in your system is not going to have an impact on the active drug. But a residual amount of active drug can most certainly impact the evaluation of the placebo. So if you can estimate the carry-over effect, use it to adjust the measurement in the placebo arm only.</a:t>
            </a:r>
          </a:p>
          <a:p>
            <a:pPr marL="0" lvl="0" indent="0">
              <a:buNone/>
            </a:pPr>
            <a:endParaRPr/>
          </a:p>
          <a:p>
            <a:pPr marL="0" lvl="0" indent="0">
              <a:buNone/>
            </a:pPr>
            <a:r>
              <a:t>If you are comparing two active drugs, it may make sense to adjust both drugs because there will be a residual effect in either direction. But what if one of the drugs has a much shorter half life than the other?</a:t>
            </a:r>
          </a:p>
          <a:p>
            <a:pPr marL="0" lvl="0" indent="0">
              <a:buNone/>
            </a:pPr>
            <a:endParaRPr/>
          </a:p>
          <a:p>
            <a:pPr marL="0" lvl="0" indent="0">
              <a:buNone/>
            </a:pPr>
            <a:r>
              <a:t>What you estimate as a carry-over effect may actually be a temporal trend instead. Adjusting for temporal trends might not be the same as adjusting for carry-over.</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One recommendation for carry-over is to run a conditional test. Screen for carry-over. If you accept the null hypothesis and conclude that there is no carry-over, go ahead with the cross-over trial that you have planned. If you find there is a carry-over, just discard the second period data. Using just the first period data converts your cross-over trial into a parallel groups trial.</a:t>
            </a:r>
          </a:p>
          <a:p>
            <a:pPr marL="0" lvl="0" indent="0">
              <a:buNone/>
            </a:pPr>
            <a:endParaRPr/>
          </a:p>
          <a:p>
            <a:pPr marL="0" lvl="0" indent="0">
              <a:buNone/>
            </a:pPr>
            <a:r>
              <a:t>This approach is not recommended. First, the test for carry-over is going to be a between subjects comparison which has very little power. Making things worse, if you do switch to analyzing just the first treatment received, you lose too much power and precision. You might as well just abandon the whole study.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Carry-over prevents an insolvable problem. You can’t adjust for it and you can’t modify your test if you detect carry-over. This is not my opinion. It is the opinion of Stephen Senn and other experts in the area.</a:t>
            </a:r>
          </a:p>
          <a:p>
            <a:pPr marL="0" lvl="0" indent="0">
              <a:buNone/>
            </a:pPr>
            <a:endParaRPr/>
          </a:p>
          <a:p>
            <a:pPr marL="0" lvl="0" indent="0">
              <a:buNone/>
            </a:pPr>
            <a:r>
              <a:t>The only thing you can do is to design the study so that you are reasonable confident that there will be no carry-over effect. This is not easy. You need to understand every detail of the two treatments you are examining. What is their mechanism of action? How long do the treatments impact your outcome measure?</a:t>
            </a:r>
          </a:p>
          <a:p>
            <a:pPr marL="0" lvl="0" indent="0">
              <a:buNone/>
            </a:pPr>
            <a:endParaRPr/>
          </a:p>
          <a:p>
            <a:pPr marL="0" lvl="0" indent="0">
              <a:buNone/>
            </a:pPr>
            <a:r>
              <a:t>If the treatments are drugs, how quickly are the drugs absorbed? How soon do the drugs reach a steady state? How rapidly does the drug disappear from the body once treatment ends?</a:t>
            </a:r>
          </a:p>
          <a:p>
            <a:pPr marL="0" lvl="0" indent="0">
              <a:buNone/>
            </a:pPr>
            <a:endParaRPr/>
          </a:p>
          <a:p>
            <a:pPr marL="0" lvl="0" indent="0">
              <a:buNone/>
            </a:pPr>
            <a:r>
              <a:t>Also think about the disease you are treating. What is the natural course of the disease? Is it steadily degenerative? Does it resolve quickly over time?</a:t>
            </a:r>
          </a:p>
          <a:p>
            <a:pPr marL="0" lvl="0" indent="0">
              <a:buNone/>
            </a:pPr>
            <a:endParaRPr/>
          </a:p>
          <a:p>
            <a:pPr marL="0" lvl="0" indent="0">
              <a:buNone/>
            </a:pPr>
            <a:r>
              <a:t>Put this all together and make a case, largely based on qualitative arguments, that the way you designed this study provides reasonable insurance that there is no carry-over effect.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You can do analyze binary outcomes in a cross-over trial, but always ask yourself why. Continuous outcomes are almost always preferred. Binary outcomes do not have shades of gray and this greatly limits power and precision.</a:t>
            </a:r>
          </a:p>
          <a:p>
            <a:pPr marL="0" lvl="0" indent="0">
              <a:buNone/>
            </a:pPr>
            <a:endParaRPr/>
          </a:p>
          <a:p>
            <a:pPr marL="0" lvl="0" indent="0">
              <a:buNone/>
            </a:pPr>
            <a:r>
              <a:t>If you have to use a binary outcome, your statistical model changes and it becomes harder to adjust for period effects.</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This data is from page 104 of Stephen Senn’s book on cross-over trials. The two drugs being tested are our old friends formoterol and salbutamol. The outcomes are classified as either good (a plus sign) or bad (a minus sign).</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In the formoterol/salbutamol study, you ignore the two patients who improved with both drugs and the 6 patients who got worse with both drugs. Focus all your intention on the 15 patients who got better only with formoterol adn the 1 patient who only got better on salbutamol. If you calculate the test statistic, you get 12.25 which is much larger than 3.84, the critical value from a chi-squared distribution with one degree of freedom. You conclude that there is a statistically significant difference in favor of formoterol.</a:t>
            </a:r>
          </a:p>
          <a:p>
            <a:pPr marL="0" lvl="0" indent="0">
              <a:buNone/>
            </a:pPr>
            <a:endParaRPr/>
          </a:p>
          <a:p>
            <a:pPr marL="0" lvl="0" indent="0">
              <a:buNone/>
            </a:pPr>
            <a:r>
              <a:t>I did not find an easy way to compute the Mainland-Gart test that accounts for period effects.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All of the issues with an AB/BA cross-over trial are the same if you toss in a third treatment, C, or a fourth treatment, D. You have the same analysis: a completely randomized block design if you want to ignore the period effect and an analysis of variance table with factors for order, id, period, and treatment. You have the same concerns about carry-over effects.</a:t>
            </a:r>
          </a:p>
          <a:p>
            <a:pPr marL="0" lvl="0" indent="0">
              <a:buNone/>
            </a:pPr>
            <a:endParaRPr/>
          </a:p>
          <a:p>
            <a:pPr marL="0" lvl="0" indent="0">
              <a:buNone/>
            </a:pPr>
            <a:r>
              <a:t>The only real change is that the number of possible sequences increases dramatically.</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With three treatments, there are six possible sequences. With four treatments, there are 24 possible sequences.</a:t>
            </a:r>
          </a:p>
          <a:p>
            <a:pPr marL="0" lvl="0" indent="0">
              <a:buNone/>
            </a:pPr>
            <a:endParaRPr/>
          </a:p>
          <a:p>
            <a:pPr marL="0" lvl="0" indent="0">
              <a:buNone/>
            </a:pPr>
            <a:r>
              <a:t>By the way, there is a typo in the list of possible sequences with four treatments. One sequence is actually listed twice. Can anyone spot it?</a:t>
            </a:r>
          </a:p>
          <a:p>
            <a:pPr marL="0" lvl="0" indent="0">
              <a:buNone/>
            </a:pPr>
            <a:endParaRPr/>
          </a:p>
          <a:p>
            <a:pPr marL="0" lvl="0" indent="0">
              <a:buNone/>
            </a:pPr>
            <a:r>
              <a:t>The sequence CBAD appears at the end of the first row and also at the end of the second row. In the second row, if I had followed the pattern correctly, the letter D would always be in the third position. So change the second CBAD to CBDA.</a:t>
            </a:r>
          </a:p>
          <a:p>
            <a:pPr marL="0" lvl="0" indent="0">
              <a:buNone/>
            </a:pPr>
            <a:endParaRPr/>
          </a:p>
          <a:p>
            <a:pPr marL="0" lvl="0" indent="0">
              <a:buNone/>
            </a:pPr>
            <a:r>
              <a:t>Karen Grace-Martin spotted this during a dry run of this talk, so if you spotted it also pat yourself on your back and tell yourself that you are just as smart as she is.</a:t>
            </a:r>
          </a:p>
          <a:p>
            <a:pPr marL="0" lvl="0" indent="0">
              <a:buNone/>
            </a:pPr>
            <a:endParaRPr/>
          </a:p>
          <a:p>
            <a:pPr marL="0" lvl="0" indent="0">
              <a:buNone/>
            </a:pPr>
            <a:r>
              <a:t>Now here’s a real challenge. Suppose you wanted to run a cross-over trial with five treatments. How many treatment sequences are there?</a:t>
            </a:r>
          </a:p>
          <a:p>
            <a:pPr marL="0" lvl="0" indent="0">
              <a:buNone/>
            </a:pPr>
            <a:endParaRPr/>
          </a:p>
          <a:p>
            <a:pPr marL="0" lvl="0" indent="0">
              <a:buNone/>
            </a:pPr>
            <a:r>
              <a:t>The answer is 5! (five factorial) or 120.</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You can reduce the number of sequences markedly by using a Latin square design. In this design, you have three sequences for testing among three different treatments and four sequences for testimg among four different treatments. The sequences are arranged so that every treatment appears once as the first treatment in exactly one sequence, every treatment appears once as the second treatment in exactly one sequence, and so forth.</a:t>
            </a:r>
          </a:p>
          <a:p>
            <a:pPr marL="0" lvl="0" indent="0">
              <a:buNone/>
            </a:pPr>
            <a:endParaRPr/>
          </a:p>
          <a:p>
            <a:pPr marL="0" lvl="0" indent="0">
              <a:buNone/>
            </a:pPr>
            <a:r>
              <a:t>The Latin square designs shown here are not the only possible Latin square designs. Any Latin square design will work equally well.</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Mills, E.J., Chan, AW., Wu, P. et al. Design, analysis, and presentation of crossover trials. Trials 10, 27 (2009). DOI: 10.1186/1745-6215-10-27</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There are several resources on the Analysis Factor website that you might find helpful.</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Try these true/false questions again. Put your answers in the chat box.</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Speaker notes</a:t>
            </a:r>
          </a:p>
          <a:p>
            <a:pPr marL="0" lvl="0" indent="0">
              <a:buNone/>
            </a:pPr>
            <a:endParaRPr/>
          </a:p>
          <a:p>
            <a:pPr marL="0" lvl="0" indent="0">
              <a:buNone/>
            </a:pPr>
            <a:r>
              <a:t>Here is an overview of the topics you’ve just seen.</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F42E8D-31FF-470C-BDBE-54803E914FB8}"/>
              </a:ext>
            </a:extLst>
          </p:cNvPr>
          <p:cNvSpPr/>
          <p:nvPr userDrawn="1"/>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799" y="2020490"/>
            <a:ext cx="7772400" cy="1102519"/>
          </a:xfrm>
        </p:spPr>
        <p:txBody>
          <a:bodyPr>
            <a:normAutofit/>
          </a:bodyPr>
          <a:lstStyle>
            <a:lvl1pPr algn="ctr">
              <a:defRPr sz="3200" b="1" baseline="0">
                <a:solidFill>
                  <a:srgbClr val="E87427"/>
                </a:solidFill>
                <a:latin typeface="+mn-lt"/>
              </a:defRPr>
            </a:lvl1pPr>
          </a:lstStyle>
          <a:p>
            <a:r>
              <a:rPr lang="en-US" dirty="0"/>
              <a:t>Title of Presentation</a:t>
            </a:r>
          </a:p>
        </p:txBody>
      </p:sp>
      <p:sp>
        <p:nvSpPr>
          <p:cNvPr id="6" name="Slide Number Placeholder 5"/>
          <p:cNvSpPr>
            <a:spLocks noGrp="1"/>
          </p:cNvSpPr>
          <p:nvPr>
            <p:ph type="sldNum" sz="quarter" idx="12"/>
          </p:nvPr>
        </p:nvSpPr>
        <p:spPr/>
        <p:txBody>
          <a:bodyPr/>
          <a:lstStyle/>
          <a:p>
            <a:fld id="{C2E4F4E2-DEA3-44FD-BEC9-57866B7FA44A}" type="slidenum">
              <a:rPr lang="en-US" smtClean="0"/>
              <a:t>‹#›</a:t>
            </a:fld>
            <a:endParaRPr lang="en-US"/>
          </a:p>
        </p:txBody>
      </p:sp>
      <p:pic>
        <p:nvPicPr>
          <p:cNvPr id="4" name="Picture 3">
            <a:extLst>
              <a:ext uri="{FF2B5EF4-FFF2-40B4-BE49-F238E27FC236}">
                <a16:creationId xmlns:a16="http://schemas.microsoft.com/office/drawing/2014/main" id="{D098589E-46FC-4B41-8614-F76A3A6800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17035" y="1358519"/>
            <a:ext cx="1709928" cy="659134"/>
          </a:xfrm>
          <a:prstGeom prst="rect">
            <a:avLst/>
          </a:prstGeom>
        </p:spPr>
      </p:pic>
      <p:pic>
        <p:nvPicPr>
          <p:cNvPr id="8" name="Picture 7">
            <a:extLst>
              <a:ext uri="{FF2B5EF4-FFF2-40B4-BE49-F238E27FC236}">
                <a16:creationId xmlns:a16="http://schemas.microsoft.com/office/drawing/2014/main" id="{42A5FC29-BEA5-412A-98C3-41847F4DAE6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9" name="Rectangle 8">
            <a:extLst>
              <a:ext uri="{FF2B5EF4-FFF2-40B4-BE49-F238E27FC236}">
                <a16:creationId xmlns:a16="http://schemas.microsoft.com/office/drawing/2014/main" id="{366024E4-09C9-4426-81D4-D79D78CD2878}"/>
              </a:ext>
            </a:extLst>
          </p:cNvPr>
          <p:cNvSpPr/>
          <p:nvPr userDrawn="1"/>
        </p:nvSpPr>
        <p:spPr>
          <a:xfrm>
            <a:off x="0" y="-1485"/>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95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50F581-A4FC-461B-A733-2B570AAED373}"/>
              </a:ext>
            </a:extLst>
          </p:cNvPr>
          <p:cNvSpPr/>
          <p:nvPr userDrawn="1"/>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266700"/>
            <a:ext cx="8229600" cy="857250"/>
          </a:xfrm>
        </p:spPr>
        <p:txBody>
          <a:bodyPr>
            <a:normAutofit/>
          </a:bodyPr>
          <a:lstStyle>
            <a:lvl1pPr algn="l">
              <a:defRPr sz="2400" b="1">
                <a:solidFill>
                  <a:srgbClr val="E87427"/>
                </a:solidFill>
                <a:latin typeface="+mn-lt"/>
              </a:defRPr>
            </a:lvl1pPr>
          </a:lstStyle>
          <a:p>
            <a:r>
              <a:rPr lang="en-US" dirty="0"/>
              <a:t>Click to edit Master title style</a:t>
            </a:r>
          </a:p>
        </p:txBody>
      </p:sp>
      <p:sp>
        <p:nvSpPr>
          <p:cNvPr id="3" name="Content Placeholder 2"/>
          <p:cNvSpPr>
            <a:spLocks noGrp="1"/>
          </p:cNvSpPr>
          <p:nvPr>
            <p:ph idx="1"/>
          </p:nvPr>
        </p:nvSpPr>
        <p:spPr>
          <a:xfrm>
            <a:off x="457200" y="1200150"/>
            <a:ext cx="8229600" cy="3657600"/>
          </a:xfrm>
        </p:spPr>
        <p:txBody>
          <a:bodyPr>
            <a:normAutofit/>
          </a:bodyPr>
          <a:lstStyle>
            <a:lvl1pPr>
              <a:defRPr sz="2000" baseline="0"/>
            </a:lvl1pPr>
            <a:lvl2pPr>
              <a:defRPr sz="1800"/>
            </a:lvl2pPr>
          </a:lstStyle>
          <a:p>
            <a:pPr lvl="0"/>
            <a:r>
              <a:rPr lang="en-US" dirty="0"/>
              <a:t>Click to edit Master text styles</a:t>
            </a:r>
          </a:p>
          <a:p>
            <a:pPr lvl="1"/>
            <a:r>
              <a:rPr lang="en-US" dirty="0"/>
              <a:t>Text size</a:t>
            </a:r>
          </a:p>
          <a:p>
            <a:pPr lvl="0"/>
            <a:r>
              <a:rPr lang="en-US" dirty="0"/>
              <a:t>Text size</a:t>
            </a:r>
          </a:p>
        </p:txBody>
      </p:sp>
      <p:sp>
        <p:nvSpPr>
          <p:cNvPr id="6" name="Slide Number Placeholder 5"/>
          <p:cNvSpPr>
            <a:spLocks noGrp="1"/>
          </p:cNvSpPr>
          <p:nvPr>
            <p:ph type="sldNum" sz="quarter" idx="12"/>
          </p:nvPr>
        </p:nvSpPr>
        <p:spPr/>
        <p:txBody>
          <a:bodyPr/>
          <a:lstStyle/>
          <a:p>
            <a:fld id="{C2E4F4E2-DEA3-44FD-BEC9-57866B7FA44A}" type="slidenum">
              <a:rPr lang="en-US" smtClean="0"/>
              <a:t>‹#›</a:t>
            </a:fld>
            <a:endParaRPr lang="en-US"/>
          </a:p>
        </p:txBody>
      </p:sp>
      <p:pic>
        <p:nvPicPr>
          <p:cNvPr id="9" name="Picture 8">
            <a:extLst>
              <a:ext uri="{FF2B5EF4-FFF2-40B4-BE49-F238E27FC236}">
                <a16:creationId xmlns:a16="http://schemas.microsoft.com/office/drawing/2014/main" id="{ADDC0898-3EF1-4D90-A9D9-CA4EFBAA23F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10" name="Footer Placeholder 4">
            <a:extLst>
              <a:ext uri="{FF2B5EF4-FFF2-40B4-BE49-F238E27FC236}">
                <a16:creationId xmlns:a16="http://schemas.microsoft.com/office/drawing/2014/main" id="{2C3C1459-BBAA-461A-94C2-915F3D04FEDA}"/>
              </a:ext>
            </a:extLst>
          </p:cNvPr>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r>
              <a:rPr lang="en-US" dirty="0"/>
              <a:t>© Your Name | https://TheAnalysisFactor.com</a:t>
            </a:r>
          </a:p>
        </p:txBody>
      </p:sp>
    </p:spTree>
    <p:extLst>
      <p:ext uri="{BB962C8B-B14F-4D97-AF65-F5344CB8AC3E}">
        <p14:creationId xmlns:p14="http://schemas.microsoft.com/office/powerpoint/2010/main" val="2372980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2E4F4E2-DEA3-44FD-BEC9-57866B7FA44A}" type="slidenum">
              <a:rPr lang="en-US" smtClean="0"/>
              <a:t>‹#›</a:t>
            </a:fld>
            <a:endParaRPr lang="en-US"/>
          </a:p>
        </p:txBody>
      </p:sp>
      <p:pic>
        <p:nvPicPr>
          <p:cNvPr id="6" name="Picture 5">
            <a:extLst>
              <a:ext uri="{FF2B5EF4-FFF2-40B4-BE49-F238E27FC236}">
                <a16:creationId xmlns:a16="http://schemas.microsoft.com/office/drawing/2014/main" id="{0933D0BB-687E-41BC-A3ED-894FADC3F9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
        <p:nvSpPr>
          <p:cNvPr id="8" name="Footer Placeholder 4">
            <a:extLst>
              <a:ext uri="{FF2B5EF4-FFF2-40B4-BE49-F238E27FC236}">
                <a16:creationId xmlns:a16="http://schemas.microsoft.com/office/drawing/2014/main" id="{3C68A16E-7FBD-4E6C-BBAC-DDB03CF5BCCB}"/>
              </a:ext>
            </a:extLst>
          </p:cNvPr>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r>
              <a:rPr lang="en-US" dirty="0"/>
              <a:t>© Your Name | https://TheAnalysisFactor.com</a:t>
            </a:r>
          </a:p>
        </p:txBody>
      </p:sp>
    </p:spTree>
    <p:extLst>
      <p:ext uri="{BB962C8B-B14F-4D97-AF65-F5344CB8AC3E}">
        <p14:creationId xmlns:p14="http://schemas.microsoft.com/office/powerpoint/2010/main" val="5856735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17E2E-B5D5-4877-B394-075938C40219}"/>
              </a:ext>
            </a:extLst>
          </p:cNvPr>
          <p:cNvSpPr/>
          <p:nvPr userDrawn="1"/>
        </p:nvSpPr>
        <p:spPr>
          <a:xfrm>
            <a:off x="0" y="4870720"/>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04800" y="205979"/>
            <a:ext cx="85344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04800" y="1200151"/>
            <a:ext cx="85344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6781800" y="4869656"/>
            <a:ext cx="2133600" cy="273844"/>
          </a:xfrm>
          <a:prstGeom prst="rect">
            <a:avLst/>
          </a:prstGeom>
        </p:spPr>
        <p:txBody>
          <a:bodyPr vert="horz" lIns="91440" tIns="45720" rIns="91440" bIns="45720" rtlCol="0" anchor="ctr"/>
          <a:lstStyle>
            <a:lvl1pPr algn="r">
              <a:defRPr sz="1200">
                <a:solidFill>
                  <a:schemeClr val="bg1"/>
                </a:solidFill>
              </a:defRPr>
            </a:lvl1pPr>
          </a:lstStyle>
          <a:p>
            <a:fld id="{C2E4F4E2-DEA3-44FD-BEC9-57866B7FA44A}" type="slidenum">
              <a:rPr lang="en-US" smtClean="0"/>
              <a:pPr/>
              <a:t>‹#›</a:t>
            </a:fld>
            <a:endParaRPr lang="en-US"/>
          </a:p>
        </p:txBody>
      </p:sp>
      <p:sp>
        <p:nvSpPr>
          <p:cNvPr id="5" name="Footer Placeholder 4"/>
          <p:cNvSpPr>
            <a:spLocks noGrp="1"/>
          </p:cNvSpPr>
          <p:nvPr>
            <p:ph type="ftr" sz="quarter" idx="3"/>
          </p:nvPr>
        </p:nvSpPr>
        <p:spPr>
          <a:xfrm>
            <a:off x="2705100" y="4882626"/>
            <a:ext cx="3733800" cy="248325"/>
          </a:xfrm>
          <a:prstGeom prst="rect">
            <a:avLst/>
          </a:prstGeom>
        </p:spPr>
        <p:txBody>
          <a:bodyPr/>
          <a:lstStyle>
            <a:lvl1pPr algn="ctr">
              <a:defRPr sz="1000">
                <a:solidFill>
                  <a:schemeClr val="bg1"/>
                </a:solidFill>
                <a:latin typeface="+mn-lt"/>
              </a:defRPr>
            </a:lvl1pPr>
          </a:lstStyle>
          <a:p>
            <a:r>
              <a:rPr lang="en-US" dirty="0"/>
              <a:t>© Your Name | https://TheAnalysisFactor.com</a:t>
            </a:r>
          </a:p>
        </p:txBody>
      </p:sp>
      <p:sp>
        <p:nvSpPr>
          <p:cNvPr id="7" name="Rectangle 6">
            <a:extLst>
              <a:ext uri="{FF2B5EF4-FFF2-40B4-BE49-F238E27FC236}">
                <a16:creationId xmlns:a16="http://schemas.microsoft.com/office/drawing/2014/main" id="{5B1428EE-7FB0-4065-9031-1C4A004167C1}"/>
              </a:ext>
            </a:extLst>
          </p:cNvPr>
          <p:cNvSpPr/>
          <p:nvPr userDrawn="1"/>
        </p:nvSpPr>
        <p:spPr>
          <a:xfrm>
            <a:off x="0" y="-1485"/>
            <a:ext cx="9144000" cy="274265"/>
          </a:xfrm>
          <a:prstGeom prst="rect">
            <a:avLst/>
          </a:prstGeom>
          <a:solidFill>
            <a:srgbClr val="2361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8670989-75F6-4DBE-955A-FA7C17906D4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3718" y="4883690"/>
            <a:ext cx="849282" cy="248325"/>
          </a:xfrm>
          <a:prstGeom prst="rect">
            <a:avLst/>
          </a:prstGeom>
        </p:spPr>
      </p:pic>
    </p:spTree>
    <p:extLst>
      <p:ext uri="{BB962C8B-B14F-4D97-AF65-F5344CB8AC3E}">
        <p14:creationId xmlns:p14="http://schemas.microsoft.com/office/powerpoint/2010/main" val="3589204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ftr="0" dt="0"/>
  <p:txStyles>
    <p:titleStyle>
      <a:lvl1pPr algn="l" defTabSz="914400" rtl="0" eaLnBrk="1" latinLnBrk="0" hangingPunct="1">
        <a:spcBef>
          <a:spcPct val="0"/>
        </a:spcBef>
        <a:buNone/>
        <a:defRPr lang="en-US" sz="2800" b="1" kern="1200" dirty="0">
          <a:solidFill>
            <a:srgbClr val="E87427"/>
          </a:solidFill>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09750"/>
            <a:ext cx="7772400" cy="1524000"/>
          </a:xfrm>
        </p:spPr>
        <p:txBody>
          <a:bodyPr>
            <a:normAutofit/>
          </a:bodyPr>
          <a:lstStyle/>
          <a:p>
            <a:pPr algn="ctr"/>
            <a:r>
              <a:rPr lang="en-US" dirty="0"/>
              <a:t>Cross-over Trials</a:t>
            </a:r>
          </a:p>
        </p:txBody>
      </p:sp>
      <p:sp>
        <p:nvSpPr>
          <p:cNvPr id="3" name="Subtitle 2"/>
          <p:cNvSpPr txBox="1">
            <a:spLocks/>
          </p:cNvSpPr>
          <p:nvPr/>
        </p:nvSpPr>
        <p:spPr>
          <a:xfrm>
            <a:off x="6629400" y="3943350"/>
            <a:ext cx="1828800" cy="4191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r>
              <a:rPr lang="en-US" sz="1800" dirty="0">
                <a:solidFill>
                  <a:schemeClr val="tx1"/>
                </a:solidFill>
              </a:rPr>
              <a:t>Steve Simon</a:t>
            </a:r>
          </a:p>
        </p:txBody>
      </p:sp>
    </p:spTree>
    <p:extLst>
      <p:ext uri="{BB962C8B-B14F-4D97-AF65-F5344CB8AC3E}">
        <p14:creationId xmlns:p14="http://schemas.microsoft.com/office/powerpoint/2010/main" val="1296843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9E40-E9AC-8724-38D4-226B3F92B8D5}"/>
              </a:ext>
            </a:extLst>
          </p:cNvPr>
          <p:cNvSpPr>
            <a:spLocks noGrp="1"/>
          </p:cNvSpPr>
          <p:nvPr>
            <p:ph type="title"/>
          </p:nvPr>
        </p:nvSpPr>
        <p:spPr/>
        <p:txBody>
          <a:bodyPr>
            <a:normAutofit/>
          </a:bodyPr>
          <a:lstStyle/>
          <a:p>
            <a:r>
              <a:rPr lang="en-US" sz="2400" dirty="0"/>
              <a:t>Where this fits</a:t>
            </a:r>
          </a:p>
        </p:txBody>
      </p:sp>
      <p:pic>
        <p:nvPicPr>
          <p:cNvPr id="6" name="Picture 5">
            <a:extLst>
              <a:ext uri="{FF2B5EF4-FFF2-40B4-BE49-F238E27FC236}">
                <a16:creationId xmlns:a16="http://schemas.microsoft.com/office/drawing/2014/main" id="{43C51686-D6C1-C2E0-4DEE-755594CE0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947" y="1094759"/>
            <a:ext cx="952633" cy="952633"/>
          </a:xfrm>
          <a:prstGeom prst="rect">
            <a:avLst/>
          </a:prstGeom>
        </p:spPr>
      </p:pic>
      <p:pic>
        <p:nvPicPr>
          <p:cNvPr id="44" name="Picture 43">
            <a:extLst>
              <a:ext uri="{FF2B5EF4-FFF2-40B4-BE49-F238E27FC236}">
                <a16:creationId xmlns:a16="http://schemas.microsoft.com/office/drawing/2014/main" id="{A23D7839-EFC1-19B2-3C9A-598E9CAEA6E3}"/>
              </a:ext>
            </a:extLst>
          </p:cNvPr>
          <p:cNvPicPr>
            <a:picLocks noChangeAspect="1"/>
          </p:cNvPicPr>
          <p:nvPr/>
        </p:nvPicPr>
        <p:blipFill>
          <a:blip r:embed="rId3"/>
          <a:stretch>
            <a:fillRect/>
          </a:stretch>
        </p:blipFill>
        <p:spPr>
          <a:xfrm>
            <a:off x="380999" y="3028950"/>
            <a:ext cx="3655765" cy="1752600"/>
          </a:xfrm>
          <a:prstGeom prst="rect">
            <a:avLst/>
          </a:prstGeom>
        </p:spPr>
      </p:pic>
      <p:sp>
        <p:nvSpPr>
          <p:cNvPr id="3" name="Slide Number Placeholder 2">
            <a:extLst>
              <a:ext uri="{FF2B5EF4-FFF2-40B4-BE49-F238E27FC236}">
                <a16:creationId xmlns:a16="http://schemas.microsoft.com/office/drawing/2014/main" id="{B736B222-5EEC-58B2-439A-EE42374F4F54}"/>
              </a:ext>
            </a:extLst>
          </p:cNvPr>
          <p:cNvSpPr>
            <a:spLocks noGrp="1"/>
          </p:cNvSpPr>
          <p:nvPr>
            <p:ph type="sldNum" sz="quarter" idx="12"/>
          </p:nvPr>
        </p:nvSpPr>
        <p:spPr/>
        <p:txBody>
          <a:bodyPr/>
          <a:lstStyle/>
          <a:p>
            <a:fld id="{C2E4F4E2-DEA3-44FD-BEC9-57866B7FA44A}" type="slidenum">
              <a:rPr lang="en-US" smtClean="0"/>
              <a:t>2</a:t>
            </a:fld>
            <a:endParaRPr lang="en-US"/>
          </a:p>
        </p:txBody>
      </p:sp>
    </p:spTree>
    <p:extLst>
      <p:ext uri="{BB962C8B-B14F-4D97-AF65-F5344CB8AC3E}">
        <p14:creationId xmlns:p14="http://schemas.microsoft.com/office/powerpoint/2010/main" val="1640167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Topics to be covered</a:t>
            </a:r>
          </a:p>
        </p:txBody>
      </p:sp>
      <p:sp>
        <p:nvSpPr>
          <p:cNvPr id="3" name="Content Placeholder 2"/>
          <p:cNvSpPr>
            <a:spLocks noGrp="1"/>
          </p:cNvSpPr>
          <p:nvPr>
            <p:ph idx="1"/>
          </p:nvPr>
        </p:nvSpPr>
        <p:spPr/>
        <p:txBody>
          <a:bodyPr/>
          <a:lstStyle/>
          <a:p>
            <a:pPr lvl="0"/>
            <a:r>
              <a:t>What you will learn</a:t>
            </a:r>
          </a:p>
          <a:p>
            <a:pPr lvl="1"/>
            <a:r>
              <a:t>The paired t-test</a:t>
            </a:r>
          </a:p>
          <a:p>
            <a:pPr lvl="1"/>
            <a:r>
              <a:t>The AB/BA cross-over</a:t>
            </a:r>
          </a:p>
          <a:p>
            <a:pPr lvl="1"/>
            <a:r>
              <a:t>Period effects and carry-over</a:t>
            </a:r>
          </a:p>
          <a:p>
            <a:pPr lvl="1"/>
            <a:r>
              <a:t>When should you use or not use a cross-over</a:t>
            </a:r>
          </a:p>
          <a:p>
            <a:pPr lvl="1"/>
            <a:r>
              <a:t>Cross-over trials with a binary outcome</a:t>
            </a:r>
          </a:p>
          <a:p>
            <a:pPr lvl="1"/>
            <a:r>
              <a:t>Cross-over trials with more than two treatments</a:t>
            </a:r>
          </a:p>
        </p:txBody>
      </p:sp>
      <p:sp>
        <p:nvSpPr>
          <p:cNvPr id="4" name="Slide Number Placeholder 3">
            <a:extLst>
              <a:ext uri="{FF2B5EF4-FFF2-40B4-BE49-F238E27FC236}">
                <a16:creationId xmlns:a16="http://schemas.microsoft.com/office/drawing/2014/main" id="{9F31F82F-1163-8F06-B00B-EF9BFBAF45C2}"/>
              </a:ext>
            </a:extLst>
          </p:cNvPr>
          <p:cNvSpPr>
            <a:spLocks noGrp="1"/>
          </p:cNvSpPr>
          <p:nvPr>
            <p:ph type="sldNum" sz="quarter" idx="12"/>
          </p:nvPr>
        </p:nvSpPr>
        <p:spPr/>
        <p:txBody>
          <a:bodyPr/>
          <a:lstStyle/>
          <a:p>
            <a:fld id="{C2E4F4E2-DEA3-44FD-BEC9-57866B7FA44A}"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Pop quiz, true or false</a:t>
            </a:r>
          </a:p>
        </p:txBody>
      </p:sp>
      <p:sp>
        <p:nvSpPr>
          <p:cNvPr id="3" name="Content Placeholder 2"/>
          <p:cNvSpPr>
            <a:spLocks noGrp="1"/>
          </p:cNvSpPr>
          <p:nvPr>
            <p:ph idx="1"/>
          </p:nvPr>
        </p:nvSpPr>
        <p:spPr/>
        <p:txBody>
          <a:bodyPr/>
          <a:lstStyle/>
          <a:p>
            <a:pPr marL="342900" lvl="0" indent="-342900">
              <a:buAutoNum type="arabicPeriod"/>
            </a:pPr>
            <a:r>
              <a:rPr dirty="0"/>
              <a:t>Cross-over trials can only be used if the two treatments are drugs.</a:t>
            </a:r>
          </a:p>
          <a:p>
            <a:pPr marL="342900" lvl="0" indent="-342900">
              <a:buAutoNum type="arabicPeriod"/>
            </a:pPr>
            <a:r>
              <a:rPr dirty="0"/>
              <a:t>A paired t-test is a simple way to analyze a basic cross-over design.</a:t>
            </a:r>
          </a:p>
          <a:p>
            <a:pPr marL="342900" lvl="0" indent="-342900">
              <a:buAutoNum type="arabicPeriod"/>
            </a:pPr>
            <a:r>
              <a:rPr dirty="0"/>
              <a:t>A carry-over effect is easily accounted for and adjustments are relatively simple.</a:t>
            </a:r>
          </a:p>
          <a:p>
            <a:pPr marL="342900" lvl="0" indent="-342900">
              <a:buAutoNum type="arabicPeriod"/>
            </a:pPr>
            <a:r>
              <a:rPr dirty="0"/>
              <a:t>Cross-over trials should only be used if the disease being treated is acute, meaning that it does not persist over long periods of time.</a:t>
            </a:r>
          </a:p>
          <a:p>
            <a:pPr marL="0" lvl="0" indent="0">
              <a:buNone/>
            </a:pPr>
            <a:r>
              <a:rPr dirty="0"/>
              <a:t>Put your answers in the chat box as a sequence of T’s and F’s</a:t>
            </a:r>
            <a:r>
              <a:rPr lang="en-US" dirty="0"/>
              <a:t> or question marks if you are not sure</a:t>
            </a:r>
            <a:r>
              <a:rPr dirty="0"/>
              <a:t> (e.g., TF</a:t>
            </a:r>
            <a:r>
              <a:rPr lang="en-US" dirty="0"/>
              <a:t>?</a:t>
            </a:r>
            <a:r>
              <a:rPr dirty="0"/>
              <a:t>T).</a:t>
            </a:r>
          </a:p>
        </p:txBody>
      </p:sp>
      <p:sp>
        <p:nvSpPr>
          <p:cNvPr id="4" name="Slide Number Placeholder 3">
            <a:extLst>
              <a:ext uri="{FF2B5EF4-FFF2-40B4-BE49-F238E27FC236}">
                <a16:creationId xmlns:a16="http://schemas.microsoft.com/office/drawing/2014/main" id="{FF5BBE37-DB1D-1457-5F6F-80C0A58A5D79}"/>
              </a:ext>
            </a:extLst>
          </p:cNvPr>
          <p:cNvSpPr>
            <a:spLocks noGrp="1"/>
          </p:cNvSpPr>
          <p:nvPr>
            <p:ph type="sldNum" sz="quarter" idx="12"/>
          </p:nvPr>
        </p:nvSpPr>
        <p:spPr/>
        <p:txBody>
          <a:bodyPr/>
          <a:lstStyle/>
          <a:p>
            <a:fld id="{C2E4F4E2-DEA3-44FD-BEC9-57866B7FA44A}"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Quotations from two great philosophers</a:t>
            </a:r>
          </a:p>
        </p:txBody>
      </p:sp>
      <p:sp>
        <p:nvSpPr>
          <p:cNvPr id="3" name="Content Placeholder 2"/>
          <p:cNvSpPr>
            <a:spLocks noGrp="1"/>
          </p:cNvSpPr>
          <p:nvPr>
            <p:ph idx="1"/>
          </p:nvPr>
        </p:nvSpPr>
        <p:spPr/>
        <p:txBody>
          <a:bodyPr/>
          <a:lstStyle/>
          <a:p>
            <a:pPr lvl="0"/>
            <a:r>
              <a:t>“A man cannot step into the same river twice, because it is not the same river, and he is not same man.” - Heraclitus, 544 B.C.</a:t>
            </a:r>
          </a:p>
          <a:p>
            <a:pPr lvl="0"/>
            <a:r>
              <a:t>“You must unlearn what you have learned.” Yoda, 1980 A.D.</a:t>
            </a:r>
          </a:p>
        </p:txBody>
      </p:sp>
      <p:sp>
        <p:nvSpPr>
          <p:cNvPr id="4" name="Slide Number Placeholder 3">
            <a:extLst>
              <a:ext uri="{FF2B5EF4-FFF2-40B4-BE49-F238E27FC236}">
                <a16:creationId xmlns:a16="http://schemas.microsoft.com/office/drawing/2014/main" id="{4741E952-8D29-2863-DF69-49A4EC957EF7}"/>
              </a:ext>
            </a:extLst>
          </p:cNvPr>
          <p:cNvSpPr>
            <a:spLocks noGrp="1"/>
          </p:cNvSpPr>
          <p:nvPr>
            <p:ph type="sldNum" sz="quarter" idx="12"/>
          </p:nvPr>
        </p:nvSpPr>
        <p:spPr/>
        <p:txBody>
          <a:bodyPr/>
          <a:lstStyle/>
          <a:p>
            <a:fld id="{C2E4F4E2-DEA3-44FD-BEC9-57866B7FA44A}"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Paired t-test data</a:t>
            </a:r>
          </a:p>
        </p:txBody>
      </p:sp>
      <p:pic>
        <p:nvPicPr>
          <p:cNvPr id="3" name="Picture 1" descr="../images/couples.png"/>
          <p:cNvPicPr>
            <a:picLocks noGrp="1" noChangeAspect="1"/>
          </p:cNvPicPr>
          <p:nvPr/>
        </p:nvPicPr>
        <p:blipFill>
          <a:blip r:embed="rId3"/>
          <a:stretch>
            <a:fillRect/>
          </a:stretch>
        </p:blipFill>
        <p:spPr bwMode="auto">
          <a:xfrm>
            <a:off x="2336800" y="1193800"/>
            <a:ext cx="44831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42C15F39-1187-865D-BC64-685D8E38136C}"/>
              </a:ext>
            </a:extLst>
          </p:cNvPr>
          <p:cNvSpPr>
            <a:spLocks noGrp="1"/>
          </p:cNvSpPr>
          <p:nvPr>
            <p:ph type="sldNum" sz="quarter" idx="12"/>
          </p:nvPr>
        </p:nvSpPr>
        <p:spPr/>
        <p:txBody>
          <a:bodyPr/>
          <a:lstStyle/>
          <a:p>
            <a:fld id="{C2E4F4E2-DEA3-44FD-BEC9-57866B7FA44A}"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on wife’s age</a:t>
            </a:r>
          </a:p>
        </p:txBody>
      </p:sp>
      <p:graphicFrame>
        <p:nvGraphicFramePr>
          <p:cNvPr id="6" name="Content Placeholder 5"/>
          <p:cNvGraphicFramePr>
            <a:graphicFrameLocks noGrp="1"/>
          </p:cNvGraphicFramePr>
          <p:nvPr>
            <p:ph idx="1"/>
          </p:nvPr>
        </p:nvGraphicFramePr>
        <p:xfrm>
          <a:off x="457200" y="1193800"/>
          <a:ext cx="8229600" cy="731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wAge</a:t>
                      </a:r>
                    </a:p>
                  </a:txBody>
                  <a:tcPr/>
                </a:tc>
                <a:tc>
                  <a:txBody>
                    <a:bodyPr/>
                    <a:lstStyle/>
                    <a:p>
                      <a:pPr marL="0" lvl="0" indent="0">
                        <a:buNone/>
                      </a:pPr>
                      <a:r>
                        <a:t>40.7</a:t>
                      </a:r>
                    </a:p>
                  </a:txBody>
                  <a:tcPr/>
                </a:tc>
                <a:tc>
                  <a:txBody>
                    <a:bodyPr/>
                    <a:lstStyle/>
                    <a:p>
                      <a:pPr marL="0" lvl="0" indent="0">
                        <a:buNone/>
                      </a:pPr>
                      <a:r>
                        <a:t>11.4</a:t>
                      </a:r>
                    </a:p>
                  </a:txBody>
                  <a:tcPr/>
                </a:tc>
                <a:tc>
                  <a:txBody>
                    <a:bodyPr/>
                    <a:lstStyle/>
                    <a:p>
                      <a:pPr marL="0" lvl="0" indent="0">
                        <a:buNone/>
                      </a:pPr>
                      <a:r>
                        <a:t>170</a:t>
                      </a:r>
                    </a:p>
                  </a:txBody>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1B05F189-4B2D-96F8-7B36-52F2D8A24DA8}"/>
              </a:ext>
            </a:extLst>
          </p:cNvPr>
          <p:cNvSpPr>
            <a:spLocks noGrp="1"/>
          </p:cNvSpPr>
          <p:nvPr>
            <p:ph type="sldNum" sz="quarter" idx="12"/>
          </p:nvPr>
        </p:nvSpPr>
        <p:spPr/>
        <p:txBody>
          <a:bodyPr/>
          <a:lstStyle/>
          <a:p>
            <a:fld id="{C2E4F4E2-DEA3-44FD-BEC9-57866B7FA44A}"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on husband’s age</a:t>
            </a:r>
          </a:p>
        </p:txBody>
      </p:sp>
      <p:graphicFrame>
        <p:nvGraphicFramePr>
          <p:cNvPr id="6" name="Content Placeholder 5"/>
          <p:cNvGraphicFramePr>
            <a:graphicFrameLocks noGrp="1"/>
          </p:cNvGraphicFramePr>
          <p:nvPr>
            <p:ph idx="1"/>
          </p:nvPr>
        </p:nvGraphicFramePr>
        <p:xfrm>
          <a:off x="457200" y="1193800"/>
          <a:ext cx="8229600" cy="731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hAge</a:t>
                      </a:r>
                    </a:p>
                  </a:txBody>
                  <a:tcPr/>
                </a:tc>
                <a:tc>
                  <a:txBody>
                    <a:bodyPr/>
                    <a:lstStyle/>
                    <a:p>
                      <a:pPr marL="0" lvl="0" indent="0">
                        <a:buNone/>
                      </a:pPr>
                      <a:r>
                        <a:t>42.6</a:t>
                      </a:r>
                    </a:p>
                  </a:txBody>
                  <a:tcPr/>
                </a:tc>
                <a:tc>
                  <a:txBody>
                    <a:bodyPr/>
                    <a:lstStyle/>
                    <a:p>
                      <a:pPr marL="0" lvl="0" indent="0">
                        <a:buNone/>
                      </a:pPr>
                      <a:r>
                        <a:t>11.6</a:t>
                      </a:r>
                    </a:p>
                  </a:txBody>
                  <a:tcPr/>
                </a:tc>
                <a:tc>
                  <a:txBody>
                    <a:bodyPr/>
                    <a:lstStyle/>
                    <a:p>
                      <a:pPr marL="0" lvl="0" indent="0">
                        <a:buNone/>
                      </a:pPr>
                      <a:r>
                        <a:t>199</a:t>
                      </a:r>
                    </a:p>
                  </a:txBody>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8D14CA6B-EF5C-A979-868C-C7A5437251D1}"/>
              </a:ext>
            </a:extLst>
          </p:cNvPr>
          <p:cNvSpPr>
            <a:spLocks noGrp="1"/>
          </p:cNvSpPr>
          <p:nvPr>
            <p:ph type="sldNum" sz="quarter" idx="12"/>
          </p:nvPr>
        </p:nvSpPr>
        <p:spPr/>
        <p:txBody>
          <a:bodyPr/>
          <a:lstStyle/>
          <a:p>
            <a:fld id="{C2E4F4E2-DEA3-44FD-BEC9-57866B7FA44A}"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on age gap</a:t>
            </a:r>
          </a:p>
        </p:txBody>
      </p:sp>
      <p:graphicFrame>
        <p:nvGraphicFramePr>
          <p:cNvPr id="6" name="Content Placeholder 5"/>
          <p:cNvGraphicFramePr>
            <a:graphicFrameLocks noGrp="1"/>
          </p:cNvGraphicFramePr>
          <p:nvPr>
            <p:ph idx="1"/>
          </p:nvPr>
        </p:nvGraphicFramePr>
        <p:xfrm>
          <a:off x="457200" y="1193800"/>
          <a:ext cx="8229600" cy="731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age_gap</a:t>
                      </a:r>
                    </a:p>
                  </a:txBody>
                  <a:tcPr/>
                </a:tc>
                <a:tc>
                  <a:txBody>
                    <a:bodyPr/>
                    <a:lstStyle/>
                    <a:p>
                      <a:pPr marL="0" lvl="0" indent="0">
                        <a:buNone/>
                      </a:pPr>
                      <a:r>
                        <a:t>2.2</a:t>
                      </a:r>
                    </a:p>
                  </a:txBody>
                  <a:tcPr/>
                </a:tc>
                <a:tc>
                  <a:txBody>
                    <a:bodyPr/>
                    <a:lstStyle/>
                    <a:p>
                      <a:pPr marL="0" lvl="0" indent="0">
                        <a:buNone/>
                      </a:pPr>
                      <a:r>
                        <a:t>4.1</a:t>
                      </a:r>
                    </a:p>
                  </a:txBody>
                  <a:tcPr/>
                </a:tc>
                <a:tc>
                  <a:txBody>
                    <a:bodyPr/>
                    <a:lstStyle/>
                    <a:p>
                      <a:pPr marL="0" lvl="0" indent="0">
                        <a:buNone/>
                      </a:pPr>
                      <a:r>
                        <a:t>170</a:t>
                      </a:r>
                    </a:p>
                  </a:txBody>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358E1EE5-83CF-00A8-D1A8-469CAD4F9325}"/>
              </a:ext>
            </a:extLst>
          </p:cNvPr>
          <p:cNvSpPr>
            <a:spLocks noGrp="1"/>
          </p:cNvSpPr>
          <p:nvPr>
            <p:ph type="sldNum" sz="quarter" idx="12"/>
          </p:nvPr>
        </p:nvSpPr>
        <p:spPr/>
        <p:txBody>
          <a:bodyPr/>
          <a:lstStyle/>
          <a:p>
            <a:fld id="{C2E4F4E2-DEA3-44FD-BEC9-57866B7FA44A}"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Paired t-test on couples ages</a:t>
            </a:r>
          </a:p>
        </p:txBody>
      </p:sp>
      <p:sp>
        <p:nvSpPr>
          <p:cNvPr id="3" name="Content Placeholder 2"/>
          <p:cNvSpPr>
            <a:spLocks noGrp="1"/>
          </p:cNvSpPr>
          <p:nvPr>
            <p:ph idx="1"/>
          </p:nvPr>
        </p:nvSpPr>
        <p:spPr/>
        <p:txBody>
          <a:bodyPr/>
          <a:lstStyle/>
          <a:p>
            <a:pPr lvl="0"/>
            <a:r>
              <a:t>Difference mean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𝐷</m:t>
                    </m:r>
                  </m:e>
                </m:acc>
              </m:oMath>
            </a14:m>
            <a:r>
              <a:t>) = 2.2</a:t>
            </a:r>
          </a:p>
          <a:p>
            <a:pPr lvl="0"/>
            <a:r>
              <a:t>Difference standard deviation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oMath>
            </a14:m>
            <a:r>
              <a:t>) = 4.1</a:t>
            </a:r>
          </a:p>
          <a:p>
            <a:pPr lvl="0"/>
            <a:r>
              <a:t>Difference standard error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𝑛</m:t>
                    </m:r>
                  </m:e>
                </m:rad>
              </m:oMath>
            </a14:m>
            <a:r>
              <a:t>) = 0.3</a:t>
            </a:r>
          </a:p>
          <a:p>
            <a:pPr lvl="0"/>
            <a:r>
              <a:t>Test statistic </a:t>
            </a:r>
            <a14:m xmlns:a14="http://schemas.microsoft.com/office/drawing/2010/main">
              <m:oMath xmlns:m="http://schemas.openxmlformats.org/officeDocument/2006/math">
                <m:d>
                  <m:dPr>
                    <m:ctrlPr>
                      <a:rPr>
                        <a:latin typeface="Cambria Math" panose="02040503050406030204" pitchFamily="18" charset="0"/>
                      </a:rPr>
                    </m:ctrlPr>
                  </m:dPr>
                  <m:e>
                    <m:f>
                      <m:fPr>
                        <m:ctrlPr>
                          <a:rPr>
                            <a:latin typeface="Cambria Math" panose="02040503050406030204" pitchFamily="18" charset="0"/>
                          </a:rPr>
                        </m:ctrlPr>
                      </m:fPr>
                      <m:num>
                        <m:acc>
                          <m:accPr>
                            <m:chr m:val="‾"/>
                            <m:ctrlPr>
                              <a:rPr>
                                <a:latin typeface="Cambria Math" panose="02040503050406030204" pitchFamily="18" charset="0"/>
                              </a:rPr>
                            </m:ctrlPr>
                          </m:accPr>
                          <m:e>
                            <m:r>
                              <a:rPr>
                                <a:latin typeface="Cambria Math" panose="02040503050406030204" pitchFamily="18" charset="0"/>
                              </a:rPr>
                              <m:t>𝐷</m:t>
                            </m:r>
                          </m:e>
                        </m:acc>
                      </m:num>
                      <m:den>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𝑛</m:t>
                            </m:r>
                          </m:e>
                        </m:rad>
                      </m:den>
                    </m:f>
                  </m:e>
                </m:d>
              </m:oMath>
            </a14:m>
            <a:r>
              <a:t> = 7.15</a:t>
            </a:r>
          </a:p>
          <a:p>
            <a:pPr lvl="0"/>
            <a:r>
              <a:t>p&lt;0.001</a:t>
            </a:r>
          </a:p>
        </p:txBody>
      </p:sp>
      <p:sp>
        <p:nvSpPr>
          <p:cNvPr id="4" name="Slide Number Placeholder 3">
            <a:extLst>
              <a:ext uri="{FF2B5EF4-FFF2-40B4-BE49-F238E27FC236}">
                <a16:creationId xmlns:a16="http://schemas.microsoft.com/office/drawing/2014/main" id="{464100C3-9662-AD59-B4CC-D168AC121C1C}"/>
              </a:ext>
            </a:extLst>
          </p:cNvPr>
          <p:cNvSpPr>
            <a:spLocks noGrp="1"/>
          </p:cNvSpPr>
          <p:nvPr>
            <p:ph type="sldNum" sz="quarter" idx="12"/>
          </p:nvPr>
        </p:nvSpPr>
        <p:spPr/>
        <p:txBody>
          <a:bodyPr/>
          <a:lstStyle/>
          <a:p>
            <a:fld id="{C2E4F4E2-DEA3-44FD-BEC9-57866B7FA44A}"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Analyze as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age
           Df Sum Sq Mean Sq F value    Pr(&gt;F)    
spouse      1    425  424.71  51.148 2.474e-11 ***
pair      169  43974  260.20  31.337 &lt; 2.2e-16 ***
Residuals 169   1403    8.30                      
---
Signif. codes:  0 '***' 0.001 '**' 0.01 '*' 0.05 '.' 0.1 ' ' 1</a:t>
            </a:r>
          </a:p>
        </p:txBody>
      </p:sp>
      <p:sp>
        <p:nvSpPr>
          <p:cNvPr id="4" name="Slide Number Placeholder 3">
            <a:extLst>
              <a:ext uri="{FF2B5EF4-FFF2-40B4-BE49-F238E27FC236}">
                <a16:creationId xmlns:a16="http://schemas.microsoft.com/office/drawing/2014/main" id="{EB327AD4-B137-187D-168E-ED174F8443FB}"/>
              </a:ext>
            </a:extLst>
          </p:cNvPr>
          <p:cNvSpPr>
            <a:spLocks noGrp="1"/>
          </p:cNvSpPr>
          <p:nvPr>
            <p:ph type="sldNum" sz="quarter" idx="12"/>
          </p:nvPr>
        </p:nvSpPr>
        <p:spPr/>
        <p:txBody>
          <a:bodyPr/>
          <a:lstStyle/>
          <a:p>
            <a:fld id="{C2E4F4E2-DEA3-44FD-BEC9-57866B7FA44A}"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Restructured data for a completely randomized block design</a:t>
            </a:r>
          </a:p>
        </p:txBody>
      </p:sp>
      <p:pic>
        <p:nvPicPr>
          <p:cNvPr id="3" name="Picture 1" descr="../images/couples_1.png"/>
          <p:cNvPicPr>
            <a:picLocks noGrp="1" noChangeAspect="1"/>
          </p:cNvPicPr>
          <p:nvPr/>
        </p:nvPicPr>
        <p:blipFill>
          <a:blip r:embed="rId3"/>
          <a:stretch>
            <a:fillRect/>
          </a:stretch>
        </p:blipFill>
        <p:spPr bwMode="auto">
          <a:xfrm>
            <a:off x="2324100" y="1193800"/>
            <a:ext cx="4495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976F0ACD-8958-F246-4D9C-C58E6B70A834}"/>
              </a:ext>
            </a:extLst>
          </p:cNvPr>
          <p:cNvSpPr>
            <a:spLocks noGrp="1"/>
          </p:cNvSpPr>
          <p:nvPr>
            <p:ph type="sldNum" sz="quarter" idx="12"/>
          </p:nvPr>
        </p:nvSpPr>
        <p:spPr/>
        <p:txBody>
          <a:bodyPr/>
          <a:lstStyle/>
          <a:p>
            <a:fld id="{C2E4F4E2-DEA3-44FD-BEC9-57866B7FA44A}"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Mixed model/random coefficient analysis</a:t>
            </a:r>
          </a:p>
        </p:txBody>
      </p:sp>
      <p:sp>
        <p:nvSpPr>
          <p:cNvPr id="3" name="Content Placeholder 2"/>
          <p:cNvSpPr>
            <a:spLocks noGrp="1"/>
          </p:cNvSpPr>
          <p:nvPr>
            <p:ph idx="1"/>
          </p:nvPr>
        </p:nvSpPr>
        <p:spPr/>
        <p:txBody>
          <a:bodyPr/>
          <a:lstStyle/>
          <a:p>
            <a:pPr lvl="0"/>
            <a:r>
              <a:t>Uses long format</a:t>
            </a:r>
          </a:p>
          <a:p>
            <a:pPr lvl="0"/>
            <a:r>
              <a:t>Dependent variable: age</a:t>
            </a:r>
          </a:p>
          <a:p>
            <a:pPr lvl="0"/>
            <a:r>
              <a:t>Fixed effect: spouse</a:t>
            </a:r>
          </a:p>
          <a:p>
            <a:pPr lvl="0"/>
            <a:r>
              <a:t>Random intercept: pair</a:t>
            </a:r>
          </a:p>
        </p:txBody>
      </p:sp>
      <p:sp>
        <p:nvSpPr>
          <p:cNvPr id="4" name="Slide Number Placeholder 3">
            <a:extLst>
              <a:ext uri="{FF2B5EF4-FFF2-40B4-BE49-F238E27FC236}">
                <a16:creationId xmlns:a16="http://schemas.microsoft.com/office/drawing/2014/main" id="{35F2912F-EAD4-AA24-A155-541B65590E26}"/>
              </a:ext>
            </a:extLst>
          </p:cNvPr>
          <p:cNvSpPr>
            <a:spLocks noGrp="1"/>
          </p:cNvSpPr>
          <p:nvPr>
            <p:ph type="sldNum" sz="quarter" idx="12"/>
          </p:nvPr>
        </p:nvSpPr>
        <p:spPr/>
        <p:txBody>
          <a:bodyPr/>
          <a:lstStyle/>
          <a:p>
            <a:fld id="{C2E4F4E2-DEA3-44FD-BEC9-57866B7FA44A}"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Break #1</a:t>
            </a:r>
          </a:p>
        </p:txBody>
      </p:sp>
      <p:sp>
        <p:nvSpPr>
          <p:cNvPr id="3" name="Content Placeholder 2"/>
          <p:cNvSpPr>
            <a:spLocks noGrp="1"/>
          </p:cNvSpPr>
          <p:nvPr>
            <p:ph idx="1"/>
          </p:nvPr>
        </p:nvSpPr>
        <p:spPr/>
        <p:txBody>
          <a:bodyPr/>
          <a:lstStyle/>
          <a:p>
            <a:pPr lvl="0"/>
            <a:r>
              <a:t>What you have learned</a:t>
            </a:r>
          </a:p>
          <a:p>
            <a:pPr lvl="1"/>
            <a:r>
              <a:t>The paired t-test</a:t>
            </a:r>
          </a:p>
          <a:p>
            <a:pPr lvl="0"/>
            <a:r>
              <a:t>What’s coming next</a:t>
            </a:r>
          </a:p>
          <a:p>
            <a:pPr lvl="1"/>
            <a:r>
              <a:t>The AB/BA cross-over</a:t>
            </a:r>
          </a:p>
        </p:txBody>
      </p:sp>
      <p:sp>
        <p:nvSpPr>
          <p:cNvPr id="4" name="Slide Number Placeholder 3">
            <a:extLst>
              <a:ext uri="{FF2B5EF4-FFF2-40B4-BE49-F238E27FC236}">
                <a16:creationId xmlns:a16="http://schemas.microsoft.com/office/drawing/2014/main" id="{4DA0E070-81F0-19B0-8910-3C259A753AA2}"/>
              </a:ext>
            </a:extLst>
          </p:cNvPr>
          <p:cNvSpPr>
            <a:spLocks noGrp="1"/>
          </p:cNvSpPr>
          <p:nvPr>
            <p:ph type="sldNum" sz="quarter" idx="12"/>
          </p:nvPr>
        </p:nvSpPr>
        <p:spPr/>
        <p:txBody>
          <a:bodyPr/>
          <a:lstStyle/>
          <a:p>
            <a:fld id="{C2E4F4E2-DEA3-44FD-BEC9-57866B7FA44A}"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Parallel groups versus the AB/BA cross-over</a:t>
            </a:r>
          </a:p>
        </p:txBody>
      </p:sp>
      <p:pic>
        <p:nvPicPr>
          <p:cNvPr id="3" name="Picture 1" descr="../images/Crossover-trial.png"/>
          <p:cNvPicPr>
            <a:picLocks noGrp="1" noChangeAspect="1"/>
          </p:cNvPicPr>
          <p:nvPr/>
        </p:nvPicPr>
        <p:blipFill>
          <a:blip r:embed="rId2"/>
          <a:stretch>
            <a:fillRect/>
          </a:stretch>
        </p:blipFill>
        <p:spPr bwMode="auto">
          <a:xfrm>
            <a:off x="457200" y="1473200"/>
            <a:ext cx="8229600" cy="2832100"/>
          </a:xfrm>
          <a:prstGeom prst="rect">
            <a:avLst/>
          </a:prstGeom>
          <a:noFill/>
          <a:ln w="9525">
            <a:noFill/>
            <a:headEnd/>
            <a:tailEnd/>
          </a:ln>
        </p:spPr>
      </p:pic>
      <p:sp>
        <p:nvSpPr>
          <p:cNvPr id="4" name="Slide Number Placeholder 3">
            <a:extLst>
              <a:ext uri="{FF2B5EF4-FFF2-40B4-BE49-F238E27FC236}">
                <a16:creationId xmlns:a16="http://schemas.microsoft.com/office/drawing/2014/main" id="{C72525C8-CD64-CD6F-01B8-8F474F170CA5}"/>
              </a:ext>
            </a:extLst>
          </p:cNvPr>
          <p:cNvSpPr>
            <a:spLocks noGrp="1"/>
          </p:cNvSpPr>
          <p:nvPr>
            <p:ph type="sldNum" sz="quarter" idx="12"/>
          </p:nvPr>
        </p:nvSpPr>
        <p:spPr/>
        <p:txBody>
          <a:bodyPr/>
          <a:lstStyle/>
          <a:p>
            <a:fld id="{C2E4F4E2-DEA3-44FD-BEC9-57866B7FA44A}"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rPr dirty="0"/>
              <a:t>https://statistically-funny.blogspot.com/2021/03/in-clinical-trials-you-can-have-it-both.html</a:t>
            </a:r>
          </a:p>
          <a:p>
            <a:pPr marL="0" lvl="0" indent="0">
              <a:buNone/>
            </a:pPr>
            <a:r>
              <a:rPr dirty="0"/>
              <a:t>Warning:</a:t>
            </a:r>
          </a:p>
          <a:p>
            <a:pPr lvl="0"/>
            <a:r>
              <a:rPr dirty="0"/>
              <a:t>Try to use the term “treatment” and not “drug”.</a:t>
            </a:r>
          </a:p>
          <a:p>
            <a:pPr lvl="1"/>
            <a:r>
              <a:rPr dirty="0"/>
              <a:t>Cross-over tria</a:t>
            </a:r>
            <a:r>
              <a:rPr lang="en-US" dirty="0"/>
              <a:t>l</a:t>
            </a:r>
            <a:r>
              <a:rPr dirty="0"/>
              <a:t>s not limited to just drugs</a:t>
            </a:r>
          </a:p>
        </p:txBody>
      </p:sp>
      <p:sp>
        <p:nvSpPr>
          <p:cNvPr id="2" name="Slide Number Placeholder 1">
            <a:extLst>
              <a:ext uri="{FF2B5EF4-FFF2-40B4-BE49-F238E27FC236}">
                <a16:creationId xmlns:a16="http://schemas.microsoft.com/office/drawing/2014/main" id="{3AF79820-BE66-4789-58AF-B8EFA386566C}"/>
              </a:ext>
            </a:extLst>
          </p:cNvPr>
          <p:cNvSpPr>
            <a:spLocks noGrp="1"/>
          </p:cNvSpPr>
          <p:nvPr>
            <p:ph type="sldNum" sz="quarter" idx="12"/>
          </p:nvPr>
        </p:nvSpPr>
        <p:spPr/>
        <p:txBody>
          <a:bodyPr/>
          <a:lstStyle/>
          <a:p>
            <a:fld id="{C2E4F4E2-DEA3-44FD-BEC9-57866B7FA44A}"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do you need both orders?</a:t>
            </a:r>
          </a:p>
        </p:txBody>
      </p:sp>
      <p:sp>
        <p:nvSpPr>
          <p:cNvPr id="3" name="Content Placeholder 2"/>
          <p:cNvSpPr>
            <a:spLocks noGrp="1"/>
          </p:cNvSpPr>
          <p:nvPr>
            <p:ph idx="1"/>
          </p:nvPr>
        </p:nvSpPr>
        <p:spPr/>
        <p:txBody>
          <a:bodyPr/>
          <a:lstStyle/>
          <a:p>
            <a:pPr lvl="0"/>
            <a:r>
              <a:t>Can you use just AB or BA?</a:t>
            </a:r>
          </a:p>
          <a:p>
            <a:pPr lvl="1"/>
            <a:r>
              <a:t>Yes, but…</a:t>
            </a:r>
          </a:p>
          <a:p>
            <a:pPr lvl="1"/>
            <a:r>
              <a:t>Important unanswered questions</a:t>
            </a:r>
          </a:p>
          <a:p>
            <a:pPr lvl="1"/>
            <a:r>
              <a:t>“A man cannot step into the same river twice”</a:t>
            </a:r>
          </a:p>
        </p:txBody>
      </p:sp>
      <p:sp>
        <p:nvSpPr>
          <p:cNvPr id="4" name="Slide Number Placeholder 3">
            <a:extLst>
              <a:ext uri="{FF2B5EF4-FFF2-40B4-BE49-F238E27FC236}">
                <a16:creationId xmlns:a16="http://schemas.microsoft.com/office/drawing/2014/main" id="{59FC413C-5E7F-2B08-9ED7-C3AEE9AA0AD4}"/>
              </a:ext>
            </a:extLst>
          </p:cNvPr>
          <p:cNvSpPr>
            <a:spLocks noGrp="1"/>
          </p:cNvSpPr>
          <p:nvPr>
            <p:ph type="sldNum" sz="quarter" idx="12"/>
          </p:nvPr>
        </p:nvSpPr>
        <p:spPr/>
        <p:txBody>
          <a:bodyPr/>
          <a:lstStyle/>
          <a:p>
            <a:fld id="{C2E4F4E2-DEA3-44FD-BEC9-57866B7FA44A}"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 I have to randomize?</a:t>
            </a:r>
          </a:p>
        </p:txBody>
      </p:sp>
      <p:sp>
        <p:nvSpPr>
          <p:cNvPr id="3" name="Content Placeholder 2"/>
          <p:cNvSpPr>
            <a:spLocks noGrp="1"/>
          </p:cNvSpPr>
          <p:nvPr>
            <p:ph idx="1"/>
          </p:nvPr>
        </p:nvSpPr>
        <p:spPr/>
        <p:txBody>
          <a:bodyPr/>
          <a:lstStyle/>
          <a:p>
            <a:pPr lvl="0"/>
            <a:r>
              <a:t>No.</a:t>
            </a:r>
          </a:p>
          <a:p>
            <a:pPr lvl="1"/>
            <a:r>
              <a:t>Balanced allocation is an alternative</a:t>
            </a:r>
          </a:p>
          <a:p>
            <a:pPr lvl="1"/>
            <a:r>
              <a:t>Advantages and disadvantages</a:t>
            </a:r>
          </a:p>
        </p:txBody>
      </p:sp>
      <p:sp>
        <p:nvSpPr>
          <p:cNvPr id="4" name="Slide Number Placeholder 3">
            <a:extLst>
              <a:ext uri="{FF2B5EF4-FFF2-40B4-BE49-F238E27FC236}">
                <a16:creationId xmlns:a16="http://schemas.microsoft.com/office/drawing/2014/main" id="{167CE681-9F55-2F31-7351-497D2CC56230}"/>
              </a:ext>
            </a:extLst>
          </p:cNvPr>
          <p:cNvSpPr>
            <a:spLocks noGrp="1"/>
          </p:cNvSpPr>
          <p:nvPr>
            <p:ph type="sldNum" sz="quarter" idx="12"/>
          </p:nvPr>
        </p:nvSpPr>
        <p:spPr/>
        <p:txBody>
          <a:bodyPr/>
          <a:lstStyle/>
          <a:p>
            <a:fld id="{C2E4F4E2-DEA3-44FD-BEC9-57866B7FA44A}"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layout</a:t>
            </a:r>
          </a:p>
        </p:txBody>
      </p:sp>
      <p:pic>
        <p:nvPicPr>
          <p:cNvPr id="3" name="Picture 1" descr="../images/asthma_1.png"/>
          <p:cNvPicPr>
            <a:picLocks noGrp="1" noChangeAspect="1"/>
          </p:cNvPicPr>
          <p:nvPr/>
        </p:nvPicPr>
        <p:blipFill>
          <a:blip r:embed="rId3"/>
          <a:stretch>
            <a:fillRect/>
          </a:stretch>
        </p:blipFill>
        <p:spPr bwMode="auto">
          <a:xfrm>
            <a:off x="2362200" y="1193800"/>
            <a:ext cx="44196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66364F25-1119-108D-FF26-67A41DEB6068}"/>
              </a:ext>
            </a:extLst>
          </p:cNvPr>
          <p:cNvSpPr>
            <a:spLocks noGrp="1"/>
          </p:cNvSpPr>
          <p:nvPr>
            <p:ph type="sldNum" sz="quarter" idx="12"/>
          </p:nvPr>
        </p:nvSpPr>
        <p:spPr/>
        <p:txBody>
          <a:bodyPr/>
          <a:lstStyle/>
          <a:p>
            <a:fld id="{C2E4F4E2-DEA3-44FD-BEC9-57866B7FA44A}"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Alternate data layout</a:t>
            </a:r>
          </a:p>
        </p:txBody>
      </p:sp>
      <p:pic>
        <p:nvPicPr>
          <p:cNvPr id="3" name="Picture 1" descr="../images/asthma_2.png"/>
          <p:cNvPicPr>
            <a:picLocks noGrp="1" noChangeAspect="1"/>
          </p:cNvPicPr>
          <p:nvPr/>
        </p:nvPicPr>
        <p:blipFill>
          <a:blip r:embed="rId3"/>
          <a:stretch>
            <a:fillRect/>
          </a:stretch>
        </p:blipFill>
        <p:spPr bwMode="auto">
          <a:xfrm>
            <a:off x="2349500" y="1193800"/>
            <a:ext cx="44450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FC16B6BF-E053-0F4A-EFF4-FA541A64DFD4}"/>
              </a:ext>
            </a:extLst>
          </p:cNvPr>
          <p:cNvSpPr>
            <a:spLocks noGrp="1"/>
          </p:cNvSpPr>
          <p:nvPr>
            <p:ph type="sldNum" sz="quarter" idx="12"/>
          </p:nvPr>
        </p:nvSpPr>
        <p:spPr/>
        <p:txBody>
          <a:bodyPr/>
          <a:lstStyle/>
          <a:p>
            <a:fld id="{C2E4F4E2-DEA3-44FD-BEC9-57866B7FA44A}"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period 1</a:t>
            </a:r>
          </a:p>
        </p:txBody>
      </p:sp>
      <p:graphicFrame>
        <p:nvGraphicFramePr>
          <p:cNvPr id="6" name="Content Placeholder 5"/>
          <p:cNvGraphicFramePr>
            <a:graphicFrameLocks noGrp="1"/>
          </p:cNvGraphicFramePr>
          <p:nvPr>
            <p:ph idx="1"/>
          </p:nvPr>
        </p:nvGraphicFramePr>
        <p:xfrm>
          <a:off x="457200" y="1193800"/>
          <a:ext cx="8229600" cy="1645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period1</a:t>
                      </a:r>
                    </a:p>
                  </a:txBody>
                  <a:tcPr/>
                </a:tc>
                <a:tc>
                  <a:txBody>
                    <a:bodyPr/>
                    <a:lstStyle/>
                    <a:p>
                      <a:pPr marL="0" lvl="0" indent="0">
                        <a:buNone/>
                      </a:pPr>
                      <a:r>
                        <a:t>312.3</a:t>
                      </a:r>
                    </a:p>
                  </a:txBody>
                  <a:tcPr/>
                </a:tc>
                <a:tc>
                  <a:txBody>
                    <a:bodyPr/>
                    <a:lstStyle/>
                    <a:p>
                      <a:pPr marL="0" lvl="0" indent="0">
                        <a:buNone/>
                      </a:pPr>
                      <a:r>
                        <a:t>82.8</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Larger values imply better outcomes</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ECEAD434-C109-279F-5D63-616EFA1060F1}"/>
              </a:ext>
            </a:extLst>
          </p:cNvPr>
          <p:cNvSpPr>
            <a:spLocks noGrp="1"/>
          </p:cNvSpPr>
          <p:nvPr>
            <p:ph type="sldNum" sz="quarter" idx="12"/>
          </p:nvPr>
        </p:nvSpPr>
        <p:spPr/>
        <p:txBody>
          <a:bodyPr/>
          <a:lstStyle/>
          <a:p>
            <a:fld id="{C2E4F4E2-DEA3-44FD-BEC9-57866B7FA44A}"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period 2</a:t>
            </a:r>
          </a:p>
        </p:txBody>
      </p:sp>
      <p:graphicFrame>
        <p:nvGraphicFramePr>
          <p:cNvPr id="6" name="Content Placeholder 5"/>
          <p:cNvGraphicFramePr>
            <a:graphicFrameLocks noGrp="1"/>
          </p:cNvGraphicFramePr>
          <p:nvPr>
            <p:ph idx="1"/>
          </p:nvPr>
        </p:nvGraphicFramePr>
        <p:xfrm>
          <a:off x="457200" y="1193800"/>
          <a:ext cx="8229600" cy="1645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period2</a:t>
                      </a:r>
                    </a:p>
                  </a:txBody>
                  <a:tcPr/>
                </a:tc>
                <a:tc>
                  <a:txBody>
                    <a:bodyPr/>
                    <a:lstStyle/>
                    <a:p>
                      <a:pPr marL="0" lvl="0" indent="0">
                        <a:buNone/>
                      </a:pPr>
                      <a:r>
                        <a:t>324.6</a:t>
                      </a:r>
                    </a:p>
                  </a:txBody>
                  <a:tcPr/>
                </a:tc>
                <a:tc>
                  <a:txBody>
                    <a:bodyPr/>
                    <a:lstStyle/>
                    <a:p>
                      <a:pPr marL="0" lvl="0" indent="0">
                        <a:buNone/>
                      </a:pPr>
                      <a:r>
                        <a:t>67.9</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Larger values imply better outcomes</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604464E8-A28F-C421-69B0-A68C4B1BDBF7}"/>
              </a:ext>
            </a:extLst>
          </p:cNvPr>
          <p:cNvSpPr>
            <a:spLocks noGrp="1"/>
          </p:cNvSpPr>
          <p:nvPr>
            <p:ph type="sldNum" sz="quarter" idx="12"/>
          </p:nvPr>
        </p:nvSpPr>
        <p:spPr/>
        <p:txBody>
          <a:bodyPr/>
          <a:lstStyle/>
          <a:p>
            <a:fld id="{C2E4F4E2-DEA3-44FD-BEC9-57866B7FA44A}"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period gap</a:t>
            </a:r>
          </a:p>
        </p:txBody>
      </p:sp>
      <p:graphicFrame>
        <p:nvGraphicFramePr>
          <p:cNvPr id="6" name="Content Placeholder 5"/>
          <p:cNvGraphicFramePr>
            <a:graphicFrameLocks noGrp="1"/>
          </p:cNvGraphicFramePr>
          <p:nvPr>
            <p:ph idx="1"/>
          </p:nvPr>
        </p:nvGraphicFramePr>
        <p:xfrm>
          <a:off x="457200" y="1193800"/>
          <a:ext cx="8229600" cy="1371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period_gap</a:t>
                      </a:r>
                    </a:p>
                  </a:txBody>
                  <a:tcPr/>
                </a:tc>
                <a:tc>
                  <a:txBody>
                    <a:bodyPr/>
                    <a:lstStyle/>
                    <a:p>
                      <a:pPr marL="0" lvl="0" indent="0">
                        <a:buNone/>
                      </a:pPr>
                      <a:r>
                        <a:t>12.3</a:t>
                      </a:r>
                    </a:p>
                  </a:txBody>
                  <a:tcPr/>
                </a:tc>
                <a:tc>
                  <a:txBody>
                    <a:bodyPr/>
                    <a:lstStyle/>
                    <a:p>
                      <a:pPr marL="0" lvl="0" indent="0">
                        <a:buNone/>
                      </a:pPr>
                      <a:r>
                        <a:t>61.0</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Defined as period2 - period1</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52B25F33-7D00-2DCB-3DAE-1E0C23F9D171}"/>
              </a:ext>
            </a:extLst>
          </p:cNvPr>
          <p:cNvSpPr>
            <a:spLocks noGrp="1"/>
          </p:cNvSpPr>
          <p:nvPr>
            <p:ph type="sldNum" sz="quarter" idx="12"/>
          </p:nvPr>
        </p:nvSpPr>
        <p:spPr/>
        <p:txBody>
          <a:bodyPr/>
          <a:lstStyle/>
          <a:p>
            <a:fld id="{C2E4F4E2-DEA3-44FD-BEC9-57866B7FA44A}"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formoterol</a:t>
            </a:r>
          </a:p>
        </p:txBody>
      </p:sp>
      <p:graphicFrame>
        <p:nvGraphicFramePr>
          <p:cNvPr id="6" name="Content Placeholder 5"/>
          <p:cNvGraphicFramePr>
            <a:graphicFrameLocks noGrp="1"/>
          </p:cNvGraphicFramePr>
          <p:nvPr>
            <p:ph idx="1"/>
          </p:nvPr>
        </p:nvGraphicFramePr>
        <p:xfrm>
          <a:off x="457200" y="1193800"/>
          <a:ext cx="8229600" cy="1645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formoterol</a:t>
                      </a:r>
                    </a:p>
                  </a:txBody>
                  <a:tcPr/>
                </a:tc>
                <a:tc>
                  <a:txBody>
                    <a:bodyPr/>
                    <a:lstStyle/>
                    <a:p>
                      <a:pPr marL="0" lvl="0" indent="0">
                        <a:buNone/>
                      </a:pPr>
                      <a:r>
                        <a:t>341.2</a:t>
                      </a:r>
                    </a:p>
                  </a:txBody>
                  <a:tcPr/>
                </a:tc>
                <a:tc>
                  <a:txBody>
                    <a:bodyPr/>
                    <a:lstStyle/>
                    <a:p>
                      <a:pPr marL="0" lvl="0" indent="0">
                        <a:buNone/>
                      </a:pPr>
                      <a:r>
                        <a:t>59.7</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Larger values imply better outcomes</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89DF9D6C-10AB-2509-69FE-169FE4E0DE02}"/>
              </a:ext>
            </a:extLst>
          </p:cNvPr>
          <p:cNvSpPr>
            <a:spLocks noGrp="1"/>
          </p:cNvSpPr>
          <p:nvPr>
            <p:ph type="sldNum" sz="quarter" idx="12"/>
          </p:nvPr>
        </p:nvSpPr>
        <p:spPr/>
        <p:txBody>
          <a:bodyPr/>
          <a:lstStyle/>
          <a:p>
            <a:fld id="{C2E4F4E2-DEA3-44FD-BEC9-57866B7FA44A}"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salbutamol</a:t>
            </a:r>
          </a:p>
        </p:txBody>
      </p:sp>
      <p:graphicFrame>
        <p:nvGraphicFramePr>
          <p:cNvPr id="6" name="Content Placeholder 5"/>
          <p:cNvGraphicFramePr>
            <a:graphicFrameLocks noGrp="1"/>
          </p:cNvGraphicFramePr>
          <p:nvPr>
            <p:ph idx="1"/>
          </p:nvPr>
        </p:nvGraphicFramePr>
        <p:xfrm>
          <a:off x="457200" y="1193800"/>
          <a:ext cx="8229600" cy="1645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salbutamol</a:t>
                      </a:r>
                    </a:p>
                  </a:txBody>
                  <a:tcPr/>
                </a:tc>
                <a:tc>
                  <a:txBody>
                    <a:bodyPr/>
                    <a:lstStyle/>
                    <a:p>
                      <a:pPr marL="0" lvl="0" indent="0">
                        <a:buNone/>
                      </a:pPr>
                      <a:r>
                        <a:t>295.8</a:t>
                      </a:r>
                    </a:p>
                  </a:txBody>
                  <a:tcPr/>
                </a:tc>
                <a:tc>
                  <a:txBody>
                    <a:bodyPr/>
                    <a:lstStyle/>
                    <a:p>
                      <a:pPr marL="0" lvl="0" indent="0">
                        <a:buNone/>
                      </a:pPr>
                      <a:r>
                        <a:t>82.9</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Larger values imply better outcomes</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E280CD02-21F7-C3E6-8042-DA48AA4BA20C}"/>
              </a:ext>
            </a:extLst>
          </p:cNvPr>
          <p:cNvSpPr>
            <a:spLocks noGrp="1"/>
          </p:cNvSpPr>
          <p:nvPr>
            <p:ph type="sldNum" sz="quarter" idx="12"/>
          </p:nvPr>
        </p:nvSpPr>
        <p:spPr/>
        <p:txBody>
          <a:bodyPr/>
          <a:lstStyle/>
          <a:p>
            <a:fld id="{C2E4F4E2-DEA3-44FD-BEC9-57866B7FA44A}"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 drug gap</a:t>
            </a:r>
          </a:p>
        </p:txBody>
      </p:sp>
      <p:graphicFrame>
        <p:nvGraphicFramePr>
          <p:cNvPr id="6" name="Content Placeholder 5"/>
          <p:cNvGraphicFramePr>
            <a:graphicFrameLocks noGrp="1"/>
          </p:cNvGraphicFramePr>
          <p:nvPr>
            <p:ph idx="1"/>
          </p:nvPr>
        </p:nvGraphicFramePr>
        <p:xfrm>
          <a:off x="457200" y="1193800"/>
          <a:ext cx="8229600" cy="16459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variable</a:t>
                      </a:r>
                    </a:p>
                  </a:txBody>
                  <a:tcPr/>
                </a:tc>
                <a:tc>
                  <a:txBody>
                    <a:bodyPr/>
                    <a:lstStyle/>
                    <a:p>
                      <a:pPr marL="0" lvl="0" indent="0">
                        <a:buNone/>
                      </a:pPr>
                      <a:r>
                        <a:t>mean</a:t>
                      </a:r>
                      <a:r>
                        <a:rPr baseline="30000"/>
                        <a:t>1</a:t>
                      </a:r>
                    </a:p>
                  </a:txBody>
                  <a:tcPr/>
                </a:tc>
                <a:tc>
                  <a:txBody>
                    <a:bodyPr/>
                    <a:lstStyle/>
                    <a:p>
                      <a:pPr marL="0" lvl="0" indent="0">
                        <a:buNone/>
                      </a:pPr>
                      <a:r>
                        <a:t>sd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drug_gap</a:t>
                      </a:r>
                    </a:p>
                  </a:txBody>
                  <a:tcPr/>
                </a:tc>
                <a:tc>
                  <a:txBody>
                    <a:bodyPr/>
                    <a:lstStyle/>
                    <a:p>
                      <a:pPr marL="0" lvl="0" indent="0">
                        <a:buNone/>
                      </a:pPr>
                      <a:r>
                        <a:t>45.4</a:t>
                      </a:r>
                    </a:p>
                  </a:txBody>
                  <a:tcPr/>
                </a:tc>
                <a:tc>
                  <a:txBody>
                    <a:bodyPr/>
                    <a:lstStyle/>
                    <a:p>
                      <a:pPr marL="0" lvl="0" indent="0">
                        <a:buNone/>
                      </a:pPr>
                      <a:r>
                        <a:t>40.6</a:t>
                      </a:r>
                    </a:p>
                  </a:txBody>
                  <a:tcPr/>
                </a:tc>
                <a:tc>
                  <a:txBody>
                    <a:bodyPr/>
                    <a:lstStyle/>
                    <a:p>
                      <a:pPr marL="0" lvl="0" indent="0">
                        <a:buNone/>
                      </a:pPr>
                      <a:r>
                        <a:t>13</a:t>
                      </a:r>
                    </a:p>
                  </a:txBody>
                  <a:tcPr/>
                </a:tc>
                <a:extLst>
                  <a:ext uri="{0D108BD9-81ED-4DB2-BD59-A6C34878D82A}">
                    <a16:rowId xmlns:a16="http://schemas.microsoft.com/office/drawing/2014/main" val="10001"/>
                  </a:ext>
                </a:extLst>
              </a:tr>
              <a:tr h="0">
                <a:tc>
                  <a:txBody>
                    <a:bodyPr/>
                    <a:lstStyle/>
                    <a:p>
                      <a:pPr marL="0" lvl="0" indent="0">
                        <a:buNone/>
                      </a:pPr>
                      <a:r>
                        <a:rPr baseline="30000"/>
                        <a:t>1</a:t>
                      </a:r>
                      <a:r>
                        <a:t> Defined as formoterol - salbutamol</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2376FC44-56D0-DE9D-9565-F9F35FFAC016}"/>
              </a:ext>
            </a:extLst>
          </p:cNvPr>
          <p:cNvSpPr>
            <a:spLocks noGrp="1"/>
          </p:cNvSpPr>
          <p:nvPr>
            <p:ph type="sldNum" sz="quarter" idx="12"/>
          </p:nvPr>
        </p:nvSpPr>
        <p:spPr/>
        <p:txBody>
          <a:bodyPr/>
          <a:lstStyle/>
          <a:p>
            <a:fld id="{C2E4F4E2-DEA3-44FD-BEC9-57866B7FA44A}"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Paired t-test for the AB/BA cross-over data</a:t>
            </a:r>
          </a:p>
        </p:txBody>
      </p:sp>
      <p:sp>
        <p:nvSpPr>
          <p:cNvPr id="3" name="Content Placeholder 2"/>
          <p:cNvSpPr>
            <a:spLocks noGrp="1"/>
          </p:cNvSpPr>
          <p:nvPr>
            <p:ph idx="1"/>
          </p:nvPr>
        </p:nvSpPr>
        <p:spPr/>
        <p:txBody>
          <a:bodyPr/>
          <a:lstStyle/>
          <a:p>
            <a:pPr lvl="0"/>
            <a:r>
              <a:t>Difference mean (</a:t>
            </a:r>
            <a14:m xmlns:a14="http://schemas.microsoft.com/office/drawing/2010/main">
              <m:oMath xmlns:m="http://schemas.openxmlformats.org/officeDocument/2006/math">
                <m:acc>
                  <m:accPr>
                    <m:chr m:val="‾"/>
                    <m:ctrlPr>
                      <a:rPr>
                        <a:latin typeface="Cambria Math" panose="02040503050406030204" pitchFamily="18" charset="0"/>
                      </a:rPr>
                    </m:ctrlPr>
                  </m:accPr>
                  <m:e>
                    <m:r>
                      <a:rPr>
                        <a:latin typeface="Cambria Math" panose="02040503050406030204" pitchFamily="18" charset="0"/>
                      </a:rPr>
                      <m:t>𝐷</m:t>
                    </m:r>
                  </m:e>
                </m:acc>
              </m:oMath>
            </a14:m>
            <a:r>
              <a:t>) = 45.4</a:t>
            </a:r>
          </a:p>
          <a:p>
            <a:pPr lvl="0"/>
            <a:r>
              <a:t>Difference standard deviation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oMath>
            </a14:m>
            <a:r>
              <a:t>) = 40.6</a:t>
            </a:r>
          </a:p>
          <a:p>
            <a:pPr lvl="0"/>
            <a:r>
              <a:t>Difference standard error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𝑛</m:t>
                    </m:r>
                  </m:e>
                </m:rad>
              </m:oMath>
            </a14:m>
            <a:r>
              <a:t>) = 11.3</a:t>
            </a:r>
          </a:p>
          <a:p>
            <a:pPr lvl="0"/>
            <a:r>
              <a:t>Test statistic </a:t>
            </a:r>
            <a14:m xmlns:a14="http://schemas.microsoft.com/office/drawing/2010/main">
              <m:oMath xmlns:m="http://schemas.openxmlformats.org/officeDocument/2006/math">
                <m:d>
                  <m:dPr>
                    <m:ctrlPr>
                      <a:rPr>
                        <a:latin typeface="Cambria Math" panose="02040503050406030204" pitchFamily="18" charset="0"/>
                      </a:rPr>
                    </m:ctrlPr>
                  </m:dPr>
                  <m:e>
                    <m:f>
                      <m:fPr>
                        <m:ctrlPr>
                          <a:rPr>
                            <a:latin typeface="Cambria Math" panose="02040503050406030204" pitchFamily="18" charset="0"/>
                          </a:rPr>
                        </m:ctrlPr>
                      </m:fPr>
                      <m:num>
                        <m:acc>
                          <m:accPr>
                            <m:chr m:val="‾"/>
                            <m:ctrlPr>
                              <a:rPr>
                                <a:latin typeface="Cambria Math" panose="02040503050406030204" pitchFamily="18" charset="0"/>
                              </a:rPr>
                            </m:ctrlPr>
                          </m:accPr>
                          <m:e>
                            <m:r>
                              <a:rPr>
                                <a:latin typeface="Cambria Math" panose="02040503050406030204" pitchFamily="18" charset="0"/>
                              </a:rPr>
                              <m:t>𝐷</m:t>
                            </m:r>
                          </m:e>
                        </m:acc>
                      </m:num>
                      <m:den>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𝐷</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𝑛</m:t>
                            </m:r>
                          </m:e>
                        </m:rad>
                      </m:den>
                    </m:f>
                  </m:e>
                </m:d>
              </m:oMath>
            </a14:m>
            <a:r>
              <a:t> = 4.03</a:t>
            </a:r>
          </a:p>
          <a:p>
            <a:pPr lvl="0"/>
            <a:r>
              <a:t>p&lt;0.001</a:t>
            </a:r>
          </a:p>
        </p:txBody>
      </p:sp>
      <p:sp>
        <p:nvSpPr>
          <p:cNvPr id="4" name="Slide Number Placeholder 3">
            <a:extLst>
              <a:ext uri="{FF2B5EF4-FFF2-40B4-BE49-F238E27FC236}">
                <a16:creationId xmlns:a16="http://schemas.microsoft.com/office/drawing/2014/main" id="{ADD970B2-858F-41CF-950F-F007D9DD2B69}"/>
              </a:ext>
            </a:extLst>
          </p:cNvPr>
          <p:cNvSpPr>
            <a:spLocks noGrp="1"/>
          </p:cNvSpPr>
          <p:nvPr>
            <p:ph type="sldNum" sz="quarter" idx="12"/>
          </p:nvPr>
        </p:nvSpPr>
        <p:spPr/>
        <p:txBody>
          <a:bodyPr/>
          <a:lstStyle/>
          <a:p>
            <a:fld id="{C2E4F4E2-DEA3-44FD-BEC9-57866B7FA44A}"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Analysis using a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treatment  1  13388 13388.5  16.250  0.001666 ** 
id        12 115213  9601.1  11.654 7.935e-05 ***
Residuals 12   9887   823.9                      
---
Signif. codes:  0 '***' 0.001 '**' 0.01 '*' 0.05 '.' 0.1 ' ' 1</a:t>
            </a:r>
          </a:p>
        </p:txBody>
      </p:sp>
      <p:sp>
        <p:nvSpPr>
          <p:cNvPr id="4" name="Slide Number Placeholder 3">
            <a:extLst>
              <a:ext uri="{FF2B5EF4-FFF2-40B4-BE49-F238E27FC236}">
                <a16:creationId xmlns:a16="http://schemas.microsoft.com/office/drawing/2014/main" id="{41B6347E-379C-9CE5-4354-BB4FC3B25FB4}"/>
              </a:ext>
            </a:extLst>
          </p:cNvPr>
          <p:cNvSpPr>
            <a:spLocks noGrp="1"/>
          </p:cNvSpPr>
          <p:nvPr>
            <p:ph type="sldNum" sz="quarter" idx="12"/>
          </p:nvPr>
        </p:nvSpPr>
        <p:spPr/>
        <p:txBody>
          <a:bodyPr/>
          <a:lstStyle/>
          <a:p>
            <a:fld id="{C2E4F4E2-DEA3-44FD-BEC9-57866B7FA44A}"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Break #2</a:t>
            </a:r>
          </a:p>
        </p:txBody>
      </p:sp>
      <p:sp>
        <p:nvSpPr>
          <p:cNvPr id="3" name="Content Placeholder 2"/>
          <p:cNvSpPr>
            <a:spLocks noGrp="1"/>
          </p:cNvSpPr>
          <p:nvPr>
            <p:ph idx="1"/>
          </p:nvPr>
        </p:nvSpPr>
        <p:spPr/>
        <p:txBody>
          <a:bodyPr/>
          <a:lstStyle/>
          <a:p>
            <a:pPr lvl="0"/>
            <a:r>
              <a:t>What you have learned</a:t>
            </a:r>
          </a:p>
          <a:p>
            <a:pPr lvl="1"/>
            <a:r>
              <a:t>The AB/BA cross-over</a:t>
            </a:r>
          </a:p>
          <a:p>
            <a:pPr lvl="0"/>
            <a:r>
              <a:t>What’s coming next</a:t>
            </a:r>
          </a:p>
          <a:p>
            <a:pPr lvl="1"/>
            <a:r>
              <a:t>Period effects and carry-over</a:t>
            </a:r>
          </a:p>
        </p:txBody>
      </p:sp>
      <p:sp>
        <p:nvSpPr>
          <p:cNvPr id="4" name="Slide Number Placeholder 3">
            <a:extLst>
              <a:ext uri="{FF2B5EF4-FFF2-40B4-BE49-F238E27FC236}">
                <a16:creationId xmlns:a16="http://schemas.microsoft.com/office/drawing/2014/main" id="{BE3E533E-A14E-CE06-1850-CDC557167A1A}"/>
              </a:ext>
            </a:extLst>
          </p:cNvPr>
          <p:cNvSpPr>
            <a:spLocks noGrp="1"/>
          </p:cNvSpPr>
          <p:nvPr>
            <p:ph type="sldNum" sz="quarter" idx="12"/>
          </p:nvPr>
        </p:nvSpPr>
        <p:spPr/>
        <p:txBody>
          <a:bodyPr/>
          <a:lstStyle/>
          <a:p>
            <a:fld id="{C2E4F4E2-DEA3-44FD-BEC9-57866B7FA44A}"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Accounting for period effects</a:t>
            </a:r>
          </a:p>
        </p:txBody>
      </p:sp>
      <p:sp>
        <p:nvSpPr>
          <p:cNvPr id="3" name="Content Placeholder 2"/>
          <p:cNvSpPr>
            <a:spLocks noGrp="1"/>
          </p:cNvSpPr>
          <p:nvPr>
            <p:ph idx="1"/>
          </p:nvPr>
        </p:nvSpPr>
        <p:spPr/>
        <p:txBody>
          <a:bodyPr/>
          <a:lstStyle/>
          <a:p>
            <a:pPr lvl="0"/>
            <a:r>
              <a:t>Improves precision</a:t>
            </a:r>
          </a:p>
          <a:p>
            <a:pPr lvl="0"/>
            <a:r>
              <a:t>Adjusts for imbalances</a:t>
            </a:r>
          </a:p>
          <a:p>
            <a:pPr lvl="0"/>
            <a:r>
              <a:t>Requires layout used for completely randomized block design</a:t>
            </a:r>
          </a:p>
        </p:txBody>
      </p:sp>
      <p:sp>
        <p:nvSpPr>
          <p:cNvPr id="4" name="Slide Number Placeholder 3">
            <a:extLst>
              <a:ext uri="{FF2B5EF4-FFF2-40B4-BE49-F238E27FC236}">
                <a16:creationId xmlns:a16="http://schemas.microsoft.com/office/drawing/2014/main" id="{B4F12292-5599-3B3F-F7B4-C0B83AE227B7}"/>
              </a:ext>
            </a:extLst>
          </p:cNvPr>
          <p:cNvSpPr>
            <a:spLocks noGrp="1"/>
          </p:cNvSpPr>
          <p:nvPr>
            <p:ph type="sldNum" sz="quarter" idx="12"/>
          </p:nvPr>
        </p:nvSpPr>
        <p:spPr/>
        <p:txBody>
          <a:bodyPr/>
          <a:lstStyle/>
          <a:p>
            <a:fld id="{C2E4F4E2-DEA3-44FD-BEC9-57866B7FA44A}"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might you see period effects</a:t>
            </a:r>
          </a:p>
        </p:txBody>
      </p:sp>
      <p:sp>
        <p:nvSpPr>
          <p:cNvPr id="3" name="Content Placeholder 2"/>
          <p:cNvSpPr>
            <a:spLocks noGrp="1"/>
          </p:cNvSpPr>
          <p:nvPr>
            <p:ph idx="1"/>
          </p:nvPr>
        </p:nvSpPr>
        <p:spPr/>
        <p:txBody>
          <a:bodyPr/>
          <a:lstStyle/>
          <a:p>
            <a:pPr lvl="0"/>
            <a:r>
              <a:t>Temporal trends</a:t>
            </a:r>
          </a:p>
          <a:p>
            <a:pPr lvl="1"/>
            <a:r>
              <a:t>Learning/fatigue effect</a:t>
            </a:r>
          </a:p>
          <a:p>
            <a:pPr lvl="1"/>
            <a:r>
              <a:t>Degenerative diseases, acute conditions</a:t>
            </a:r>
          </a:p>
          <a:p>
            <a:pPr lvl="1"/>
            <a:r>
              <a:t>Seasonal effects</a:t>
            </a:r>
          </a:p>
          <a:p>
            <a:pPr lvl="0"/>
            <a:r>
              <a:t>Carry-over: Persistence of a treatment applied in one period in a subsequent period of treatment</a:t>
            </a:r>
          </a:p>
          <a:p>
            <a:pPr lvl="1"/>
            <a:r>
              <a:t>Physical persistence</a:t>
            </a:r>
          </a:p>
          <a:p>
            <a:pPr lvl="1"/>
            <a:r>
              <a:t>Curative effect</a:t>
            </a:r>
          </a:p>
        </p:txBody>
      </p:sp>
      <p:sp>
        <p:nvSpPr>
          <p:cNvPr id="4" name="Slide Number Placeholder 3">
            <a:extLst>
              <a:ext uri="{FF2B5EF4-FFF2-40B4-BE49-F238E27FC236}">
                <a16:creationId xmlns:a16="http://schemas.microsoft.com/office/drawing/2014/main" id="{E253369F-2770-DAA0-4D99-369CC488821E}"/>
              </a:ext>
            </a:extLst>
          </p:cNvPr>
          <p:cNvSpPr>
            <a:spLocks noGrp="1"/>
          </p:cNvSpPr>
          <p:nvPr>
            <p:ph type="sldNum" sz="quarter" idx="12"/>
          </p:nvPr>
        </p:nvSpPr>
        <p:spPr/>
        <p:txBody>
          <a:bodyPr/>
          <a:lstStyle/>
          <a:p>
            <a:fld id="{C2E4F4E2-DEA3-44FD-BEC9-57866B7FA44A}"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Layout for asthma data</a:t>
            </a:r>
          </a:p>
        </p:txBody>
      </p:sp>
      <p:pic>
        <p:nvPicPr>
          <p:cNvPr id="3" name="Picture 1" descr="../images/asthma_3.png"/>
          <p:cNvPicPr>
            <a:picLocks noGrp="1" noChangeAspect="1"/>
          </p:cNvPicPr>
          <p:nvPr/>
        </p:nvPicPr>
        <p:blipFill>
          <a:blip r:embed="rId3"/>
          <a:stretch>
            <a:fillRect/>
          </a:stretch>
        </p:blipFill>
        <p:spPr bwMode="auto">
          <a:xfrm>
            <a:off x="2362200" y="1193800"/>
            <a:ext cx="44196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634E9F84-48D7-A0DD-F616-DC80D98AA9A6}"/>
              </a:ext>
            </a:extLst>
          </p:cNvPr>
          <p:cNvSpPr>
            <a:spLocks noGrp="1"/>
          </p:cNvSpPr>
          <p:nvPr>
            <p:ph type="sldNum" sz="quarter" idx="12"/>
          </p:nvPr>
        </p:nvSpPr>
        <p:spPr/>
        <p:txBody>
          <a:bodyPr/>
          <a:lstStyle/>
          <a:p>
            <a:fld id="{C2E4F4E2-DEA3-44FD-BEC9-57866B7FA44A}"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Counts for layout data</a:t>
            </a:r>
          </a:p>
        </p:txBody>
      </p:sp>
      <p:graphicFrame>
        <p:nvGraphicFramePr>
          <p:cNvPr id="6" name="Content Placeholder 5"/>
          <p:cNvGraphicFramePr>
            <a:graphicFrameLocks noGrp="1"/>
          </p:cNvGraphicFramePr>
          <p:nvPr>
            <p:ph idx="1"/>
          </p:nvPr>
        </p:nvGraphicFramePr>
        <p:xfrm>
          <a:off x="457200" y="1193800"/>
          <a:ext cx="8229600" cy="18288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0">
                <a:tc>
                  <a:txBody>
                    <a:bodyPr/>
                    <a:lstStyle/>
                    <a:p>
                      <a:pPr marL="0" lvl="0" indent="0">
                        <a:buNone/>
                      </a:pPr>
                      <a:r>
                        <a:t>treatment</a:t>
                      </a:r>
                    </a:p>
                  </a:txBody>
                  <a:tcPr/>
                </a:tc>
                <a:tc>
                  <a:txBody>
                    <a:bodyPr/>
                    <a:lstStyle/>
                    <a:p>
                      <a:pPr marL="0" lvl="0" indent="0">
                        <a:buNone/>
                      </a:pPr>
                      <a:r>
                        <a:t>order</a:t>
                      </a:r>
                    </a:p>
                  </a:txBody>
                  <a:tcPr/>
                </a:tc>
                <a:tc>
                  <a:txBody>
                    <a:bodyPr/>
                    <a:lstStyle/>
                    <a:p>
                      <a:pPr marL="0" lvl="0" indent="0">
                        <a:buNone/>
                      </a:pPr>
                      <a:r>
                        <a:t>period</a:t>
                      </a:r>
                    </a:p>
                  </a:txBody>
                  <a:tcPr/>
                </a:tc>
                <a:tc>
                  <a:txBody>
                    <a:bodyPr/>
                    <a:lstStyle/>
                    <a:p>
                      <a:pPr marL="0" lvl="0" indent="0">
                        <a:buNone/>
                      </a:pPr>
                      <a:r>
                        <a:t>n</a:t>
                      </a:r>
                    </a:p>
                  </a:txBody>
                  <a:tcPr/>
                </a:tc>
                <a:extLst>
                  <a:ext uri="{0D108BD9-81ED-4DB2-BD59-A6C34878D82A}">
                    <a16:rowId xmlns:a16="http://schemas.microsoft.com/office/drawing/2014/main" val="10000"/>
                  </a:ext>
                </a:extLst>
              </a:tr>
              <a:tr h="0">
                <a:tc>
                  <a:txBody>
                    <a:bodyPr/>
                    <a:lstStyle/>
                    <a:p>
                      <a:pPr marL="0" lvl="0" indent="0">
                        <a:buNone/>
                      </a:pPr>
                      <a:r>
                        <a:t>formoterol</a:t>
                      </a:r>
                    </a:p>
                  </a:txBody>
                  <a:tcPr/>
                </a:tc>
                <a:tc>
                  <a:txBody>
                    <a:bodyPr/>
                    <a:lstStyle/>
                    <a:p>
                      <a:pPr marL="0" lvl="0" indent="0">
                        <a:buNone/>
                      </a:pPr>
                      <a:r>
                        <a:t>for/sal</a:t>
                      </a:r>
                    </a:p>
                  </a:txBody>
                  <a:tcPr/>
                </a:tc>
                <a:tc>
                  <a:txBody>
                    <a:bodyPr/>
                    <a:lstStyle/>
                    <a:p>
                      <a:pPr marL="0" lvl="0" indent="0">
                        <a:buNone/>
                      </a:pPr>
                      <a:r>
                        <a:t>1</a:t>
                      </a:r>
                    </a:p>
                  </a:txBody>
                  <a:tcPr/>
                </a:tc>
                <a:tc>
                  <a:txBody>
                    <a:bodyPr/>
                    <a:lstStyle/>
                    <a:p>
                      <a:pPr marL="0" lvl="0" indent="0">
                        <a:buNone/>
                      </a:pPr>
                      <a:r>
                        <a:t>7</a:t>
                      </a:r>
                    </a:p>
                  </a:txBody>
                  <a:tcPr/>
                </a:tc>
                <a:extLst>
                  <a:ext uri="{0D108BD9-81ED-4DB2-BD59-A6C34878D82A}">
                    <a16:rowId xmlns:a16="http://schemas.microsoft.com/office/drawing/2014/main" val="10001"/>
                  </a:ext>
                </a:extLst>
              </a:tr>
              <a:tr h="0">
                <a:tc>
                  <a:txBody>
                    <a:bodyPr/>
                    <a:lstStyle/>
                    <a:p>
                      <a:pPr marL="0" lvl="0" indent="0">
                        <a:buNone/>
                      </a:pPr>
                      <a:r>
                        <a:t>formoterol</a:t>
                      </a:r>
                    </a:p>
                  </a:txBody>
                  <a:tcPr/>
                </a:tc>
                <a:tc>
                  <a:txBody>
                    <a:bodyPr/>
                    <a:lstStyle/>
                    <a:p>
                      <a:pPr marL="0" lvl="0" indent="0">
                        <a:buNone/>
                      </a:pPr>
                      <a:r>
                        <a:t>sal/for</a:t>
                      </a:r>
                    </a:p>
                  </a:txBody>
                  <a:tcPr/>
                </a:tc>
                <a:tc>
                  <a:txBody>
                    <a:bodyPr/>
                    <a:lstStyle/>
                    <a:p>
                      <a:pPr marL="0" lvl="0" indent="0">
                        <a:buNone/>
                      </a:pPr>
                      <a:r>
                        <a:t>2</a:t>
                      </a:r>
                    </a:p>
                  </a:txBody>
                  <a:tcPr/>
                </a:tc>
                <a:tc>
                  <a:txBody>
                    <a:bodyPr/>
                    <a:lstStyle/>
                    <a:p>
                      <a:pPr marL="0" lvl="0" indent="0">
                        <a:buNone/>
                      </a:pPr>
                      <a:r>
                        <a:t>6</a:t>
                      </a:r>
                    </a:p>
                  </a:txBody>
                  <a:tcPr/>
                </a:tc>
                <a:extLst>
                  <a:ext uri="{0D108BD9-81ED-4DB2-BD59-A6C34878D82A}">
                    <a16:rowId xmlns:a16="http://schemas.microsoft.com/office/drawing/2014/main" val="10002"/>
                  </a:ext>
                </a:extLst>
              </a:tr>
              <a:tr h="0">
                <a:tc>
                  <a:txBody>
                    <a:bodyPr/>
                    <a:lstStyle/>
                    <a:p>
                      <a:pPr marL="0" lvl="0" indent="0">
                        <a:buNone/>
                      </a:pPr>
                      <a:r>
                        <a:t>salbutamol</a:t>
                      </a:r>
                    </a:p>
                  </a:txBody>
                  <a:tcPr/>
                </a:tc>
                <a:tc>
                  <a:txBody>
                    <a:bodyPr/>
                    <a:lstStyle/>
                    <a:p>
                      <a:pPr marL="0" lvl="0" indent="0">
                        <a:buNone/>
                      </a:pPr>
                      <a:r>
                        <a:t>for/sal</a:t>
                      </a:r>
                    </a:p>
                  </a:txBody>
                  <a:tcPr/>
                </a:tc>
                <a:tc>
                  <a:txBody>
                    <a:bodyPr/>
                    <a:lstStyle/>
                    <a:p>
                      <a:pPr marL="0" lvl="0" indent="0">
                        <a:buNone/>
                      </a:pPr>
                      <a:r>
                        <a:t>2</a:t>
                      </a:r>
                    </a:p>
                  </a:txBody>
                  <a:tcPr/>
                </a:tc>
                <a:tc>
                  <a:txBody>
                    <a:bodyPr/>
                    <a:lstStyle/>
                    <a:p>
                      <a:pPr marL="0" lvl="0" indent="0">
                        <a:buNone/>
                      </a:pPr>
                      <a:r>
                        <a:t>7</a:t>
                      </a:r>
                    </a:p>
                  </a:txBody>
                  <a:tcPr/>
                </a:tc>
                <a:extLst>
                  <a:ext uri="{0D108BD9-81ED-4DB2-BD59-A6C34878D82A}">
                    <a16:rowId xmlns:a16="http://schemas.microsoft.com/office/drawing/2014/main" val="10003"/>
                  </a:ext>
                </a:extLst>
              </a:tr>
              <a:tr h="0">
                <a:tc>
                  <a:txBody>
                    <a:bodyPr/>
                    <a:lstStyle/>
                    <a:p>
                      <a:pPr marL="0" lvl="0" indent="0">
                        <a:buNone/>
                      </a:pPr>
                      <a:r>
                        <a:t>salbutamol</a:t>
                      </a:r>
                    </a:p>
                  </a:txBody>
                  <a:tcPr/>
                </a:tc>
                <a:tc>
                  <a:txBody>
                    <a:bodyPr/>
                    <a:lstStyle/>
                    <a:p>
                      <a:pPr marL="0" lvl="0" indent="0">
                        <a:buNone/>
                      </a:pPr>
                      <a:r>
                        <a:t>sal/for</a:t>
                      </a:r>
                    </a:p>
                  </a:txBody>
                  <a:tcPr/>
                </a:tc>
                <a:tc>
                  <a:txBody>
                    <a:bodyPr/>
                    <a:lstStyle/>
                    <a:p>
                      <a:pPr marL="0" lvl="0" indent="0">
                        <a:buNone/>
                      </a:pPr>
                      <a:r>
                        <a:t>1</a:t>
                      </a:r>
                    </a:p>
                  </a:txBody>
                  <a:tcPr/>
                </a:tc>
                <a:tc>
                  <a:txBody>
                    <a:bodyPr/>
                    <a:lstStyle/>
                    <a:p>
                      <a:pPr marL="0" lvl="0" indent="0">
                        <a:buNone/>
                      </a:pPr>
                      <a:r>
                        <a:t>6</a:t>
                      </a:r>
                    </a:p>
                  </a:txBody>
                  <a:tcPr/>
                </a:tc>
                <a:extLst>
                  <a:ext uri="{0D108BD9-81ED-4DB2-BD59-A6C34878D82A}">
                    <a16:rowId xmlns:a16="http://schemas.microsoft.com/office/drawing/2014/main" val="10004"/>
                  </a:ext>
                </a:extLst>
              </a:tr>
            </a:tbl>
          </a:graphicData>
        </a:graphic>
      </p:graphicFrame>
      <p:sp>
        <p:nvSpPr>
          <p:cNvPr id="3" name="Slide Number Placeholder 2">
            <a:extLst>
              <a:ext uri="{FF2B5EF4-FFF2-40B4-BE49-F238E27FC236}">
                <a16:creationId xmlns:a16="http://schemas.microsoft.com/office/drawing/2014/main" id="{89D11540-F7C9-52FD-D06A-6A0BF5B0CBAA}"/>
              </a:ext>
            </a:extLst>
          </p:cNvPr>
          <p:cNvSpPr>
            <a:spLocks noGrp="1"/>
          </p:cNvSpPr>
          <p:nvPr>
            <p:ph type="sldNum" sz="quarter" idx="12"/>
          </p:nvPr>
        </p:nvSpPr>
        <p:spPr/>
        <p:txBody>
          <a:bodyPr/>
          <a:lstStyle/>
          <a:p>
            <a:fld id="{C2E4F4E2-DEA3-44FD-BEC9-57866B7FA44A}"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Period by order means</a:t>
            </a:r>
          </a:p>
        </p:txBody>
      </p:sp>
      <p:graphicFrame>
        <p:nvGraphicFramePr>
          <p:cNvPr id="6" name="Content Placeholder 5"/>
          <p:cNvGraphicFramePr>
            <a:graphicFrameLocks noGrp="1"/>
          </p:cNvGraphicFramePr>
          <p:nvPr>
            <p:ph idx="1"/>
          </p:nvPr>
        </p:nvGraphicFramePr>
        <p:xfrm>
          <a:off x="457200" y="1193800"/>
          <a:ext cx="8229600" cy="10972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order</a:t>
                      </a:r>
                    </a:p>
                  </a:txBody>
                  <a:tcPr/>
                </a:tc>
                <a:tc>
                  <a:txBody>
                    <a:bodyPr/>
                    <a:lstStyle/>
                    <a:p>
                      <a:pPr marL="0" lvl="0" indent="0">
                        <a:buNone/>
                      </a:pPr>
                      <a:r>
                        <a:t>period1_mean</a:t>
                      </a:r>
                    </a:p>
                  </a:txBody>
                  <a:tcPr/>
                </a:tc>
                <a:tc>
                  <a:txBody>
                    <a:bodyPr/>
                    <a:lstStyle/>
                    <a:p>
                      <a:pPr marL="0" lvl="0" indent="0">
                        <a:buNone/>
                      </a:pPr>
                      <a:r>
                        <a:t>period2_mean</a:t>
                      </a:r>
                    </a:p>
                  </a:txBody>
                  <a:tcPr/>
                </a:tc>
                <a:extLst>
                  <a:ext uri="{0D108BD9-81ED-4DB2-BD59-A6C34878D82A}">
                    <a16:rowId xmlns:a16="http://schemas.microsoft.com/office/drawing/2014/main" val="10000"/>
                  </a:ext>
                </a:extLst>
              </a:tr>
              <a:tr h="0">
                <a:tc>
                  <a:txBody>
                    <a:bodyPr/>
                    <a:lstStyle/>
                    <a:p>
                      <a:pPr marL="0" lvl="0" indent="0">
                        <a:buNone/>
                      </a:pPr>
                      <a:r>
                        <a:t>for/sal</a:t>
                      </a:r>
                    </a:p>
                  </a:txBody>
                  <a:tcPr/>
                </a:tc>
                <a:tc>
                  <a:txBody>
                    <a:bodyPr/>
                    <a:lstStyle/>
                    <a:p>
                      <a:pPr marL="0" lvl="0" indent="0">
                        <a:buNone/>
                      </a:pPr>
                      <a:r>
                        <a:t>337</a:t>
                      </a:r>
                    </a:p>
                  </a:txBody>
                  <a:tcPr/>
                </a:tc>
                <a:tc>
                  <a:txBody>
                    <a:bodyPr/>
                    <a:lstStyle/>
                    <a:p>
                      <a:pPr marL="0" lvl="0" indent="0">
                        <a:buNone/>
                      </a:pPr>
                      <a:r>
                        <a:t>306</a:t>
                      </a:r>
                    </a:p>
                  </a:txBody>
                  <a:tcPr/>
                </a:tc>
                <a:extLst>
                  <a:ext uri="{0D108BD9-81ED-4DB2-BD59-A6C34878D82A}">
                    <a16:rowId xmlns:a16="http://schemas.microsoft.com/office/drawing/2014/main" val="10001"/>
                  </a:ext>
                </a:extLst>
              </a:tr>
              <a:tr h="0">
                <a:tc>
                  <a:txBody>
                    <a:bodyPr/>
                    <a:lstStyle/>
                    <a:p>
                      <a:pPr marL="0" lvl="0" indent="0">
                        <a:buNone/>
                      </a:pPr>
                      <a:r>
                        <a:t>sal/for</a:t>
                      </a:r>
                    </a:p>
                  </a:txBody>
                  <a:tcPr/>
                </a:tc>
                <a:tc>
                  <a:txBody>
                    <a:bodyPr/>
                    <a:lstStyle/>
                    <a:p>
                      <a:pPr marL="0" lvl="0" indent="0">
                        <a:buNone/>
                      </a:pPr>
                      <a:r>
                        <a:t>283</a:t>
                      </a:r>
                    </a:p>
                  </a:txBody>
                  <a:tcPr/>
                </a:tc>
                <a:tc>
                  <a:txBody>
                    <a:bodyPr/>
                    <a:lstStyle/>
                    <a:p>
                      <a:pPr marL="0" lvl="0" indent="0">
                        <a:buNone/>
                      </a:pPr>
                      <a:r>
                        <a:t>346</a:t>
                      </a: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16ACDB25-33AF-66B6-F140-1DE017671160}"/>
              </a:ext>
            </a:extLst>
          </p:cNvPr>
          <p:cNvSpPr>
            <a:spLocks noGrp="1"/>
          </p:cNvSpPr>
          <p:nvPr>
            <p:ph type="sldNum" sz="quarter" idx="12"/>
          </p:nvPr>
        </p:nvSpPr>
        <p:spPr/>
        <p:txBody>
          <a:bodyPr/>
          <a:lstStyle/>
          <a:p>
            <a:fld id="{C2E4F4E2-DEA3-44FD-BEC9-57866B7FA44A}"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Period by order plot</a:t>
            </a:r>
          </a:p>
        </p:txBody>
      </p:sp>
      <p:pic>
        <p:nvPicPr>
          <p:cNvPr id="3" name="Picture 1" descr="cross-over_files/figure-pptx/unnamed-chunk-2-1.png"/>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58EB3429-0F7D-475E-90EC-00B946233701}"/>
              </a:ext>
            </a:extLst>
          </p:cNvPr>
          <p:cNvSpPr>
            <a:spLocks noGrp="1"/>
          </p:cNvSpPr>
          <p:nvPr>
            <p:ph type="sldNum" sz="quarter" idx="12"/>
          </p:nvPr>
        </p:nvSpPr>
        <p:spPr/>
        <p:txBody>
          <a:bodyPr/>
          <a:lstStyle/>
          <a:p>
            <a:fld id="{C2E4F4E2-DEA3-44FD-BEC9-57866B7FA44A}"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this graph would look like without a period effect</a:t>
            </a:r>
          </a:p>
        </p:txBody>
      </p:sp>
      <p:pic>
        <p:nvPicPr>
          <p:cNvPr id="3" name="Picture 1" descr="cross-over_files/figure-pptx/no-period-1-1.png"/>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404036E2-77BB-5FB4-21FF-D012B52EC960}"/>
              </a:ext>
            </a:extLst>
          </p:cNvPr>
          <p:cNvSpPr>
            <a:spLocks noGrp="1"/>
          </p:cNvSpPr>
          <p:nvPr>
            <p:ph type="sldNum" sz="quarter" idx="12"/>
          </p:nvPr>
        </p:nvSpPr>
        <p:spPr/>
        <p:txBody>
          <a:bodyPr/>
          <a:lstStyle/>
          <a:p>
            <a:fld id="{C2E4F4E2-DEA3-44FD-BEC9-57866B7FA44A}"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Treatment by order means</a:t>
            </a:r>
          </a:p>
        </p:txBody>
      </p:sp>
      <p:graphicFrame>
        <p:nvGraphicFramePr>
          <p:cNvPr id="6" name="Content Placeholder 5"/>
          <p:cNvGraphicFramePr>
            <a:graphicFrameLocks noGrp="1"/>
          </p:cNvGraphicFramePr>
          <p:nvPr>
            <p:ph idx="1"/>
          </p:nvPr>
        </p:nvGraphicFramePr>
        <p:xfrm>
          <a:off x="457200" y="1193800"/>
          <a:ext cx="8229600" cy="10972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order</a:t>
                      </a:r>
                    </a:p>
                  </a:txBody>
                  <a:tcPr/>
                </a:tc>
                <a:tc>
                  <a:txBody>
                    <a:bodyPr/>
                    <a:lstStyle/>
                    <a:p>
                      <a:pPr marL="0" lvl="0" indent="0">
                        <a:buNone/>
                      </a:pPr>
                      <a:r>
                        <a:t>formoterol_mean</a:t>
                      </a:r>
                    </a:p>
                  </a:txBody>
                  <a:tcPr/>
                </a:tc>
                <a:tc>
                  <a:txBody>
                    <a:bodyPr/>
                    <a:lstStyle/>
                    <a:p>
                      <a:pPr marL="0" lvl="0" indent="0">
                        <a:buNone/>
                      </a:pPr>
                      <a:r>
                        <a:t>salbutamol_mean</a:t>
                      </a:r>
                    </a:p>
                  </a:txBody>
                  <a:tcPr/>
                </a:tc>
                <a:extLst>
                  <a:ext uri="{0D108BD9-81ED-4DB2-BD59-A6C34878D82A}">
                    <a16:rowId xmlns:a16="http://schemas.microsoft.com/office/drawing/2014/main" val="10000"/>
                  </a:ext>
                </a:extLst>
              </a:tr>
              <a:tr h="0">
                <a:tc>
                  <a:txBody>
                    <a:bodyPr/>
                    <a:lstStyle/>
                    <a:p>
                      <a:pPr marL="0" lvl="0" indent="0">
                        <a:buNone/>
                      </a:pPr>
                      <a:r>
                        <a:t>for/sal</a:t>
                      </a:r>
                    </a:p>
                  </a:txBody>
                  <a:tcPr/>
                </a:tc>
                <a:tc>
                  <a:txBody>
                    <a:bodyPr/>
                    <a:lstStyle/>
                    <a:p>
                      <a:pPr marL="0" lvl="0" indent="0">
                        <a:buNone/>
                      </a:pPr>
                      <a:r>
                        <a:t>337</a:t>
                      </a:r>
                    </a:p>
                  </a:txBody>
                  <a:tcPr/>
                </a:tc>
                <a:tc>
                  <a:txBody>
                    <a:bodyPr/>
                    <a:lstStyle/>
                    <a:p>
                      <a:pPr marL="0" lvl="0" indent="0">
                        <a:buNone/>
                      </a:pPr>
                      <a:r>
                        <a:t>306</a:t>
                      </a:r>
                    </a:p>
                  </a:txBody>
                  <a:tcPr/>
                </a:tc>
                <a:extLst>
                  <a:ext uri="{0D108BD9-81ED-4DB2-BD59-A6C34878D82A}">
                    <a16:rowId xmlns:a16="http://schemas.microsoft.com/office/drawing/2014/main" val="10001"/>
                  </a:ext>
                </a:extLst>
              </a:tr>
              <a:tr h="0">
                <a:tc>
                  <a:txBody>
                    <a:bodyPr/>
                    <a:lstStyle/>
                    <a:p>
                      <a:pPr marL="0" lvl="0" indent="0">
                        <a:buNone/>
                      </a:pPr>
                      <a:r>
                        <a:t>sal/for</a:t>
                      </a:r>
                    </a:p>
                  </a:txBody>
                  <a:tcPr/>
                </a:tc>
                <a:tc>
                  <a:txBody>
                    <a:bodyPr/>
                    <a:lstStyle/>
                    <a:p>
                      <a:pPr marL="0" lvl="0" indent="0">
                        <a:buNone/>
                      </a:pPr>
                      <a:r>
                        <a:t>346</a:t>
                      </a:r>
                    </a:p>
                  </a:txBody>
                  <a:tcPr/>
                </a:tc>
                <a:tc>
                  <a:txBody>
                    <a:bodyPr/>
                    <a:lstStyle/>
                    <a:p>
                      <a:pPr marL="0" lvl="0" indent="0">
                        <a:buNone/>
                      </a:pPr>
                      <a:r>
                        <a:t>283</a:t>
                      </a: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5E4F6C82-44A7-E551-936D-A5A6FD4DBD06}"/>
              </a:ext>
            </a:extLst>
          </p:cNvPr>
          <p:cNvSpPr>
            <a:spLocks noGrp="1"/>
          </p:cNvSpPr>
          <p:nvPr>
            <p:ph type="sldNum" sz="quarter" idx="12"/>
          </p:nvPr>
        </p:nvSpPr>
        <p:spPr/>
        <p:txBody>
          <a:bodyPr/>
          <a:lstStyle/>
          <a:p>
            <a:fld id="{C2E4F4E2-DEA3-44FD-BEC9-57866B7FA44A}"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Treatment by order plot</a:t>
            </a:r>
          </a:p>
        </p:txBody>
      </p:sp>
      <p:pic>
        <p:nvPicPr>
          <p:cNvPr id="3" name="Picture 1" descr="cross-over_files/figure-pptx/03-order-plot-1.png"/>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3C393C53-0E7D-1896-65E5-AF822AFC9E60}"/>
              </a:ext>
            </a:extLst>
          </p:cNvPr>
          <p:cNvSpPr>
            <a:spLocks noGrp="1"/>
          </p:cNvSpPr>
          <p:nvPr>
            <p:ph type="sldNum" sz="quarter" idx="12"/>
          </p:nvPr>
        </p:nvSpPr>
        <p:spPr/>
        <p:txBody>
          <a:bodyPr/>
          <a:lstStyle/>
          <a:p>
            <a:fld id="{C2E4F4E2-DEA3-44FD-BEC9-57866B7FA44A}"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this graph would look like without a period effect</a:t>
            </a:r>
          </a:p>
        </p:txBody>
      </p:sp>
      <p:pic>
        <p:nvPicPr>
          <p:cNvPr id="3" name="Picture 1" descr="cross-over_files/figure-pptx/no-period-2-1.png"/>
          <p:cNvPicPr>
            <a:picLocks noGrp="1" noChangeAspect="1"/>
          </p:cNvPicPr>
          <p:nvPr/>
        </p:nvPicPr>
        <p:blipFill>
          <a:blip r:embed="rId3"/>
          <a:stretch>
            <a:fillRect/>
          </a:stretch>
        </p:blipFill>
        <p:spPr bwMode="auto">
          <a:xfrm>
            <a:off x="1181100" y="1193800"/>
            <a:ext cx="6781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C0CA66A6-0932-430F-C1A3-BD8890829E9C}"/>
              </a:ext>
            </a:extLst>
          </p:cNvPr>
          <p:cNvSpPr>
            <a:spLocks noGrp="1"/>
          </p:cNvSpPr>
          <p:nvPr>
            <p:ph type="sldNum" sz="quarter" idx="12"/>
          </p:nvPr>
        </p:nvSpPr>
        <p:spPr/>
        <p:txBody>
          <a:bodyPr/>
          <a:lstStyle/>
          <a:p>
            <a:fld id="{C2E4F4E2-DEA3-44FD-BEC9-57866B7FA44A}"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Accounting for period effects</a:t>
            </a:r>
          </a:p>
        </p:txBody>
      </p:sp>
      <p:sp>
        <p:nvSpPr>
          <p:cNvPr id="3" name="Content Placeholder 2"/>
          <p:cNvSpPr>
            <a:spLocks noGrp="1"/>
          </p:cNvSpPr>
          <p:nvPr>
            <p:ph idx="1"/>
          </p:nvPr>
        </p:nvSpPr>
        <p:spPr/>
        <p:txBody>
          <a:bodyPr>
            <a:normAutofit fontScale="92500" lnSpcReduction="20000"/>
          </a:bodyPr>
          <a:lstStyle/>
          <a:p>
            <a:pPr lvl="0" indent="0">
              <a:buNone/>
            </a:pPr>
            <a:r>
              <a:rPr>
                <a:latin typeface="Courier"/>
              </a:rPr>
              <a:t>Analysis of Variance Table
Response: pef
          Df Sum Sq Mean Sq F value    Pr(&gt;F)    
order      1    335   335.2  0.4467  0.517697    
id        11 114878 10443.5 13.9171 6.495e-05 ***
period     1    985   984.6  1.3121  0.276323    
treatment  1  14036 14035.9 18.7044  0.001205 ** 
Residuals 11   8254   750.4                      
---
Signif. codes:  0 '***' 0.001 '**' 0.01 '*' 0.05 '.' 0.1 ' ' 1</a:t>
            </a:r>
          </a:p>
        </p:txBody>
      </p:sp>
      <p:sp>
        <p:nvSpPr>
          <p:cNvPr id="4" name="Slide Number Placeholder 3">
            <a:extLst>
              <a:ext uri="{FF2B5EF4-FFF2-40B4-BE49-F238E27FC236}">
                <a16:creationId xmlns:a16="http://schemas.microsoft.com/office/drawing/2014/main" id="{C5396CD6-F84B-2E44-990C-E1B3C228B582}"/>
              </a:ext>
            </a:extLst>
          </p:cNvPr>
          <p:cNvSpPr>
            <a:spLocks noGrp="1"/>
          </p:cNvSpPr>
          <p:nvPr>
            <p:ph type="sldNum" sz="quarter" idx="12"/>
          </p:nvPr>
        </p:nvSpPr>
        <p:spPr/>
        <p:txBody>
          <a:bodyPr/>
          <a:lstStyle/>
          <a:p>
            <a:fld id="{C2E4F4E2-DEA3-44FD-BEC9-57866B7FA44A}"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Details on the period model</a:t>
            </a:r>
          </a:p>
        </p:txBody>
      </p:sp>
      <p:sp>
        <p:nvSpPr>
          <p:cNvPr id="3" name="Content Placeholder 2"/>
          <p:cNvSpPr>
            <a:spLocks noGrp="1"/>
          </p:cNvSpPr>
          <p:nvPr>
            <p:ph idx="1"/>
          </p:nvPr>
        </p:nvSpPr>
        <p:spPr/>
        <p:txBody>
          <a:bodyPr/>
          <a:lstStyle/>
          <a:p>
            <a:pPr lvl="0"/>
            <a:r>
              <a:t>id is nested within order</a:t>
            </a:r>
          </a:p>
          <a:p>
            <a:pPr lvl="0"/>
            <a:r>
              <a:t>id is a random effect</a:t>
            </a:r>
          </a:p>
          <a:p>
            <a:pPr lvl="1"/>
            <a:r>
              <a:t>Test of order should be MS(order)/MS(id)</a:t>
            </a:r>
          </a:p>
          <a:p>
            <a:pPr lvl="0"/>
            <a:r>
              <a:t>Use partial (Type III) sums of squares if unbalanced</a:t>
            </a:r>
          </a:p>
        </p:txBody>
      </p:sp>
      <p:sp>
        <p:nvSpPr>
          <p:cNvPr id="4" name="Slide Number Placeholder 3">
            <a:extLst>
              <a:ext uri="{FF2B5EF4-FFF2-40B4-BE49-F238E27FC236}">
                <a16:creationId xmlns:a16="http://schemas.microsoft.com/office/drawing/2014/main" id="{61847707-E1EE-2519-B1C7-D69BA7933D5F}"/>
              </a:ext>
            </a:extLst>
          </p:cNvPr>
          <p:cNvSpPr>
            <a:spLocks noGrp="1"/>
          </p:cNvSpPr>
          <p:nvPr>
            <p:ph type="sldNum" sz="quarter" idx="12"/>
          </p:nvPr>
        </p:nvSpPr>
        <p:spPr/>
        <p:txBody>
          <a:bodyPr/>
          <a:lstStyle/>
          <a:p>
            <a:fld id="{C2E4F4E2-DEA3-44FD-BEC9-57866B7FA44A}"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Break #3</a:t>
            </a:r>
          </a:p>
        </p:txBody>
      </p:sp>
      <p:sp>
        <p:nvSpPr>
          <p:cNvPr id="3" name="Content Placeholder 2"/>
          <p:cNvSpPr>
            <a:spLocks noGrp="1"/>
          </p:cNvSpPr>
          <p:nvPr>
            <p:ph idx="1"/>
          </p:nvPr>
        </p:nvSpPr>
        <p:spPr/>
        <p:txBody>
          <a:bodyPr/>
          <a:lstStyle/>
          <a:p>
            <a:pPr lvl="0"/>
            <a:r>
              <a:t>What you have learned</a:t>
            </a:r>
          </a:p>
          <a:p>
            <a:pPr lvl="1"/>
            <a:r>
              <a:t>Period effects and carry-over</a:t>
            </a:r>
          </a:p>
          <a:p>
            <a:pPr lvl="0"/>
            <a:r>
              <a:t>What’s coming next</a:t>
            </a:r>
          </a:p>
          <a:p>
            <a:pPr lvl="1"/>
            <a:r>
              <a:t>When should you use or not use a cross-over</a:t>
            </a:r>
          </a:p>
        </p:txBody>
      </p:sp>
      <p:sp>
        <p:nvSpPr>
          <p:cNvPr id="4" name="Slide Number Placeholder 3">
            <a:extLst>
              <a:ext uri="{FF2B5EF4-FFF2-40B4-BE49-F238E27FC236}">
                <a16:creationId xmlns:a16="http://schemas.microsoft.com/office/drawing/2014/main" id="{3FFBB33D-96E6-54FA-A957-AE589FBB958A}"/>
              </a:ext>
            </a:extLst>
          </p:cNvPr>
          <p:cNvSpPr>
            <a:spLocks noGrp="1"/>
          </p:cNvSpPr>
          <p:nvPr>
            <p:ph type="sldNum" sz="quarter" idx="12"/>
          </p:nvPr>
        </p:nvSpPr>
        <p:spPr/>
        <p:txBody>
          <a:bodyPr/>
          <a:lstStyle/>
          <a:p>
            <a:fld id="{C2E4F4E2-DEA3-44FD-BEC9-57866B7FA44A}"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Systematic overview of parachute use</a:t>
            </a:r>
          </a:p>
        </p:txBody>
      </p:sp>
      <p:pic>
        <p:nvPicPr>
          <p:cNvPr id="3" name="Picture 1" descr="../images/smith.png"/>
          <p:cNvPicPr>
            <a:picLocks noGrp="1" noChangeAspect="1"/>
          </p:cNvPicPr>
          <p:nvPr/>
        </p:nvPicPr>
        <p:blipFill>
          <a:blip r:embed="rId3"/>
          <a:stretch>
            <a:fillRect/>
          </a:stretch>
        </p:blipFill>
        <p:spPr bwMode="auto">
          <a:xfrm>
            <a:off x="1600200" y="1193800"/>
            <a:ext cx="59563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B720C186-2095-2BA4-4B91-E81B8B48C43B}"/>
              </a:ext>
            </a:extLst>
          </p:cNvPr>
          <p:cNvSpPr>
            <a:spLocks noGrp="1"/>
          </p:cNvSpPr>
          <p:nvPr>
            <p:ph type="sldNum" sz="quarter" idx="12"/>
          </p:nvPr>
        </p:nvSpPr>
        <p:spPr/>
        <p:txBody>
          <a:bodyPr/>
          <a:lstStyle/>
          <a:p>
            <a:fld id="{C2E4F4E2-DEA3-44FD-BEC9-57866B7FA44A}"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When you cannot use a cross-over trial</a:t>
            </a:r>
          </a:p>
        </p:txBody>
      </p:sp>
      <p:sp>
        <p:nvSpPr>
          <p:cNvPr id="3" name="Content Placeholder 2"/>
          <p:cNvSpPr>
            <a:spLocks noGrp="1"/>
          </p:cNvSpPr>
          <p:nvPr>
            <p:ph idx="1"/>
          </p:nvPr>
        </p:nvSpPr>
        <p:spPr/>
        <p:txBody>
          <a:bodyPr/>
          <a:lstStyle/>
          <a:p>
            <a:pPr lvl="0"/>
            <a:r>
              <a:t>Acute conditions</a:t>
            </a:r>
          </a:p>
          <a:p>
            <a:pPr lvl="0"/>
            <a:r>
              <a:t>Mortality and other irreversible events</a:t>
            </a:r>
          </a:p>
          <a:p>
            <a:pPr lvl="0"/>
            <a:r>
              <a:t>Training/education</a:t>
            </a:r>
          </a:p>
          <a:p>
            <a:pPr lvl="0"/>
            <a:r>
              <a:t>Irreversible treatments</a:t>
            </a:r>
          </a:p>
          <a:p>
            <a:pPr lvl="0"/>
            <a:r>
              <a:t>Persistent effects</a:t>
            </a:r>
          </a:p>
        </p:txBody>
      </p:sp>
      <p:sp>
        <p:nvSpPr>
          <p:cNvPr id="4" name="Slide Number Placeholder 3">
            <a:extLst>
              <a:ext uri="{FF2B5EF4-FFF2-40B4-BE49-F238E27FC236}">
                <a16:creationId xmlns:a16="http://schemas.microsoft.com/office/drawing/2014/main" id="{D59F12ED-DEF2-18BF-58B9-6200E8D3EB3C}"/>
              </a:ext>
            </a:extLst>
          </p:cNvPr>
          <p:cNvSpPr>
            <a:spLocks noGrp="1"/>
          </p:cNvSpPr>
          <p:nvPr>
            <p:ph type="sldNum" sz="quarter" idx="12"/>
          </p:nvPr>
        </p:nvSpPr>
        <p:spPr/>
        <p:txBody>
          <a:bodyPr/>
          <a:lstStyle/>
          <a:p>
            <a:fld id="{C2E4F4E2-DEA3-44FD-BEC9-57866B7FA44A}"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When you can use a cross-over trial</a:t>
            </a:r>
          </a:p>
        </p:txBody>
      </p:sp>
      <p:sp>
        <p:nvSpPr>
          <p:cNvPr id="3" name="Content Placeholder 2"/>
          <p:cNvSpPr>
            <a:spLocks noGrp="1"/>
          </p:cNvSpPr>
          <p:nvPr>
            <p:ph idx="1"/>
          </p:nvPr>
        </p:nvSpPr>
        <p:spPr/>
        <p:txBody>
          <a:bodyPr/>
          <a:lstStyle/>
          <a:p>
            <a:pPr lvl="0"/>
            <a:r>
              <a:t>Chronic conditions</a:t>
            </a:r>
          </a:p>
          <a:p>
            <a:pPr lvl="0"/>
            <a:r>
              <a:t>Short-term benefits</a:t>
            </a:r>
          </a:p>
          <a:p>
            <a:pPr lvl="0"/>
            <a:r>
              <a:t>Adequate wash-out period</a:t>
            </a:r>
          </a:p>
          <a:p>
            <a:pPr lvl="1"/>
            <a:r>
              <a:t>Drugs with a short half-life</a:t>
            </a:r>
          </a:p>
        </p:txBody>
      </p:sp>
      <p:sp>
        <p:nvSpPr>
          <p:cNvPr id="4" name="Slide Number Placeholder 3">
            <a:extLst>
              <a:ext uri="{FF2B5EF4-FFF2-40B4-BE49-F238E27FC236}">
                <a16:creationId xmlns:a16="http://schemas.microsoft.com/office/drawing/2014/main" id="{837EE180-0A97-5991-8F7B-606EE4D31A3F}"/>
              </a:ext>
            </a:extLst>
          </p:cNvPr>
          <p:cNvSpPr>
            <a:spLocks noGrp="1"/>
          </p:cNvSpPr>
          <p:nvPr>
            <p:ph type="sldNum" sz="quarter" idx="12"/>
          </p:nvPr>
        </p:nvSpPr>
        <p:spPr/>
        <p:txBody>
          <a:bodyPr/>
          <a:lstStyle/>
          <a:p>
            <a:fld id="{C2E4F4E2-DEA3-44FD-BEC9-57866B7FA44A}"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Practical and ethical concerns</a:t>
            </a:r>
          </a:p>
        </p:txBody>
      </p:sp>
      <p:sp>
        <p:nvSpPr>
          <p:cNvPr id="3" name="Content Placeholder 2"/>
          <p:cNvSpPr>
            <a:spLocks noGrp="1"/>
          </p:cNvSpPr>
          <p:nvPr>
            <p:ph idx="1"/>
          </p:nvPr>
        </p:nvSpPr>
        <p:spPr/>
        <p:txBody>
          <a:bodyPr/>
          <a:lstStyle/>
          <a:p>
            <a:pPr lvl="0"/>
            <a:r>
              <a:t>Can you ask a patient to endure two treatments?</a:t>
            </a:r>
          </a:p>
          <a:p>
            <a:pPr lvl="0"/>
            <a:r>
              <a:t>Do you have enough time to run two treatments in succession?</a:t>
            </a:r>
          </a:p>
          <a:p>
            <a:pPr lvl="0"/>
            <a:r>
              <a:t>Can you leave the patient untreated during the wash-out period?</a:t>
            </a:r>
          </a:p>
        </p:txBody>
      </p:sp>
      <p:sp>
        <p:nvSpPr>
          <p:cNvPr id="4" name="Slide Number Placeholder 3">
            <a:extLst>
              <a:ext uri="{FF2B5EF4-FFF2-40B4-BE49-F238E27FC236}">
                <a16:creationId xmlns:a16="http://schemas.microsoft.com/office/drawing/2014/main" id="{16936571-0C71-59E4-D69E-C11820831939}"/>
              </a:ext>
            </a:extLst>
          </p:cNvPr>
          <p:cNvSpPr>
            <a:spLocks noGrp="1"/>
          </p:cNvSpPr>
          <p:nvPr>
            <p:ph type="sldNum" sz="quarter" idx="12"/>
          </p:nvPr>
        </p:nvSpPr>
        <p:spPr/>
        <p:txBody>
          <a:bodyPr/>
          <a:lstStyle/>
          <a:p>
            <a:fld id="{C2E4F4E2-DEA3-44FD-BEC9-57866B7FA44A}"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if you have a carry-over effect?</a:t>
            </a:r>
          </a:p>
        </p:txBody>
      </p:sp>
      <p:sp>
        <p:nvSpPr>
          <p:cNvPr id="3" name="Content Placeholder 2"/>
          <p:cNvSpPr>
            <a:spLocks noGrp="1"/>
          </p:cNvSpPr>
          <p:nvPr>
            <p:ph idx="1"/>
          </p:nvPr>
        </p:nvSpPr>
        <p:spPr/>
        <p:txBody>
          <a:bodyPr/>
          <a:lstStyle/>
          <a:p>
            <a:pPr lvl="0"/>
            <a:r>
              <a:rPr dirty="0"/>
              <a:t>No easy answer</a:t>
            </a:r>
          </a:p>
          <a:p>
            <a:pPr lvl="1"/>
            <a:r>
              <a:rPr dirty="0"/>
              <a:t>Adjustments have poor power</a:t>
            </a:r>
          </a:p>
          <a:p>
            <a:pPr lvl="1"/>
            <a:r>
              <a:rPr dirty="0"/>
              <a:t>Between subject comparison</a:t>
            </a:r>
          </a:p>
          <a:p>
            <a:pPr lvl="0"/>
            <a:r>
              <a:rPr dirty="0"/>
              <a:t>Unclear where to make adjustments</a:t>
            </a:r>
          </a:p>
          <a:p>
            <a:pPr lvl="1"/>
            <a:r>
              <a:rPr dirty="0"/>
              <a:t>Active treatment versus placebo:</a:t>
            </a:r>
          </a:p>
          <a:p>
            <a:pPr lvl="2"/>
            <a:r>
              <a:rPr dirty="0"/>
              <a:t>Assign the carry-over to placebo</a:t>
            </a:r>
          </a:p>
          <a:p>
            <a:pPr lvl="1"/>
            <a:r>
              <a:rPr dirty="0"/>
              <a:t>Two active treatments:</a:t>
            </a:r>
          </a:p>
          <a:p>
            <a:pPr lvl="2"/>
            <a:r>
              <a:rPr dirty="0"/>
              <a:t>Split the difference</a:t>
            </a:r>
          </a:p>
          <a:p>
            <a:pPr lvl="1"/>
            <a:r>
              <a:rPr dirty="0"/>
              <a:t>Carry-over could a temporal trend instead</a:t>
            </a:r>
          </a:p>
        </p:txBody>
      </p:sp>
      <p:sp>
        <p:nvSpPr>
          <p:cNvPr id="4" name="Slide Number Placeholder 3">
            <a:extLst>
              <a:ext uri="{FF2B5EF4-FFF2-40B4-BE49-F238E27FC236}">
                <a16:creationId xmlns:a16="http://schemas.microsoft.com/office/drawing/2014/main" id="{0C1745D2-B117-D02A-4D0A-8EE86884AE2E}"/>
              </a:ext>
            </a:extLst>
          </p:cNvPr>
          <p:cNvSpPr>
            <a:spLocks noGrp="1"/>
          </p:cNvSpPr>
          <p:nvPr>
            <p:ph type="sldNum" sz="quarter" idx="12"/>
          </p:nvPr>
        </p:nvSpPr>
        <p:spPr/>
        <p:txBody>
          <a:bodyPr/>
          <a:lstStyle/>
          <a:p>
            <a:fld id="{C2E4F4E2-DEA3-44FD-BEC9-57866B7FA44A}"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Change test if carry-over is detected</a:t>
            </a:r>
          </a:p>
        </p:txBody>
      </p:sp>
      <p:sp>
        <p:nvSpPr>
          <p:cNvPr id="3" name="Content Placeholder 2"/>
          <p:cNvSpPr>
            <a:spLocks noGrp="1"/>
          </p:cNvSpPr>
          <p:nvPr>
            <p:ph idx="1"/>
          </p:nvPr>
        </p:nvSpPr>
        <p:spPr/>
        <p:txBody>
          <a:bodyPr/>
          <a:lstStyle/>
          <a:p>
            <a:pPr lvl="0"/>
            <a:r>
              <a:rPr dirty="0"/>
              <a:t>Test hypothesis of no carry-over</a:t>
            </a:r>
          </a:p>
          <a:p>
            <a:pPr lvl="1"/>
            <a:r>
              <a:rPr lang="en-US" dirty="0"/>
              <a:t>A</a:t>
            </a:r>
            <a:r>
              <a:rPr dirty="0"/>
              <a:t>ccept null</a:t>
            </a:r>
            <a:r>
              <a:rPr lang="en-US" dirty="0"/>
              <a:t>? R</a:t>
            </a:r>
            <a:r>
              <a:rPr dirty="0"/>
              <a:t>un the cross-over</a:t>
            </a:r>
          </a:p>
          <a:p>
            <a:pPr lvl="1"/>
            <a:r>
              <a:rPr lang="en-US" dirty="0"/>
              <a:t>R</a:t>
            </a:r>
            <a:r>
              <a:rPr dirty="0"/>
              <a:t>eject null</a:t>
            </a:r>
            <a:r>
              <a:rPr lang="en-US" dirty="0"/>
              <a:t>? L</a:t>
            </a:r>
            <a:r>
              <a:rPr dirty="0"/>
              <a:t>ook at first period only</a:t>
            </a:r>
          </a:p>
          <a:p>
            <a:pPr lvl="0"/>
            <a:r>
              <a:rPr dirty="0"/>
              <a:t>Not recommended</a:t>
            </a:r>
          </a:p>
          <a:p>
            <a:pPr lvl="1"/>
            <a:r>
              <a:rPr dirty="0"/>
              <a:t>Limited power to test carry-over</a:t>
            </a:r>
          </a:p>
          <a:p>
            <a:pPr lvl="1"/>
            <a:r>
              <a:rPr dirty="0"/>
              <a:t>First period analysis loses too much power/precision</a:t>
            </a:r>
          </a:p>
        </p:txBody>
      </p:sp>
      <p:sp>
        <p:nvSpPr>
          <p:cNvPr id="4" name="Slide Number Placeholder 3">
            <a:extLst>
              <a:ext uri="{FF2B5EF4-FFF2-40B4-BE49-F238E27FC236}">
                <a16:creationId xmlns:a16="http://schemas.microsoft.com/office/drawing/2014/main" id="{C956CC0E-56FA-38EF-00A9-EF3FF0C4315D}"/>
              </a:ext>
            </a:extLst>
          </p:cNvPr>
          <p:cNvSpPr>
            <a:spLocks noGrp="1"/>
          </p:cNvSpPr>
          <p:nvPr>
            <p:ph type="sldNum" sz="quarter" idx="12"/>
          </p:nvPr>
        </p:nvSpPr>
        <p:spPr/>
        <p:txBody>
          <a:bodyPr/>
          <a:lstStyle/>
          <a:p>
            <a:fld id="{C2E4F4E2-DEA3-44FD-BEC9-57866B7FA44A}"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solution to carry-over</a:t>
            </a:r>
          </a:p>
        </p:txBody>
      </p:sp>
      <p:sp>
        <p:nvSpPr>
          <p:cNvPr id="3" name="Content Placeholder 2"/>
          <p:cNvSpPr>
            <a:spLocks noGrp="1"/>
          </p:cNvSpPr>
          <p:nvPr>
            <p:ph idx="1"/>
          </p:nvPr>
        </p:nvSpPr>
        <p:spPr/>
        <p:txBody>
          <a:bodyPr/>
          <a:lstStyle/>
          <a:p>
            <a:pPr lvl="0"/>
            <a:r>
              <a:t>Design the study to avoid any carry-over</a:t>
            </a:r>
          </a:p>
          <a:p>
            <a:pPr lvl="1"/>
            <a:r>
              <a:t>Requires in depth understanding of the treatments</a:t>
            </a:r>
          </a:p>
        </p:txBody>
      </p:sp>
      <p:sp>
        <p:nvSpPr>
          <p:cNvPr id="4" name="Slide Number Placeholder 3">
            <a:extLst>
              <a:ext uri="{FF2B5EF4-FFF2-40B4-BE49-F238E27FC236}">
                <a16:creationId xmlns:a16="http://schemas.microsoft.com/office/drawing/2014/main" id="{5C05EEE6-545E-3F1C-731C-35A9839734CF}"/>
              </a:ext>
            </a:extLst>
          </p:cNvPr>
          <p:cNvSpPr>
            <a:spLocks noGrp="1"/>
          </p:cNvSpPr>
          <p:nvPr>
            <p:ph type="sldNum" sz="quarter" idx="12"/>
          </p:nvPr>
        </p:nvSpPr>
        <p:spPr/>
        <p:txBody>
          <a:bodyPr/>
          <a:lstStyle/>
          <a:p>
            <a:fld id="{C2E4F4E2-DEA3-44FD-BEC9-57866B7FA44A}"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Break #4</a:t>
            </a:r>
          </a:p>
        </p:txBody>
      </p:sp>
      <p:sp>
        <p:nvSpPr>
          <p:cNvPr id="3" name="Content Placeholder 2"/>
          <p:cNvSpPr>
            <a:spLocks noGrp="1"/>
          </p:cNvSpPr>
          <p:nvPr>
            <p:ph idx="1"/>
          </p:nvPr>
        </p:nvSpPr>
        <p:spPr/>
        <p:txBody>
          <a:bodyPr/>
          <a:lstStyle/>
          <a:p>
            <a:pPr lvl="0"/>
            <a:r>
              <a:t>What you have learned</a:t>
            </a:r>
          </a:p>
          <a:p>
            <a:pPr lvl="1"/>
            <a:r>
              <a:t>When should you use or not use a cross-over</a:t>
            </a:r>
          </a:p>
          <a:p>
            <a:pPr lvl="0"/>
            <a:r>
              <a:t>What’s coming next</a:t>
            </a:r>
          </a:p>
          <a:p>
            <a:pPr lvl="1"/>
            <a:r>
              <a:t>Cross-over trials with a binary outcome</a:t>
            </a:r>
          </a:p>
        </p:txBody>
      </p:sp>
      <p:sp>
        <p:nvSpPr>
          <p:cNvPr id="4" name="Slide Number Placeholder 3">
            <a:extLst>
              <a:ext uri="{FF2B5EF4-FFF2-40B4-BE49-F238E27FC236}">
                <a16:creationId xmlns:a16="http://schemas.microsoft.com/office/drawing/2014/main" id="{DC5C22E0-A796-F7AC-2E39-5FA528C1AF6E}"/>
              </a:ext>
            </a:extLst>
          </p:cNvPr>
          <p:cNvSpPr>
            <a:spLocks noGrp="1"/>
          </p:cNvSpPr>
          <p:nvPr>
            <p:ph type="sldNum" sz="quarter" idx="12"/>
          </p:nvPr>
        </p:nvSpPr>
        <p:spPr/>
        <p:txBody>
          <a:bodyPr/>
          <a:lstStyle/>
          <a:p>
            <a:fld id="{C2E4F4E2-DEA3-44FD-BEC9-57866B7FA44A}"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Binary outcomes in a cross-over trial</a:t>
            </a:r>
          </a:p>
        </p:txBody>
      </p:sp>
      <p:sp>
        <p:nvSpPr>
          <p:cNvPr id="3" name="Content Placeholder 2"/>
          <p:cNvSpPr>
            <a:spLocks noGrp="1"/>
          </p:cNvSpPr>
          <p:nvPr>
            <p:ph idx="1"/>
          </p:nvPr>
        </p:nvSpPr>
        <p:spPr/>
        <p:txBody>
          <a:bodyPr/>
          <a:lstStyle/>
          <a:p>
            <a:pPr lvl="0"/>
            <a:r>
              <a:t>Continuous outcomes almost always better</a:t>
            </a:r>
          </a:p>
          <a:p>
            <a:pPr lvl="0"/>
            <a:r>
              <a:t>Binary outcomes require changes in the statistical model</a:t>
            </a:r>
          </a:p>
          <a:p>
            <a:pPr lvl="0"/>
            <a:r>
              <a:t>Adjusting for period effects is tricky</a:t>
            </a:r>
          </a:p>
        </p:txBody>
      </p:sp>
      <p:sp>
        <p:nvSpPr>
          <p:cNvPr id="4" name="Slide Number Placeholder 3">
            <a:extLst>
              <a:ext uri="{FF2B5EF4-FFF2-40B4-BE49-F238E27FC236}">
                <a16:creationId xmlns:a16="http://schemas.microsoft.com/office/drawing/2014/main" id="{3AB4ABCF-7CD4-37CB-FD2B-067D9AE17E77}"/>
              </a:ext>
            </a:extLst>
          </p:cNvPr>
          <p:cNvSpPr>
            <a:spLocks noGrp="1"/>
          </p:cNvSpPr>
          <p:nvPr>
            <p:ph type="sldNum" sz="quarter" idx="12"/>
          </p:nvPr>
        </p:nvSpPr>
        <p:spPr/>
        <p:txBody>
          <a:bodyPr/>
          <a:lstStyle/>
          <a:p>
            <a:fld id="{C2E4F4E2-DEA3-44FD-BEC9-57866B7FA44A}"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of a binary outcome</a:t>
            </a:r>
          </a:p>
        </p:txBody>
      </p:sp>
      <p:pic>
        <p:nvPicPr>
          <p:cNvPr id="3" name="Picture 1" descr="../images/asthma_4.png"/>
          <p:cNvPicPr>
            <a:picLocks noGrp="1" noChangeAspect="1"/>
          </p:cNvPicPr>
          <p:nvPr/>
        </p:nvPicPr>
        <p:blipFill>
          <a:blip r:embed="rId3"/>
          <a:stretch>
            <a:fillRect/>
          </a:stretch>
        </p:blipFill>
        <p:spPr bwMode="auto">
          <a:xfrm>
            <a:off x="2349500" y="1193800"/>
            <a:ext cx="44323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54B7B22B-2778-E1C4-334D-118EBEB37CAA}"/>
              </a:ext>
            </a:extLst>
          </p:cNvPr>
          <p:cNvSpPr>
            <a:spLocks noGrp="1"/>
          </p:cNvSpPr>
          <p:nvPr>
            <p:ph type="sldNum" sz="quarter" idx="12"/>
          </p:nvPr>
        </p:nvSpPr>
        <p:spPr/>
        <p:txBody>
          <a:bodyPr/>
          <a:lstStyle/>
          <a:p>
            <a:fld id="{C2E4F4E2-DEA3-44FD-BEC9-57866B7FA44A}"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Descriptive statistics</a:t>
            </a:r>
          </a:p>
        </p:txBody>
      </p:sp>
      <p:graphicFrame>
        <p:nvGraphicFramePr>
          <p:cNvPr id="6" name="Content Placeholder 5"/>
          <p:cNvGraphicFramePr>
            <a:graphicFrameLocks noGrp="1"/>
          </p:cNvGraphicFramePr>
          <p:nvPr>
            <p:ph idx="1"/>
          </p:nvPr>
        </p:nvGraphicFramePr>
        <p:xfrm>
          <a:off x="457200" y="1193800"/>
          <a:ext cx="8229600" cy="1097280"/>
        </p:xfrm>
        <a:graphic>
          <a:graphicData uri="http://schemas.openxmlformats.org/drawingml/2006/table">
            <a:tbl>
              <a:tblPr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F-</a:t>
                      </a:r>
                    </a:p>
                  </a:txBody>
                  <a:tcPr/>
                </a:tc>
                <a:tc>
                  <a:txBody>
                    <a:bodyPr/>
                    <a:lstStyle/>
                    <a:p>
                      <a:pPr marL="0" lvl="0" indent="0">
                        <a:buNone/>
                      </a:pPr>
                      <a:r>
                        <a:t>F+</a:t>
                      </a:r>
                    </a:p>
                  </a:txBody>
                  <a:tcPr/>
                </a:tc>
                <a:extLst>
                  <a:ext uri="{0D108BD9-81ED-4DB2-BD59-A6C34878D82A}">
                    <a16:rowId xmlns:a16="http://schemas.microsoft.com/office/drawing/2014/main" val="10000"/>
                  </a:ext>
                </a:extLst>
              </a:tr>
              <a:tr h="0">
                <a:tc>
                  <a:txBody>
                    <a:bodyPr/>
                    <a:lstStyle/>
                    <a:p>
                      <a:pPr marL="0" lvl="0" indent="0">
                        <a:buNone/>
                      </a:pPr>
                      <a:r>
                        <a:t>S-</a:t>
                      </a:r>
                    </a:p>
                  </a:txBody>
                  <a:tcPr/>
                </a:tc>
                <a:tc>
                  <a:txBody>
                    <a:bodyPr/>
                    <a:lstStyle/>
                    <a:p>
                      <a:pPr marL="0" lvl="0" indent="0">
                        <a:buNone/>
                      </a:pPr>
                      <a:r>
                        <a:t>2</a:t>
                      </a:r>
                    </a:p>
                  </a:txBody>
                  <a:tcPr/>
                </a:tc>
                <a:tc>
                  <a:txBody>
                    <a:bodyPr/>
                    <a:lstStyle/>
                    <a:p>
                      <a:pPr marL="0" lvl="0" indent="0">
                        <a:buNone/>
                      </a:pPr>
                      <a:r>
                        <a:t>15</a:t>
                      </a:r>
                    </a:p>
                  </a:txBody>
                  <a:tcPr/>
                </a:tc>
                <a:extLst>
                  <a:ext uri="{0D108BD9-81ED-4DB2-BD59-A6C34878D82A}">
                    <a16:rowId xmlns:a16="http://schemas.microsoft.com/office/drawing/2014/main" val="10001"/>
                  </a:ext>
                </a:extLst>
              </a:tr>
              <a:tr h="0">
                <a:tc>
                  <a:txBody>
                    <a:bodyPr/>
                    <a:lstStyle/>
                    <a:p>
                      <a:pPr marL="0" lvl="0" indent="0">
                        <a:buNone/>
                      </a:pPr>
                      <a:r>
                        <a:t>S+</a:t>
                      </a:r>
                    </a:p>
                  </a:txBody>
                  <a:tcPr/>
                </a:tc>
                <a:tc>
                  <a:txBody>
                    <a:bodyPr/>
                    <a:lstStyle/>
                    <a:p>
                      <a:pPr marL="0" lvl="0" indent="0">
                        <a:buNone/>
                      </a:pPr>
                      <a:r>
                        <a:t>1</a:t>
                      </a:r>
                    </a:p>
                  </a:txBody>
                  <a:tcPr/>
                </a:tc>
                <a:tc>
                  <a:txBody>
                    <a:bodyPr/>
                    <a:lstStyle/>
                    <a:p>
                      <a:pPr marL="0" lvl="0" indent="0">
                        <a:buNone/>
                      </a:pPr>
                      <a:r>
                        <a:t>6</a:t>
                      </a:r>
                    </a:p>
                  </a:txBody>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28BCFD2A-4D1D-1F56-5DF6-9D00BB34B4A0}"/>
              </a:ext>
            </a:extLst>
          </p:cNvPr>
          <p:cNvSpPr>
            <a:spLocks noGrp="1"/>
          </p:cNvSpPr>
          <p:nvPr>
            <p:ph type="sldNum" sz="quarter" idx="12"/>
          </p:nvPr>
        </p:nvSpPr>
        <p:spPr/>
        <p:txBody>
          <a:bodyPr/>
          <a:lstStyle/>
          <a:p>
            <a:fld id="{C2E4F4E2-DEA3-44FD-BEC9-57866B7FA44A}"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Analysis of binary cross-over data</a:t>
            </a:r>
          </a:p>
        </p:txBody>
      </p:sp>
      <p:sp>
        <p:nvSpPr>
          <p:cNvPr id="3" name="Content Placeholder 2"/>
          <p:cNvSpPr>
            <a:spLocks noGrp="1"/>
          </p:cNvSpPr>
          <p:nvPr>
            <p:ph idx="1"/>
          </p:nvPr>
        </p:nvSpPr>
        <p:spPr/>
        <p:txBody>
          <a:bodyPr/>
          <a:lstStyle/>
          <a:p>
            <a:pPr lvl="0"/>
            <a:r>
              <a:t>Ignoring period effects</a:t>
            </a:r>
          </a:p>
          <a:p>
            <a:pPr lvl="1"/>
            <a:r>
              <a:t>McNemar’s test</a:t>
            </a:r>
          </a:p>
          <a:p>
            <a:pPr lvl="0"/>
            <a:r>
              <a:t>Incorporating period effects</a:t>
            </a:r>
          </a:p>
          <a:p>
            <a:pPr lvl="1"/>
            <a:r>
              <a:t>Mainland-Gart test (hard to find)</a:t>
            </a:r>
          </a:p>
        </p:txBody>
      </p:sp>
      <p:sp>
        <p:nvSpPr>
          <p:cNvPr id="4" name="Slide Number Placeholder 3">
            <a:extLst>
              <a:ext uri="{FF2B5EF4-FFF2-40B4-BE49-F238E27FC236}">
                <a16:creationId xmlns:a16="http://schemas.microsoft.com/office/drawing/2014/main" id="{DCDCC60F-8FDD-B512-4125-50071B8A0262}"/>
              </a:ext>
            </a:extLst>
          </p:cNvPr>
          <p:cNvSpPr>
            <a:spLocks noGrp="1"/>
          </p:cNvSpPr>
          <p:nvPr>
            <p:ph type="sldNum" sz="quarter" idx="12"/>
          </p:nvPr>
        </p:nvSpPr>
        <p:spPr/>
        <p:txBody>
          <a:bodyPr/>
          <a:lstStyle/>
          <a:p>
            <a:fld id="{C2E4F4E2-DEA3-44FD-BEC9-57866B7FA44A}"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Example of McNemar’s test</a:t>
            </a:r>
          </a:p>
        </p:txBody>
      </p:sp>
      <p:sp>
        <p:nvSpPr>
          <p:cNvPr id="3" name="Content Placeholder 2"/>
          <p:cNvSpPr>
            <a:spLocks noGrp="1"/>
          </p:cNvSpPr>
          <p:nvPr>
            <p:ph idx="1"/>
          </p:nvPr>
        </p:nvSpPr>
        <p:spPr/>
        <p:txBody>
          <a:bodyPr/>
          <a:lstStyle/>
          <a:p>
            <a:pPr marL="0" lvl="0" indent="0">
              <a:buNone/>
            </a:pPr>
            <a:r>
              <a:rPr dirty="0"/>
              <a:t>Table layout:</a:t>
            </a:r>
          </a:p>
          <a:p>
            <a:pPr lvl="0" indent="0">
              <a:buNone/>
            </a:pPr>
            <a:r>
              <a:rPr dirty="0">
                <a:latin typeface="Courier"/>
              </a:rPr>
              <a:t>a b
c d</a:t>
            </a:r>
          </a:p>
          <a:p>
            <a:pPr lvl="0"/>
            <a:r>
              <a:rPr dirty="0"/>
              <a:t>Ignore a and d</a:t>
            </a:r>
          </a:p>
          <a:p>
            <a:pPr lvl="0"/>
            <a:r>
              <a:rPr dirty="0"/>
              <a:t>Compute </a:t>
            </a:r>
            <a14:m xmlns:a14="http://schemas.microsoft.com/office/drawing/2010/main">
              <m:oMath xmlns:m="http://schemas.openxmlformats.org/officeDocument/2006/math">
                <m:r>
                  <a:rPr>
                    <a:latin typeface="Cambria Math" panose="02040503050406030204" pitchFamily="18" charset="0"/>
                  </a:rPr>
                  <m:t>𝑇</m:t>
                </m:r>
                <m:r>
                  <a:rPr>
                    <a:latin typeface="Cambria Math" panose="02040503050406030204" pitchFamily="18" charset="0"/>
                  </a:rPr>
                  <m:t>=</m:t>
                </m:r>
                <m:f>
                  <m:fPr>
                    <m:ctrlPr>
                      <a:rPr i="1">
                        <a:latin typeface="Cambria Math" panose="02040503050406030204" pitchFamily="18" charset="0"/>
                      </a:rPr>
                    </m:ctrlPr>
                  </m:fPr>
                  <m:num>
                    <m:sSup>
                      <m:sSupPr>
                        <m:ctrlPr>
                          <a:rPr i="1">
                            <a:latin typeface="Cambria Math" panose="02040503050406030204" pitchFamily="18" charset="0"/>
                          </a:rPr>
                        </m:ctrlPr>
                      </m:sSupPr>
                      <m:e>
                        <m:d>
                          <m:dPr>
                            <m:ctrlPr>
                              <a:rPr i="1">
                                <a:latin typeface="Cambria Math" panose="02040503050406030204" pitchFamily="18" charset="0"/>
                              </a:rPr>
                            </m:ctrlPr>
                          </m:dPr>
                          <m:e>
                            <m:r>
                              <a:rPr>
                                <a:latin typeface="Cambria Math" panose="02040503050406030204" pitchFamily="18" charset="0"/>
                              </a:rPr>
                              <m:t>𝑏</m:t>
                            </m:r>
                            <m:r>
                              <a:rPr>
                                <a:latin typeface="Cambria Math" panose="02040503050406030204" pitchFamily="18" charset="0"/>
                              </a:rPr>
                              <m:t>−</m:t>
                            </m:r>
                            <m:r>
                              <a:rPr>
                                <a:latin typeface="Cambria Math" panose="02040503050406030204" pitchFamily="18" charset="0"/>
                              </a:rPr>
                              <m:t>𝑐</m:t>
                            </m:r>
                          </m:e>
                        </m:d>
                      </m:e>
                      <m:sup>
                        <m:r>
                          <a:rPr>
                            <a:latin typeface="Cambria Math" panose="02040503050406030204" pitchFamily="18" charset="0"/>
                          </a:rPr>
                          <m:t>2</m:t>
                        </m:r>
                      </m:sup>
                    </m:sSup>
                  </m:num>
                  <m:den>
                    <m:r>
                      <a:rPr>
                        <a:latin typeface="Cambria Math" panose="02040503050406030204" pitchFamily="18" charset="0"/>
                      </a:rPr>
                      <m:t>𝑏</m:t>
                    </m:r>
                    <m:r>
                      <a:rPr>
                        <a:latin typeface="Cambria Math" panose="02040503050406030204" pitchFamily="18" charset="0"/>
                      </a:rPr>
                      <m:t>+</m:t>
                    </m:r>
                    <m:r>
                      <a:rPr>
                        <a:latin typeface="Cambria Math" panose="02040503050406030204" pitchFamily="18" charset="0"/>
                      </a:rPr>
                      <m:t>𝑐</m:t>
                    </m:r>
                  </m:den>
                </m:f>
              </m:oMath>
            </a14:m>
            <a:endParaRPr dirty="0"/>
          </a:p>
          <a:p>
            <a:pPr lvl="0"/>
            <a:r>
              <a:rPr dirty="0"/>
              <a:t>Compare to </a:t>
            </a:r>
            <a14:m xmlns:a14="http://schemas.microsoft.com/office/drawing/2010/main">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𝜒</m:t>
                    </m:r>
                  </m:e>
                  <m:sup>
                    <m:r>
                      <a:rPr>
                        <a:latin typeface="Cambria Math" panose="02040503050406030204" pitchFamily="18" charset="0"/>
                      </a:rPr>
                      <m:t>2</m:t>
                    </m:r>
                  </m:sup>
                </m:sSup>
                <m:d>
                  <m:dPr>
                    <m:ctrlPr>
                      <a:rPr i="1">
                        <a:latin typeface="Cambria Math" panose="02040503050406030204" pitchFamily="18" charset="0"/>
                      </a:rPr>
                    </m:ctrlPr>
                  </m:dPr>
                  <m:e>
                    <m:r>
                      <a:rPr>
                        <a:latin typeface="Cambria Math" panose="02040503050406030204" pitchFamily="18" charset="0"/>
                      </a:rPr>
                      <m:t>1</m:t>
                    </m:r>
                  </m:e>
                </m:d>
              </m:oMath>
            </a14:m>
            <a:endParaRPr dirty="0"/>
          </a:p>
        </p:txBody>
      </p:sp>
      <p:sp>
        <p:nvSpPr>
          <p:cNvPr id="4" name="Slide Number Placeholder 3">
            <a:extLst>
              <a:ext uri="{FF2B5EF4-FFF2-40B4-BE49-F238E27FC236}">
                <a16:creationId xmlns:a16="http://schemas.microsoft.com/office/drawing/2014/main" id="{734FFC05-273C-3492-35B5-CE74C1D36DD7}"/>
              </a:ext>
            </a:extLst>
          </p:cNvPr>
          <p:cNvSpPr>
            <a:spLocks noGrp="1"/>
          </p:cNvSpPr>
          <p:nvPr>
            <p:ph type="sldNum" sz="quarter" idx="12"/>
          </p:nvPr>
        </p:nvSpPr>
        <p:spPr/>
        <p:txBody>
          <a:bodyPr/>
          <a:lstStyle/>
          <a:p>
            <a:fld id="{C2E4F4E2-DEA3-44FD-BEC9-57866B7FA44A}"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McNemar’s test on formoterol/salbutamol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lang="en-US" dirty="0"/>
                  <a:t>b=15, c=1</a:t>
                </a:r>
              </a:p>
              <a:p>
                <a:pPr lvl="0"/>
                <a14:m>
                  <m:oMath xmlns:m="http://schemas.openxmlformats.org/officeDocument/2006/math">
                    <m:r>
                      <a:rPr lang="en-US">
                        <a:latin typeface="Cambria Math" panose="02040503050406030204" pitchFamily="18" charset="0"/>
                      </a:rPr>
                      <m:t>𝑇</m:t>
                    </m:r>
                    <m:r>
                      <a:rPr lang="en-US">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a:latin typeface="Cambria Math" panose="02040503050406030204" pitchFamily="18" charset="0"/>
                                  </a:rPr>
                                  <m:t>15</m:t>
                                </m:r>
                                <m:r>
                                  <a:rPr lang="ar-AE">
                                    <a:latin typeface="Cambria Math" panose="02040503050406030204" pitchFamily="18" charset="0"/>
                                  </a:rPr>
                                  <m:t>−</m:t>
                                </m:r>
                                <m:r>
                                  <a:rPr lang="ar-AE">
                                    <a:latin typeface="Cambria Math" panose="02040503050406030204" pitchFamily="18" charset="0"/>
                                  </a:rPr>
                                  <m:t>1</m:t>
                                </m:r>
                              </m:e>
                            </m:d>
                          </m:e>
                          <m:sup>
                            <m:r>
                              <a:rPr lang="ar-AE">
                                <a:latin typeface="Cambria Math" panose="02040503050406030204" pitchFamily="18" charset="0"/>
                              </a:rPr>
                              <m:t>2</m:t>
                            </m:r>
                          </m:sup>
                        </m:sSup>
                      </m:num>
                      <m:den>
                        <m:r>
                          <a:rPr lang="ar-AE">
                            <a:latin typeface="Cambria Math" panose="02040503050406030204" pitchFamily="18" charset="0"/>
                          </a:rPr>
                          <m:t>15</m:t>
                        </m:r>
                        <m:r>
                          <a:rPr lang="ar-AE">
                            <a:latin typeface="Cambria Math" panose="02040503050406030204" pitchFamily="18" charset="0"/>
                          </a:rPr>
                          <m:t>+</m:t>
                        </m:r>
                        <m:r>
                          <a:rPr lang="ar-AE">
                            <a:latin typeface="Cambria Math" panose="02040503050406030204" pitchFamily="18" charset="0"/>
                          </a:rPr>
                          <m:t>1</m:t>
                        </m:r>
                      </m:den>
                    </m:f>
                  </m:oMath>
                </a14:m>
                <a:r>
                  <a:rPr lang="en-US" dirty="0"/>
                  <a:t>=</a:t>
                </a:r>
                <a:r>
                  <a:rPr lang="ar-AE" dirty="0"/>
                  <a:t>12.25</a:t>
                </a:r>
              </a:p>
              <a:p>
                <a:pPr lvl="0"/>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𝜒</m:t>
                        </m:r>
                      </m:e>
                      <m:sup>
                        <m:r>
                          <a:rPr lang="ar-AE">
                            <a:latin typeface="Cambria Math" panose="02040503050406030204" pitchFamily="18" charset="0"/>
                          </a:rPr>
                          <m:t>2</m:t>
                        </m:r>
                      </m:sup>
                    </m:sSup>
                    <m:d>
                      <m:dPr>
                        <m:ctrlPr>
                          <a:rPr lang="ar-AE" i="1">
                            <a:latin typeface="Cambria Math" panose="02040503050406030204" pitchFamily="18" charset="0"/>
                          </a:rPr>
                        </m:ctrlPr>
                      </m:dPr>
                      <m:e>
                        <m:r>
                          <a:rPr lang="ar-AE" b="0" i="0" smtClean="0">
                            <a:latin typeface="Cambria Math" panose="02040503050406030204" pitchFamily="18" charset="0"/>
                          </a:rPr>
                          <m:t>0</m:t>
                        </m:r>
                        <m:r>
                          <a:rPr lang="en-US" b="0" i="0" smtClean="0">
                            <a:latin typeface="Cambria Math" panose="02040503050406030204" pitchFamily="18" charset="0"/>
                          </a:rPr>
                          <m:t>.</m:t>
                        </m:r>
                        <m:r>
                          <a:rPr lang="en-US" b="0" i="0" smtClean="0">
                            <a:latin typeface="Cambria Math" panose="02040503050406030204" pitchFamily="18" charset="0"/>
                          </a:rPr>
                          <m:t>95</m:t>
                        </m:r>
                        <m:r>
                          <a:rPr lang="en-US" b="0" i="0" smtClean="0">
                            <a:latin typeface="Cambria Math" panose="02040503050406030204" pitchFamily="18" charset="0"/>
                          </a:rPr>
                          <m:t>,</m:t>
                        </m:r>
                        <m:r>
                          <a:rPr lang="ar-AE">
                            <a:latin typeface="Cambria Math" panose="02040503050406030204" pitchFamily="18" charset="0"/>
                          </a:rPr>
                          <m:t>1</m:t>
                        </m:r>
                      </m:e>
                    </m:d>
                    <m:r>
                      <a:rPr lang="ar-AE" i="1">
                        <a:latin typeface="Cambria Math" panose="02040503050406030204" pitchFamily="18" charset="0"/>
                      </a:rPr>
                      <m:t> </m:t>
                    </m:r>
                  </m:oMath>
                </a14:m>
                <a:r>
                  <a:rPr lang="en-US" dirty="0"/>
                  <a:t>=3.84</a:t>
                </a:r>
                <a:endParaRPr lang="ar-AE" dirty="0"/>
              </a:p>
              <a:p>
                <a:pPr lvl="0"/>
                <a:r>
                  <a:rPr lang="en-US" dirty="0"/>
                  <a:t>Reject H0. Formoterol is superior.</a:t>
                </a:r>
                <a:endParaRPr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10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E83AA27-89DF-DDEF-BA5D-94F06E545803}"/>
              </a:ext>
            </a:extLst>
          </p:cNvPr>
          <p:cNvSpPr>
            <a:spLocks noGrp="1"/>
          </p:cNvSpPr>
          <p:nvPr>
            <p:ph type="sldNum" sz="quarter" idx="12"/>
          </p:nvPr>
        </p:nvSpPr>
        <p:spPr/>
        <p:txBody>
          <a:bodyPr/>
          <a:lstStyle/>
          <a:p>
            <a:fld id="{C2E4F4E2-DEA3-44FD-BEC9-57866B7FA44A}"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Break #5</a:t>
            </a:r>
          </a:p>
        </p:txBody>
      </p:sp>
      <p:sp>
        <p:nvSpPr>
          <p:cNvPr id="3" name="Content Placeholder 2"/>
          <p:cNvSpPr>
            <a:spLocks noGrp="1"/>
          </p:cNvSpPr>
          <p:nvPr>
            <p:ph idx="1"/>
          </p:nvPr>
        </p:nvSpPr>
        <p:spPr/>
        <p:txBody>
          <a:bodyPr/>
          <a:lstStyle/>
          <a:p>
            <a:pPr lvl="0"/>
            <a:r>
              <a:t>What you have learned</a:t>
            </a:r>
          </a:p>
          <a:p>
            <a:pPr lvl="1"/>
            <a:r>
              <a:t>Cross-over trials with a binary outcome</a:t>
            </a:r>
          </a:p>
          <a:p>
            <a:pPr lvl="0"/>
            <a:r>
              <a:t>What’s coming next</a:t>
            </a:r>
          </a:p>
          <a:p>
            <a:pPr lvl="1"/>
            <a:r>
              <a:t>Cross-over trials with more than two treatments</a:t>
            </a:r>
          </a:p>
        </p:txBody>
      </p:sp>
      <p:sp>
        <p:nvSpPr>
          <p:cNvPr id="4" name="Slide Number Placeholder 3">
            <a:extLst>
              <a:ext uri="{FF2B5EF4-FFF2-40B4-BE49-F238E27FC236}">
                <a16:creationId xmlns:a16="http://schemas.microsoft.com/office/drawing/2014/main" id="{89AB9EAF-C70E-ECE2-37B5-C26B2FCC61F9}"/>
              </a:ext>
            </a:extLst>
          </p:cNvPr>
          <p:cNvSpPr>
            <a:spLocks noGrp="1"/>
          </p:cNvSpPr>
          <p:nvPr>
            <p:ph type="sldNum" sz="quarter" idx="12"/>
          </p:nvPr>
        </p:nvSpPr>
        <p:spPr/>
        <p:txBody>
          <a:bodyPr/>
          <a:lstStyle/>
          <a:p>
            <a:fld id="{C2E4F4E2-DEA3-44FD-BEC9-57866B7FA44A}"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Three treatment cross-over trial</a:t>
            </a:r>
          </a:p>
        </p:txBody>
      </p:sp>
      <p:sp>
        <p:nvSpPr>
          <p:cNvPr id="3" name="Content Placeholder 2"/>
          <p:cNvSpPr>
            <a:spLocks noGrp="1"/>
          </p:cNvSpPr>
          <p:nvPr>
            <p:ph idx="1"/>
          </p:nvPr>
        </p:nvSpPr>
        <p:spPr/>
        <p:txBody>
          <a:bodyPr/>
          <a:lstStyle/>
          <a:p>
            <a:pPr lvl="0"/>
            <a:r>
              <a:rPr dirty="0"/>
              <a:t>The statistical models do not change, except</a:t>
            </a:r>
            <a:r>
              <a:rPr lang="en-US" dirty="0"/>
              <a:t>…</a:t>
            </a:r>
            <a:endParaRPr dirty="0"/>
          </a:p>
          <a:p>
            <a:pPr lvl="1"/>
            <a:r>
              <a:rPr dirty="0"/>
              <a:t>The number of sequences increases dramatically.</a:t>
            </a:r>
          </a:p>
        </p:txBody>
      </p:sp>
      <p:sp>
        <p:nvSpPr>
          <p:cNvPr id="4" name="Slide Number Placeholder 3">
            <a:extLst>
              <a:ext uri="{FF2B5EF4-FFF2-40B4-BE49-F238E27FC236}">
                <a16:creationId xmlns:a16="http://schemas.microsoft.com/office/drawing/2014/main" id="{69D6F9C6-2ED8-0C24-CEE1-0931C65D7D95}"/>
              </a:ext>
            </a:extLst>
          </p:cNvPr>
          <p:cNvSpPr>
            <a:spLocks noGrp="1"/>
          </p:cNvSpPr>
          <p:nvPr>
            <p:ph type="sldNum" sz="quarter" idx="12"/>
          </p:nvPr>
        </p:nvSpPr>
        <p:spPr/>
        <p:txBody>
          <a:bodyPr/>
          <a:lstStyle/>
          <a:p>
            <a:fld id="{C2E4F4E2-DEA3-44FD-BEC9-57866B7FA44A}"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Possible sequences</a:t>
            </a:r>
          </a:p>
        </p:txBody>
      </p:sp>
      <p:sp>
        <p:nvSpPr>
          <p:cNvPr id="3" name="Content Placeholder 2"/>
          <p:cNvSpPr>
            <a:spLocks noGrp="1"/>
          </p:cNvSpPr>
          <p:nvPr>
            <p:ph idx="1"/>
          </p:nvPr>
        </p:nvSpPr>
        <p:spPr/>
        <p:txBody>
          <a:bodyPr/>
          <a:lstStyle/>
          <a:p>
            <a:pPr lvl="0"/>
            <a:r>
              <a:t>Three treatments</a:t>
            </a:r>
          </a:p>
          <a:p>
            <a:pPr lvl="1"/>
            <a:r>
              <a:t>ABC, ACB, BAC, BCA, CAB, CBA</a:t>
            </a:r>
          </a:p>
          <a:p>
            <a:pPr lvl="0"/>
            <a:r>
              <a:t>Four treatments</a:t>
            </a:r>
          </a:p>
          <a:p>
            <a:pPr lvl="1"/>
            <a:r>
              <a:t>ABCD, ACBD, BACD, BCAD, CABD, CBAD,</a:t>
            </a:r>
          </a:p>
          <a:p>
            <a:pPr lvl="1"/>
            <a:r>
              <a:t>ABDC, ACDB, BADC, BCDA, CADB, CBAD,</a:t>
            </a:r>
          </a:p>
          <a:p>
            <a:pPr lvl="1"/>
            <a:r>
              <a:t>ADBC, ADCB, BDAC, BDCA, CDAB, CDBA,</a:t>
            </a:r>
          </a:p>
          <a:p>
            <a:pPr lvl="1"/>
            <a:r>
              <a:t>DABC, DACB, DBAC, DBCA, DCAB, DCBA</a:t>
            </a:r>
          </a:p>
          <a:p>
            <a:pPr lvl="0"/>
            <a:r>
              <a:t>Five treatments</a:t>
            </a:r>
          </a:p>
          <a:p>
            <a:pPr lvl="1"/>
            <a:r>
              <a:t>How many possible treatment sequences?</a:t>
            </a:r>
          </a:p>
        </p:txBody>
      </p:sp>
      <p:sp>
        <p:nvSpPr>
          <p:cNvPr id="4" name="Slide Number Placeholder 3">
            <a:extLst>
              <a:ext uri="{FF2B5EF4-FFF2-40B4-BE49-F238E27FC236}">
                <a16:creationId xmlns:a16="http://schemas.microsoft.com/office/drawing/2014/main" id="{49A7C4B3-17A9-597D-FD1E-FE37749C2309}"/>
              </a:ext>
            </a:extLst>
          </p:cNvPr>
          <p:cNvSpPr>
            <a:spLocks noGrp="1"/>
          </p:cNvSpPr>
          <p:nvPr>
            <p:ph type="sldNum" sz="quarter" idx="12"/>
          </p:nvPr>
        </p:nvSpPr>
        <p:spPr/>
        <p:txBody>
          <a:bodyPr/>
          <a:lstStyle/>
          <a:p>
            <a:fld id="{C2E4F4E2-DEA3-44FD-BEC9-57866B7FA44A}"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Latin square design to reduce the number of sequences</a:t>
            </a:r>
          </a:p>
        </p:txBody>
      </p:sp>
      <p:sp>
        <p:nvSpPr>
          <p:cNvPr id="3" name="Content Placeholder 2"/>
          <p:cNvSpPr>
            <a:spLocks noGrp="1"/>
          </p:cNvSpPr>
          <p:nvPr>
            <p:ph idx="1"/>
          </p:nvPr>
        </p:nvSpPr>
        <p:spPr/>
        <p:txBody>
          <a:bodyPr/>
          <a:lstStyle/>
          <a:p>
            <a:pPr lvl="0"/>
            <a:r>
              <a:t>Three treatments</a:t>
            </a:r>
          </a:p>
          <a:p>
            <a:pPr lvl="1"/>
            <a:r>
              <a:t>Sequence 1: A B C</a:t>
            </a:r>
          </a:p>
          <a:p>
            <a:pPr lvl="1"/>
            <a:r>
              <a:t>Sequence 2: B C A</a:t>
            </a:r>
          </a:p>
          <a:p>
            <a:pPr lvl="1"/>
            <a:r>
              <a:t>Sequence 3: C A B</a:t>
            </a:r>
          </a:p>
          <a:p>
            <a:pPr lvl="0"/>
            <a:r>
              <a:t>Four treatments</a:t>
            </a:r>
          </a:p>
          <a:p>
            <a:pPr lvl="1"/>
            <a:r>
              <a:t>Sequence 1: A B C D</a:t>
            </a:r>
          </a:p>
          <a:p>
            <a:pPr lvl="1"/>
            <a:r>
              <a:t>Sequence 2: B C D A</a:t>
            </a:r>
          </a:p>
          <a:p>
            <a:pPr lvl="1"/>
            <a:r>
              <a:t>Sequence 3: C D A B</a:t>
            </a:r>
          </a:p>
          <a:p>
            <a:pPr lvl="1"/>
            <a:r>
              <a:t>Sequence 4: D A B C</a:t>
            </a:r>
          </a:p>
        </p:txBody>
      </p:sp>
      <p:sp>
        <p:nvSpPr>
          <p:cNvPr id="4" name="Slide Number Placeholder 3">
            <a:extLst>
              <a:ext uri="{FF2B5EF4-FFF2-40B4-BE49-F238E27FC236}">
                <a16:creationId xmlns:a16="http://schemas.microsoft.com/office/drawing/2014/main" id="{FDF57C8F-E713-52B9-8AA1-ED9F780020F0}"/>
              </a:ext>
            </a:extLst>
          </p:cNvPr>
          <p:cNvSpPr>
            <a:spLocks noGrp="1"/>
          </p:cNvSpPr>
          <p:nvPr>
            <p:ph type="sldNum" sz="quarter" idx="12"/>
          </p:nvPr>
        </p:nvSpPr>
        <p:spPr/>
        <p:txBody>
          <a:bodyPr/>
          <a:lstStyle/>
          <a:p>
            <a:fld id="{C2E4F4E2-DEA3-44FD-BEC9-57866B7FA44A}"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definitive guide</a:t>
            </a:r>
          </a:p>
        </p:txBody>
      </p:sp>
      <p:pic>
        <p:nvPicPr>
          <p:cNvPr id="3" name="Picture 1" descr="../images/senn.png"/>
          <p:cNvPicPr>
            <a:picLocks noGrp="1" noChangeAspect="1"/>
          </p:cNvPicPr>
          <p:nvPr/>
        </p:nvPicPr>
        <p:blipFill>
          <a:blip r:embed="rId2"/>
          <a:stretch>
            <a:fillRect/>
          </a:stretch>
        </p:blipFill>
        <p:spPr bwMode="auto">
          <a:xfrm>
            <a:off x="3492500" y="1193800"/>
            <a:ext cx="21590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102A59AA-E015-1608-56EE-51AA5F51DB1C}"/>
              </a:ext>
            </a:extLst>
          </p:cNvPr>
          <p:cNvSpPr>
            <a:spLocks noGrp="1"/>
          </p:cNvSpPr>
          <p:nvPr>
            <p:ph type="sldNum" sz="quarter" idx="12"/>
          </p:nvPr>
        </p:nvSpPr>
        <p:spPr/>
        <p:txBody>
          <a:bodyPr/>
          <a:lstStyle/>
          <a:p>
            <a:fld id="{C2E4F4E2-DEA3-44FD-BEC9-57866B7FA44A}" type="slidenum">
              <a:rPr lang="en-US" smtClean="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Nice reference</a:t>
            </a:r>
          </a:p>
        </p:txBody>
      </p:sp>
      <p:pic>
        <p:nvPicPr>
          <p:cNvPr id="3" name="Picture 1" descr="../images/mills.png"/>
          <p:cNvPicPr>
            <a:picLocks noGrp="1" noChangeAspect="1"/>
          </p:cNvPicPr>
          <p:nvPr/>
        </p:nvPicPr>
        <p:blipFill>
          <a:blip r:embed="rId3"/>
          <a:stretch>
            <a:fillRect/>
          </a:stretch>
        </p:blipFill>
        <p:spPr bwMode="auto">
          <a:xfrm>
            <a:off x="2197100" y="1193800"/>
            <a:ext cx="4749800" cy="3390900"/>
          </a:xfrm>
          <a:prstGeom prst="rect">
            <a:avLst/>
          </a:prstGeom>
          <a:noFill/>
          <a:ln w="9525">
            <a:noFill/>
            <a:headEnd/>
            <a:tailEnd/>
          </a:ln>
        </p:spPr>
      </p:pic>
      <p:sp>
        <p:nvSpPr>
          <p:cNvPr id="4" name="Slide Number Placeholder 3">
            <a:extLst>
              <a:ext uri="{FF2B5EF4-FFF2-40B4-BE49-F238E27FC236}">
                <a16:creationId xmlns:a16="http://schemas.microsoft.com/office/drawing/2014/main" id="{2D23E845-6DF5-3CC7-EAD2-019E6EB9B8F7}"/>
              </a:ext>
            </a:extLst>
          </p:cNvPr>
          <p:cNvSpPr>
            <a:spLocks noGrp="1"/>
          </p:cNvSpPr>
          <p:nvPr>
            <p:ph type="sldNum" sz="quarter" idx="12"/>
          </p:nvPr>
        </p:nvSpPr>
        <p:spPr/>
        <p:txBody>
          <a:bodyPr/>
          <a:lstStyle/>
          <a:p>
            <a:fld id="{C2E4F4E2-DEA3-44FD-BEC9-57866B7FA44A}"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Analysis Factor resources</a:t>
            </a:r>
          </a:p>
        </p:txBody>
      </p:sp>
      <p:sp>
        <p:nvSpPr>
          <p:cNvPr id="3" name="Content Placeholder 2"/>
          <p:cNvSpPr>
            <a:spLocks noGrp="1"/>
          </p:cNvSpPr>
          <p:nvPr>
            <p:ph idx="1"/>
          </p:nvPr>
        </p:nvSpPr>
        <p:spPr/>
        <p:txBody>
          <a:bodyPr/>
          <a:lstStyle/>
          <a:p>
            <a:pPr lvl="0"/>
            <a:r>
              <a:t>Kim Love webinar on classical experimental designs</a:t>
            </a:r>
          </a:p>
          <a:p>
            <a:pPr lvl="0"/>
            <a:r>
              <a:t>Karen Grace-Martin write-ups on long versus wide formats</a:t>
            </a:r>
          </a:p>
        </p:txBody>
      </p:sp>
      <p:sp>
        <p:nvSpPr>
          <p:cNvPr id="4" name="Slide Number Placeholder 3">
            <a:extLst>
              <a:ext uri="{FF2B5EF4-FFF2-40B4-BE49-F238E27FC236}">
                <a16:creationId xmlns:a16="http://schemas.microsoft.com/office/drawing/2014/main" id="{1B1CFB40-B033-4590-01FA-0535A7B4280F}"/>
              </a:ext>
            </a:extLst>
          </p:cNvPr>
          <p:cNvSpPr>
            <a:spLocks noGrp="1"/>
          </p:cNvSpPr>
          <p:nvPr>
            <p:ph type="sldNum" sz="quarter" idx="12"/>
          </p:nvPr>
        </p:nvSpPr>
        <p:spPr/>
        <p:txBody>
          <a:bodyPr/>
          <a:lstStyle/>
          <a:p>
            <a:fld id="{C2E4F4E2-DEA3-44FD-BEC9-57866B7FA44A}"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Repeat of true/false pop quiz</a:t>
            </a:r>
          </a:p>
        </p:txBody>
      </p:sp>
      <p:sp>
        <p:nvSpPr>
          <p:cNvPr id="3" name="Content Placeholder 2"/>
          <p:cNvSpPr>
            <a:spLocks noGrp="1"/>
          </p:cNvSpPr>
          <p:nvPr>
            <p:ph idx="1"/>
          </p:nvPr>
        </p:nvSpPr>
        <p:spPr/>
        <p:txBody>
          <a:bodyPr/>
          <a:lstStyle/>
          <a:p>
            <a:pPr marL="342900" lvl="0" indent="-342900">
              <a:buAutoNum type="arabicPeriod"/>
            </a:pPr>
            <a:r>
              <a:t>Cross-over trials can only be used if the two treatments are drugs.</a:t>
            </a:r>
          </a:p>
          <a:p>
            <a:pPr marL="342900" lvl="0" indent="-342900">
              <a:buAutoNum type="arabicPeriod"/>
            </a:pPr>
            <a:r>
              <a:t>A paired t-test is a simple way to analyze a basic cross-over design.</a:t>
            </a:r>
          </a:p>
          <a:p>
            <a:pPr marL="342900" lvl="0" indent="-342900">
              <a:buAutoNum type="arabicPeriod"/>
            </a:pPr>
            <a:r>
              <a:t>A carry-over effect is easily accounted for and adjustments are relatively simple.</a:t>
            </a:r>
          </a:p>
          <a:p>
            <a:pPr marL="342900" lvl="0" indent="-342900">
              <a:buAutoNum type="arabicPeriod"/>
            </a:pPr>
            <a:r>
              <a:t>Cross-over trials should only be used if the disease being treated is acute, meaning that it does not persist over long periods of time.</a:t>
            </a:r>
          </a:p>
          <a:p>
            <a:pPr marL="0" lvl="0" indent="0">
              <a:buNone/>
            </a:pPr>
            <a:r>
              <a:t>Put your answers in the chat box as a sequence of T’s and F’s (e.g., TFFT).</a:t>
            </a:r>
          </a:p>
        </p:txBody>
      </p:sp>
      <p:sp>
        <p:nvSpPr>
          <p:cNvPr id="4" name="Slide Number Placeholder 3">
            <a:extLst>
              <a:ext uri="{FF2B5EF4-FFF2-40B4-BE49-F238E27FC236}">
                <a16:creationId xmlns:a16="http://schemas.microsoft.com/office/drawing/2014/main" id="{EAF83E54-6E63-1977-5F6C-3A384FC09DEC}"/>
              </a:ext>
            </a:extLst>
          </p:cNvPr>
          <p:cNvSpPr>
            <a:spLocks noGrp="1"/>
          </p:cNvSpPr>
          <p:nvPr>
            <p:ph type="sldNum" sz="quarter" idx="12"/>
          </p:nvPr>
        </p:nvSpPr>
        <p:spPr/>
        <p:txBody>
          <a:bodyPr/>
          <a:lstStyle/>
          <a:p>
            <a:fld id="{C2E4F4E2-DEA3-44FD-BEC9-57866B7FA44A}" type="slidenum">
              <a:rPr lang="en-US"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a:t>
            </a:r>
          </a:p>
        </p:txBody>
      </p:sp>
      <p:sp>
        <p:nvSpPr>
          <p:cNvPr id="3" name="Content Placeholder 2"/>
          <p:cNvSpPr>
            <a:spLocks noGrp="1"/>
          </p:cNvSpPr>
          <p:nvPr>
            <p:ph idx="1"/>
          </p:nvPr>
        </p:nvSpPr>
        <p:spPr/>
        <p:txBody>
          <a:bodyPr/>
          <a:lstStyle/>
          <a:p>
            <a:pPr lvl="0"/>
            <a:r>
              <a:t>What you have learned</a:t>
            </a:r>
          </a:p>
          <a:p>
            <a:pPr lvl="1"/>
            <a:r>
              <a:t>The paired t-test</a:t>
            </a:r>
          </a:p>
          <a:p>
            <a:pPr lvl="1"/>
            <a:r>
              <a:t>The AB/BA cross-over</a:t>
            </a:r>
          </a:p>
          <a:p>
            <a:pPr lvl="1"/>
            <a:r>
              <a:t>Period effects and carry-over</a:t>
            </a:r>
          </a:p>
          <a:p>
            <a:pPr lvl="1"/>
            <a:r>
              <a:t>When should you use or not use a cross-over</a:t>
            </a:r>
          </a:p>
          <a:p>
            <a:pPr lvl="1"/>
            <a:r>
              <a:t>Cross-over trials with a binary outcome</a:t>
            </a:r>
          </a:p>
          <a:p>
            <a:pPr lvl="1"/>
            <a:r>
              <a:t>Cross-over trials with more than two treatments</a:t>
            </a:r>
          </a:p>
        </p:txBody>
      </p:sp>
      <p:sp>
        <p:nvSpPr>
          <p:cNvPr id="4" name="Slide Number Placeholder 3">
            <a:extLst>
              <a:ext uri="{FF2B5EF4-FFF2-40B4-BE49-F238E27FC236}">
                <a16:creationId xmlns:a16="http://schemas.microsoft.com/office/drawing/2014/main" id="{A3BC4940-7CD0-2056-FF9D-B9F8ABFB425A}"/>
              </a:ext>
            </a:extLst>
          </p:cNvPr>
          <p:cNvSpPr>
            <a:spLocks noGrp="1"/>
          </p:cNvSpPr>
          <p:nvPr>
            <p:ph type="sldNum" sz="quarter" idx="12"/>
          </p:nvPr>
        </p:nvSpPr>
        <p:spPr/>
        <p:txBody>
          <a:bodyPr/>
          <a:lstStyle/>
          <a:p>
            <a:fld id="{C2E4F4E2-DEA3-44FD-BEC9-57866B7FA44A}" type="slidenum">
              <a:rPr lang="en-US" smtClean="0"/>
              <a:t>65</a:t>
            </a:fld>
            <a:endParaRPr lang="en-US"/>
          </a:p>
        </p:txBody>
      </p:sp>
    </p:spTree>
  </p:cSld>
  <p:clrMapOvr>
    <a:masterClrMapping/>
  </p:clrMapOvr>
</p:sld>
</file>

<file path=ppt/theme/theme1.xml><?xml version="1.0" encoding="utf-8"?>
<a:theme xmlns:a="http://schemas.openxmlformats.org/drawingml/2006/main" name="COSA-PPT-Wid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COSA-PPT-Wide-Template</Template>
  <TotalTime>135</TotalTime>
  <Words>7185</Words>
  <Application>Microsoft Office PowerPoint</Application>
  <PresentationFormat>On-screen Show (16:9)</PresentationFormat>
  <Paragraphs>752</Paragraphs>
  <Slides>65</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Cambria Math</vt:lpstr>
      <vt:lpstr>Courier</vt:lpstr>
      <vt:lpstr>COSA-PPT-Wide-Template</vt:lpstr>
      <vt:lpstr>Cross-over Trials</vt:lpstr>
      <vt:lpstr>Where this fits</vt:lpstr>
      <vt:lpstr>Topics to be covered</vt:lpstr>
      <vt:lpstr>Pop quiz, true or false</vt:lpstr>
      <vt:lpstr>Quotations from two great philosophers</vt:lpstr>
      <vt:lpstr>Paired t-test data</vt:lpstr>
      <vt:lpstr>Descriptive statistics on wife’s age</vt:lpstr>
      <vt:lpstr>Descriptive statistics on husband’s age</vt:lpstr>
      <vt:lpstr>Descriptive statistics on age gap</vt:lpstr>
      <vt:lpstr>Paired t-test on couples ages</vt:lpstr>
      <vt:lpstr>Analyze as completely randomized block design</vt:lpstr>
      <vt:lpstr>Restructured data for a completely randomized block design</vt:lpstr>
      <vt:lpstr>Mixed model/random coefficient analysis</vt:lpstr>
      <vt:lpstr>Break #1</vt:lpstr>
      <vt:lpstr>Parallel groups versus the AB/BA cross-over</vt:lpstr>
      <vt:lpstr>PowerPoint Presentation</vt:lpstr>
      <vt:lpstr>Why do you need both orders?</vt:lpstr>
      <vt:lpstr>Do I have to randomize?</vt:lpstr>
      <vt:lpstr>Data layout</vt:lpstr>
      <vt:lpstr>Alternate data layout</vt:lpstr>
      <vt:lpstr>Descriptive statistics, period 1</vt:lpstr>
      <vt:lpstr>Descriptive statistics, period 2</vt:lpstr>
      <vt:lpstr>Descriptive statistics, period gap</vt:lpstr>
      <vt:lpstr>Descriptive statistics, formoterol</vt:lpstr>
      <vt:lpstr>Descriptive statistics, salbutamol</vt:lpstr>
      <vt:lpstr>Descriptive statistics, drug gap</vt:lpstr>
      <vt:lpstr>Paired t-test for the AB/BA cross-over data</vt:lpstr>
      <vt:lpstr>Analysis using a completely randomized block design</vt:lpstr>
      <vt:lpstr>Break #2</vt:lpstr>
      <vt:lpstr>Accounting for period effects</vt:lpstr>
      <vt:lpstr>Why might you see period effects</vt:lpstr>
      <vt:lpstr>Layout for asthma data</vt:lpstr>
      <vt:lpstr>Counts for layout data</vt:lpstr>
      <vt:lpstr>Period by order means</vt:lpstr>
      <vt:lpstr>Period by order plot</vt:lpstr>
      <vt:lpstr>What this graph would look like without a period effect</vt:lpstr>
      <vt:lpstr>Treatment by order means</vt:lpstr>
      <vt:lpstr>Treatment by order plot</vt:lpstr>
      <vt:lpstr>What this graph would look like without a period effect</vt:lpstr>
      <vt:lpstr>Accounting for period effects</vt:lpstr>
      <vt:lpstr>Details on the period model</vt:lpstr>
      <vt:lpstr>Break #3</vt:lpstr>
      <vt:lpstr>Systematic overview of parachute use</vt:lpstr>
      <vt:lpstr>When you cannot use a cross-over trial</vt:lpstr>
      <vt:lpstr>When you can use a cross-over trial</vt:lpstr>
      <vt:lpstr>Practical and ethical concerns</vt:lpstr>
      <vt:lpstr>What if you have a carry-over effect?</vt:lpstr>
      <vt:lpstr>Change test if carry-over is detected</vt:lpstr>
      <vt:lpstr>The solution to carry-over</vt:lpstr>
      <vt:lpstr>Break #4</vt:lpstr>
      <vt:lpstr>Binary outcomes in a cross-over trial</vt:lpstr>
      <vt:lpstr>Example of a binary outcome</vt:lpstr>
      <vt:lpstr>Descriptive statistics</vt:lpstr>
      <vt:lpstr>Analysis of binary cross-over data</vt:lpstr>
      <vt:lpstr>Example of McNemar’s test</vt:lpstr>
      <vt:lpstr>McNemar’s test on formoterol/salbutamol data</vt:lpstr>
      <vt:lpstr>Break #5</vt:lpstr>
      <vt:lpstr>Three treatment cross-over trial</vt:lpstr>
      <vt:lpstr>Possible sequences</vt:lpstr>
      <vt:lpstr>Latin square design to reduce the number of sequences</vt:lpstr>
      <vt:lpstr>The definitive guide</vt:lpstr>
      <vt:lpstr>Nice reference</vt:lpstr>
      <vt:lpstr>Analysis Factor resources</vt:lpstr>
      <vt:lpstr>Repeat of true/false pop quiz</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MikeH</dc:creator>
  <cp:lastModifiedBy>Stephen Simon</cp:lastModifiedBy>
  <cp:revision>27</cp:revision>
  <dcterms:created xsi:type="dcterms:W3CDTF">2018-06-05T14:30:46Z</dcterms:created>
  <dcterms:modified xsi:type="dcterms:W3CDTF">2025-12-02T15:28:14Z</dcterms:modified>
</cp:coreProperties>
</file>